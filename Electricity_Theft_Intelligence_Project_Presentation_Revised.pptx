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1097280" y="1097280"/>
            <a:ext cx="9997135" cy="365760"/>
          </a:xfrm>
          <a:prstGeom prst="rect">
            <a:avLst/>
          </a:prstGeom>
          <a:noFill/>
        </p:spPr>
        <p:txBody>
          <a:bodyPr wrap="none">
            <a:spAutoFit/>
          </a:bodyPr>
          <a:lstStyle/>
          <a:p>
            <a:pPr>
              <a:defRPr sz="1300" b="1">
                <a:solidFill>
                  <a:srgbClr val="22D3EE"/>
                </a:solidFill>
                <a:latin typeface="Times New Roman"/>
              </a:defRPr>
            </a:pPr>
            <a:r>
              <a:rPr>
                <a:latin typeface="Times New Roman"/>
              </a:rPr>
              <a:t>B.TECH SOFTWARE ENGINEERING PROJECT REVIEW</a:t>
            </a:r>
          </a:p>
        </p:txBody>
      </p:sp>
      <p:sp>
        <p:nvSpPr>
          <p:cNvPr id="4" name="TextBox 3"/>
          <p:cNvSpPr txBox="1"/>
          <p:nvPr/>
        </p:nvSpPr>
        <p:spPr>
          <a:xfrm>
            <a:off x="1097280" y="1508760"/>
            <a:ext cx="9997135" cy="1554480"/>
          </a:xfrm>
          <a:prstGeom prst="rect">
            <a:avLst/>
          </a:prstGeom>
          <a:noFill/>
        </p:spPr>
        <p:txBody>
          <a:bodyPr wrap="square">
            <a:spAutoFit/>
          </a:bodyPr>
          <a:lstStyle/>
          <a:p>
            <a:pPr>
              <a:defRPr sz="3600" b="1">
                <a:solidFill>
                  <a:srgbClr val="F0F2F5"/>
                </a:solidFill>
                <a:latin typeface="Times New Roman"/>
              </a:defRPr>
            </a:pPr>
            <a:r>
              <a:rPr>
                <a:latin typeface="Times New Roman"/>
              </a:rPr>
              <a:t>Electricity Theft Intelligence &amp;</a:t>
            </a:r>
            <a:br/>
            <a:r>
              <a:rPr>
                <a:latin typeface="Times New Roman"/>
              </a:rPr>
              <a:t>Inspection Platform</a:t>
            </a:r>
          </a:p>
        </p:txBody>
      </p:sp>
      <p:sp>
        <p:nvSpPr>
          <p:cNvPr id="5" name="TextBox 4"/>
          <p:cNvSpPr txBox="1"/>
          <p:nvPr/>
        </p:nvSpPr>
        <p:spPr>
          <a:xfrm>
            <a:off x="1097280" y="3246120"/>
            <a:ext cx="9997135" cy="731520"/>
          </a:xfrm>
          <a:prstGeom prst="rect">
            <a:avLst/>
          </a:prstGeom>
          <a:noFill/>
        </p:spPr>
        <p:txBody>
          <a:bodyPr wrap="square">
            <a:spAutoFit/>
          </a:bodyPr>
          <a:lstStyle/>
          <a:p>
            <a:pPr>
              <a:defRPr sz="1800">
                <a:solidFill>
                  <a:srgbClr val="A0A8B4"/>
                </a:solidFill>
                <a:latin typeface="Times New Roman"/>
              </a:defRPr>
            </a:pPr>
            <a:r>
              <a:rPr>
                <a:latin typeface="Times New Roman"/>
              </a:rPr>
              <a:t>Machine Learning-Based Electricity Theft Detection and Inspection Management</a:t>
            </a:r>
          </a:p>
        </p:txBody>
      </p:sp>
      <p:sp>
        <p:nvSpPr>
          <p:cNvPr id="6" name="Rectangle 5"/>
          <p:cNvSpPr/>
          <p:nvPr/>
        </p:nvSpPr>
        <p:spPr>
          <a:xfrm>
            <a:off x="1097280" y="4160520"/>
            <a:ext cx="9997135" cy="18288"/>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1097280" y="4434840"/>
            <a:ext cx="4846320" cy="1645920"/>
          </a:xfrm>
          <a:prstGeom prst="rect">
            <a:avLst/>
          </a:prstGeom>
          <a:noFill/>
        </p:spPr>
        <p:txBody>
          <a:bodyPr wrap="none">
            <a:spAutoFit/>
          </a:bodyPr>
          <a:lstStyle/>
          <a:p>
            <a:pPr>
              <a:defRPr sz="1100">
                <a:solidFill>
                  <a:srgbClr val="22D3EE"/>
                </a:solidFill>
                <a:latin typeface="Times New Roman"/>
              </a:defRPr>
            </a:pPr>
            <a:r>
              <a:rPr>
                <a:latin typeface="Times New Roman"/>
              </a:rPr>
              <a:t>Student Investigator:</a:t>
            </a:r>
          </a:p>
          <a:p>
            <a:pPr>
              <a:defRPr sz="1800" b="1">
                <a:solidFill>
                  <a:srgbClr val="F0F2F5"/>
                </a:solidFill>
                <a:latin typeface="Times New Roman"/>
              </a:defRPr>
            </a:pPr>
            <a:r>
              <a:rPr>
                <a:latin typeface="Times New Roman"/>
              </a:rPr>
              <a:t>Swanand Siknis</a:t>
            </a:r>
          </a:p>
          <a:p>
            <a:pPr>
              <a:defRPr sz="1300">
                <a:solidFill>
                  <a:srgbClr val="A0A8B4"/>
                </a:solidFill>
                <a:latin typeface="Times New Roman"/>
              </a:defRPr>
            </a:pPr>
            <a:r>
              <a:rPr>
                <a:latin typeface="Times New Roman"/>
              </a:rPr>
              <a:t>Registration Number: 24BRS1358</a:t>
            </a:r>
          </a:p>
        </p:txBody>
      </p:sp>
      <p:sp>
        <p:nvSpPr>
          <p:cNvPr id="8" name="TextBox 7"/>
          <p:cNvSpPr txBox="1"/>
          <p:nvPr/>
        </p:nvSpPr>
        <p:spPr>
          <a:xfrm>
            <a:off x="6217920" y="4434840"/>
            <a:ext cx="4846320" cy="1645920"/>
          </a:xfrm>
          <a:prstGeom prst="rect">
            <a:avLst/>
          </a:prstGeom>
          <a:noFill/>
        </p:spPr>
        <p:txBody>
          <a:bodyPr wrap="none">
            <a:spAutoFit/>
          </a:bodyPr>
          <a:lstStyle/>
          <a:p>
            <a:pPr>
              <a:defRPr sz="1100">
                <a:solidFill>
                  <a:srgbClr val="22D3EE"/>
                </a:solidFill>
                <a:latin typeface="Times New Roman"/>
              </a:defRPr>
            </a:pPr>
            <a:r>
              <a:rPr>
                <a:latin typeface="Times New Roman"/>
              </a:rPr>
              <a:t>Programme &amp; Institution:</a:t>
            </a:r>
          </a:p>
          <a:p>
            <a:pPr>
              <a:defRPr sz="1800" b="1">
                <a:solidFill>
                  <a:srgbClr val="F0F2F5"/>
                </a:solidFill>
                <a:latin typeface="Times New Roman"/>
              </a:defRPr>
            </a:pPr>
            <a:r>
              <a:rPr>
                <a:latin typeface="Times New Roman"/>
              </a:rPr>
              <a:t>B.Tech CSE — Artificial Intelligence &amp; Robotics</a:t>
            </a:r>
          </a:p>
          <a:p>
            <a:pPr>
              <a:defRPr sz="1300">
                <a:solidFill>
                  <a:srgbClr val="A0A8B4"/>
                </a:solidFill>
                <a:latin typeface="Times New Roman"/>
              </a:defRPr>
            </a:pPr>
            <a:r>
              <a:rPr>
                <a:latin typeface="Times New Roman"/>
              </a:rPr>
              <a:t>VIT Chennai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02 | PROBLEM STATEMENT</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Problem Statement</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2 of 30</a:t>
            </a:r>
          </a:p>
        </p:txBody>
      </p:sp>
      <p:sp>
        <p:nvSpPr>
          <p:cNvPr id="8" name="TextBox 7"/>
          <p:cNvSpPr txBox="1"/>
          <p:nvPr/>
        </p:nvSpPr>
        <p:spPr>
          <a:xfrm>
            <a:off x="822960" y="1508760"/>
            <a:ext cx="10545775" cy="3566160"/>
          </a:xfrm>
          <a:prstGeom prst="rect">
            <a:avLst/>
          </a:prstGeom>
          <a:noFill/>
        </p:spPr>
        <p:txBody>
          <a:bodyPr wrap="square">
            <a:spAutoFit/>
          </a:bodyPr>
          <a:lstStyle/>
          <a:p>
            <a:pPr>
              <a:lnSpc>
                <a:spcPct val="130000"/>
              </a:lnSpc>
              <a:spcAft>
                <a:spcPts val="1000"/>
              </a:spcAft>
              <a:defRPr sz="1450">
                <a:solidFill>
                  <a:srgbClr val="F0F2F5"/>
                </a:solidFill>
                <a:latin typeface="Times New Roman"/>
              </a:defRPr>
            </a:pPr>
            <a:r>
              <a:rPr>
                <a:latin typeface="Times New Roman"/>
              </a:rPr>
              <a:t>•  Smart meters are a relatively new development in India's electricity sector, and their adoption is creating more opportunities to use detailed consumption data.</a:t>
            </a:r>
          </a:p>
          <a:p>
            <a:pPr>
              <a:lnSpc>
                <a:spcPct val="130000"/>
              </a:lnSpc>
              <a:spcAft>
                <a:spcPts val="1000"/>
              </a:spcAft>
              <a:defRPr sz="1450">
                <a:solidFill>
                  <a:srgbClr val="F0F2F5"/>
                </a:solidFill>
                <a:latin typeface="Times New Roman"/>
              </a:defRPr>
            </a:pPr>
            <a:r>
              <a:rPr>
                <a:latin typeface="Times New Roman"/>
              </a:rPr>
              <a:t>•  Traditional meter-reading methods provide less detailed information about daily electricity usage.</a:t>
            </a:r>
          </a:p>
          <a:p>
            <a:pPr>
              <a:lnSpc>
                <a:spcPct val="130000"/>
              </a:lnSpc>
              <a:spcAft>
                <a:spcPts val="1000"/>
              </a:spcAft>
              <a:defRPr sz="1450">
                <a:solidFill>
                  <a:srgbClr val="F0F2F5"/>
                </a:solidFill>
                <a:latin typeface="Times New Roman"/>
              </a:defRPr>
            </a:pPr>
            <a:r>
              <a:rPr>
                <a:latin typeface="Times New Roman"/>
              </a:rPr>
              <a:t>•  Smart-meter data can help identify unusual consumption patterns that may indicate electricity theft.</a:t>
            </a:r>
          </a:p>
          <a:p>
            <a:pPr>
              <a:lnSpc>
                <a:spcPct val="130000"/>
              </a:lnSpc>
              <a:spcAft>
                <a:spcPts val="1000"/>
              </a:spcAft>
              <a:defRPr sz="1450">
                <a:solidFill>
                  <a:srgbClr val="F0F2F5"/>
                </a:solidFill>
                <a:latin typeface="Times New Roman"/>
              </a:defRPr>
            </a:pPr>
            <a:r>
              <a:rPr>
                <a:latin typeface="Times New Roman"/>
              </a:rPr>
              <a:t>•  Distribution companies need a more organized way to review suspicious cases and manage inspections.</a:t>
            </a:r>
          </a:p>
          <a:p>
            <a:pPr>
              <a:lnSpc>
                <a:spcPct val="130000"/>
              </a:lnSpc>
              <a:spcAft>
                <a:spcPts val="1000"/>
              </a:spcAft>
              <a:defRPr sz="1450">
                <a:solidFill>
                  <a:srgbClr val="F0F2F5"/>
                </a:solidFill>
                <a:latin typeface="Times New Roman"/>
              </a:defRPr>
            </a:pPr>
            <a:r>
              <a:rPr>
                <a:latin typeface="Times New Roman"/>
              </a:rPr>
              <a:t>•  ML predictions alone cannot confirm theft; physical inspection is still necessary.</a:t>
            </a:r>
          </a:p>
          <a:p>
            <a:pPr>
              <a:lnSpc>
                <a:spcPct val="130000"/>
              </a:lnSpc>
              <a:spcAft>
                <a:spcPts val="1000"/>
              </a:spcAft>
              <a:defRPr sz="1450">
                <a:solidFill>
                  <a:srgbClr val="F0F2F5"/>
                </a:solidFill>
                <a:latin typeface="Times New Roman"/>
              </a:defRPr>
            </a:pPr>
            <a:r>
              <a:rPr>
                <a:latin typeface="Times New Roman"/>
              </a:rPr>
              <a:t>•  Consumer services, inspection work and official communication should be easier to manage through one connected system.</a:t>
            </a:r>
          </a:p>
        </p:txBody>
      </p:sp>
      <p:sp>
        <p:nvSpPr>
          <p:cNvPr id="9" name="TextBox 8"/>
          <p:cNvSpPr txBox="1"/>
          <p:nvPr/>
        </p:nvSpPr>
        <p:spPr>
          <a:xfrm>
            <a:off x="822960" y="5257800"/>
            <a:ext cx="10545775" cy="868680"/>
          </a:xfrm>
          <a:prstGeom prst="rect">
            <a:avLst/>
          </a:prstGeom>
          <a:noFill/>
        </p:spPr>
        <p:txBody>
          <a:bodyPr wrap="square">
            <a:spAutoFit/>
          </a:bodyPr>
          <a:lstStyle/>
          <a:p>
            <a:pPr>
              <a:defRPr sz="1200" b="1">
                <a:solidFill>
                  <a:srgbClr val="22D3EE"/>
                </a:solidFill>
                <a:latin typeface="Times New Roman"/>
              </a:defRPr>
            </a:pPr>
            <a:r>
              <a:rPr>
                <a:latin typeface="Times New Roman"/>
              </a:rPr>
              <a:t>Central Problem Statement:</a:t>
            </a:r>
          </a:p>
          <a:p>
            <a:pPr>
              <a:lnSpc>
                <a:spcPct val="125000"/>
              </a:lnSpc>
              <a:defRPr sz="1500" b="1">
                <a:solidFill>
                  <a:srgbClr val="F0F2F5"/>
                </a:solidFill>
                <a:latin typeface="Times New Roman"/>
              </a:defRPr>
            </a:pPr>
            <a:r>
              <a:rPr>
                <a:latin typeface="Times New Roman"/>
              </a:rPr>
              <a:t>"How can we use smart-meter data to identify possible electricity theft and manage the inspection process through one organized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03 | PAST WORK IN THIS AREA</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Past Work in This Area</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3 of 30</a:t>
            </a:r>
          </a:p>
        </p:txBody>
      </p:sp>
      <p:sp>
        <p:nvSpPr>
          <p:cNvPr id="8" name="TextBox 7"/>
          <p:cNvSpPr txBox="1"/>
          <p:nvPr/>
        </p:nvSpPr>
        <p:spPr>
          <a:xfrm>
            <a:off x="822960" y="1508760"/>
            <a:ext cx="10545775" cy="4663440"/>
          </a:xfrm>
          <a:prstGeom prst="rect">
            <a:avLst/>
          </a:prstGeom>
          <a:noFill/>
        </p:spPr>
        <p:txBody>
          <a:bodyPr wrap="square">
            <a:spAutoFit/>
          </a:bodyPr>
          <a:lstStyle/>
          <a:p>
            <a:pPr>
              <a:spcAft>
                <a:spcPts val="400"/>
              </a:spcAft>
              <a:defRPr sz="1600" b="1">
                <a:solidFill>
                  <a:srgbClr val="22D3EE"/>
                </a:solidFill>
                <a:latin typeface="Times New Roman"/>
              </a:defRPr>
            </a:pPr>
            <a:r>
              <a:rPr>
                <a:latin typeface="Times New Roman"/>
              </a:rPr>
              <a:t>1. Existing ML Approaches</a:t>
            </a:r>
          </a:p>
          <a:p>
            <a:pPr>
              <a:lnSpc>
                <a:spcPct val="135000"/>
              </a:lnSpc>
              <a:spcAft>
                <a:spcPts val="1400"/>
              </a:spcAft>
              <a:defRPr sz="1350">
                <a:solidFill>
                  <a:srgbClr val="F0F2F5"/>
                </a:solidFill>
                <a:latin typeface="Times New Roman"/>
              </a:defRPr>
            </a:pPr>
            <a:r>
              <a:rPr>
                <a:latin typeface="Times New Roman"/>
              </a:rPr>
              <a:t>Researchers have widely applied machine learning algorithms to identify potential electricity theft from smart-meter consumption data. Studies show that customer daily usage patterns can reveal consumption anomalies, bypass behavior, and sudden drops in load that indicate unauthorized use.</a:t>
            </a:r>
          </a:p>
          <a:p>
            <a:pPr>
              <a:spcAft>
                <a:spcPts val="400"/>
              </a:spcAft>
              <a:defRPr sz="1600" b="1">
                <a:solidFill>
                  <a:srgbClr val="22D3EE"/>
                </a:solidFill>
                <a:latin typeface="Times New Roman"/>
              </a:defRPr>
            </a:pPr>
            <a:r>
              <a:rPr>
                <a:latin typeface="Times New Roman"/>
              </a:rPr>
              <a:t>2. Model Selection and Benchmarking</a:t>
            </a:r>
          </a:p>
          <a:p>
            <a:pPr>
              <a:lnSpc>
                <a:spcPct val="135000"/>
              </a:lnSpc>
              <a:spcAft>
                <a:spcPts val="1400"/>
              </a:spcAft>
              <a:defRPr sz="1350">
                <a:solidFill>
                  <a:srgbClr val="F0F2F5"/>
                </a:solidFill>
                <a:latin typeface="Times New Roman"/>
              </a:defRPr>
            </a:pPr>
            <a:r>
              <a:rPr>
                <a:latin typeface="Times New Roman"/>
              </a:rPr>
              <a:t>A published benchmark study by Petrlik et al. (2022) evaluated five machine learning models on real smart-meter consumption data. The study demonstrated that tree-based algorithms significantly outperform linear models for tabular consumption data. Based on these verified findings and our own test evaluations, XGBoost was selected as the champion model for its superior detection capability and robustness against missing readings.</a:t>
            </a:r>
          </a:p>
          <a:p>
            <a:pPr>
              <a:spcAft>
                <a:spcPts val="400"/>
              </a:spcAft>
              <a:defRPr sz="1600" b="1">
                <a:solidFill>
                  <a:srgbClr val="22D3EE"/>
                </a:solidFill>
                <a:latin typeface="Times New Roman"/>
              </a:defRPr>
            </a:pPr>
            <a:r>
              <a:rPr>
                <a:latin typeface="Times New Roman"/>
              </a:rPr>
              <a:t>3. Existing Systems and the Operational Gap</a:t>
            </a:r>
          </a:p>
          <a:p>
            <a:pPr>
              <a:lnSpc>
                <a:spcPct val="135000"/>
              </a:lnSpc>
              <a:spcAft>
                <a:spcPts val="1400"/>
              </a:spcAft>
              <a:defRPr sz="1350">
                <a:solidFill>
                  <a:srgbClr val="F0F2F5"/>
                </a:solidFill>
                <a:latin typeface="Times New Roman"/>
              </a:defRPr>
            </a:pPr>
            <a:r>
              <a:rPr>
                <a:latin typeface="Times New Roman"/>
              </a:rPr>
              <a:t>Existing research and software tools focus primarily on offline classification accuracy. However, there is a clear operational gap between detecting suspicious consumption and managing the subsequent inspection process. An isolated risk prediction does not schedule field visits, assign officers, or record physical inspection findings.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03 | PAST WORK IN THIS AREA</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Research Gaps</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4 of 30</a:t>
            </a:r>
          </a:p>
        </p:txBody>
      </p:sp>
      <p:sp>
        <p:nvSpPr>
          <p:cNvPr id="8" name="TextBox 7"/>
          <p:cNvSpPr txBox="1"/>
          <p:nvPr/>
        </p:nvSpPr>
        <p:spPr>
          <a:xfrm>
            <a:off x="822960" y="1554480"/>
            <a:ext cx="10545775" cy="4572000"/>
          </a:xfrm>
          <a:prstGeom prst="rect">
            <a:avLst/>
          </a:prstGeom>
          <a:noFill/>
        </p:spPr>
        <p:txBody>
          <a:bodyPr wrap="square">
            <a:spAutoFit/>
          </a:bodyPr>
          <a:lstStyle/>
          <a:p>
            <a:pPr>
              <a:spcAft>
                <a:spcPts val="600"/>
              </a:spcAft>
              <a:defRPr sz="1700" b="1">
                <a:solidFill>
                  <a:srgbClr val="22D3EE"/>
                </a:solidFill>
                <a:latin typeface="Times New Roman"/>
              </a:defRPr>
            </a:pPr>
            <a:r>
              <a:rPr>
                <a:latin typeface="Times New Roman"/>
              </a:rPr>
              <a:t>Gap 1 — Growing Use of Smart Meters in India</a:t>
            </a:r>
          </a:p>
          <a:p>
            <a:pPr>
              <a:lnSpc>
                <a:spcPct val="135000"/>
              </a:lnSpc>
              <a:spcAft>
                <a:spcPts val="1800"/>
              </a:spcAft>
              <a:defRPr sz="1400">
                <a:solidFill>
                  <a:srgbClr val="F0F2F5"/>
                </a:solidFill>
                <a:latin typeface="Times New Roman"/>
              </a:defRPr>
            </a:pPr>
            <a:r>
              <a:rPr>
                <a:latin typeface="Times New Roman"/>
              </a:rPr>
              <a:t>Smart meters provide detailed consumption data, creating an opportunity to use daily electricity usage patterns to help identify possible theft. As smart metering expands, utilities need practical tools to make use of this data.</a:t>
            </a:r>
          </a:p>
          <a:p>
            <a:pPr>
              <a:spcAft>
                <a:spcPts val="600"/>
              </a:spcAft>
              <a:defRPr sz="1700" b="1">
                <a:solidFill>
                  <a:srgbClr val="22D3EE"/>
                </a:solidFill>
                <a:latin typeface="Times New Roman"/>
              </a:defRPr>
            </a:pPr>
            <a:r>
              <a:rPr>
                <a:latin typeface="Times New Roman"/>
              </a:rPr>
              <a:t>Gap 2 — Disorganized Inspection Workflows</a:t>
            </a:r>
          </a:p>
          <a:p>
            <a:pPr>
              <a:lnSpc>
                <a:spcPct val="135000"/>
              </a:lnSpc>
              <a:spcAft>
                <a:spcPts val="1800"/>
              </a:spcAft>
              <a:defRPr sz="1400">
                <a:solidFill>
                  <a:srgbClr val="F0F2F5"/>
                </a:solidFill>
                <a:latin typeface="Times New Roman"/>
              </a:defRPr>
            </a:pPr>
            <a:r>
              <a:rPr>
                <a:latin typeface="Times New Roman"/>
              </a:rPr>
              <a:t>Electricity distribution companies need a more organized way to review suspicious cases, assign inspection staff, schedule visits and record inspection results. Manual scheduling and unprioritized audits lead to inefficient field operations.</a:t>
            </a:r>
          </a:p>
          <a:p>
            <a:pPr>
              <a:spcAft>
                <a:spcPts val="600"/>
              </a:spcAft>
              <a:defRPr sz="1700" b="1">
                <a:solidFill>
                  <a:srgbClr val="22D3EE"/>
                </a:solidFill>
                <a:latin typeface="Times New Roman"/>
              </a:defRPr>
            </a:pPr>
            <a:r>
              <a:rPr>
                <a:latin typeface="Times New Roman"/>
              </a:rPr>
              <a:t>Gap 3 — No Single Connected Workflow in Existing Systems</a:t>
            </a:r>
          </a:p>
          <a:p>
            <a:pPr>
              <a:lnSpc>
                <a:spcPct val="135000"/>
              </a:lnSpc>
              <a:spcAft>
                <a:spcPts val="1800"/>
              </a:spcAft>
              <a:defRPr sz="1400">
                <a:solidFill>
                  <a:srgbClr val="F0F2F5"/>
                </a:solidFill>
                <a:latin typeface="Times New Roman"/>
              </a:defRPr>
            </a:pPr>
            <a:r>
              <a:rPr>
                <a:latin typeface="Times New Roman"/>
              </a:rPr>
              <a:t>The project aims to bring smart-meter-based risk detection and inspection management together, with consumer services and board communication in the same platform. Existing tools rarely connect model predictions with verified field outcomes.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04 | METHODOLOGY</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Methodology</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5 of 30</a:t>
            </a:r>
          </a:p>
        </p:txBody>
      </p:sp>
      <p:sp>
        <p:nvSpPr>
          <p:cNvPr id="8" name="TextBox 7"/>
          <p:cNvSpPr txBox="1"/>
          <p:nvPr/>
        </p:nvSpPr>
        <p:spPr>
          <a:xfrm>
            <a:off x="822960" y="1508760"/>
            <a:ext cx="5943600" cy="4663440"/>
          </a:xfrm>
          <a:prstGeom prst="rect">
            <a:avLst/>
          </a:prstGeom>
          <a:noFill/>
        </p:spPr>
        <p:txBody>
          <a:bodyPr wrap="square">
            <a:spAutoFit/>
          </a:bodyPr>
          <a:lstStyle/>
          <a:p>
            <a:pPr>
              <a:spcAft>
                <a:spcPts val="1000"/>
              </a:spcAft>
              <a:defRPr sz="1700" b="1">
                <a:solidFill>
                  <a:srgbClr val="22D3EE"/>
                </a:solidFill>
                <a:latin typeface="Times New Roman"/>
              </a:defRPr>
            </a:pPr>
            <a:r>
              <a:rPr>
                <a:latin typeface="Times New Roman"/>
              </a:rPr>
              <a:t>Software Engineering Process</a:t>
            </a:r>
          </a:p>
          <a:p>
            <a:pPr>
              <a:lnSpc>
                <a:spcPct val="130000"/>
              </a:lnSpc>
              <a:spcAft>
                <a:spcPts val="800"/>
              </a:spcAft>
              <a:defRPr sz="1300">
                <a:solidFill>
                  <a:srgbClr val="F0F2F5"/>
                </a:solidFill>
                <a:latin typeface="Times New Roman"/>
              </a:defRPr>
            </a:pPr>
            <a:r>
              <a:rPr>
                <a:latin typeface="Times New Roman"/>
              </a:rPr>
              <a:t>1. Requirements Analysis — Identify the users, their needs and the system requirements.</a:t>
            </a:r>
          </a:p>
          <a:p>
            <a:pPr>
              <a:lnSpc>
                <a:spcPct val="130000"/>
              </a:lnSpc>
              <a:spcAft>
                <a:spcPts val="800"/>
              </a:spcAft>
              <a:defRPr sz="1300">
                <a:solidFill>
                  <a:srgbClr val="F0F2F5"/>
                </a:solidFill>
                <a:latin typeface="Times New Roman"/>
              </a:defRPr>
            </a:pPr>
            <a:r>
              <a:rPr>
                <a:latin typeface="Times New Roman"/>
              </a:rPr>
              <a:t>2. System Design — Plan the architecture, database, user roles and workflows.</a:t>
            </a:r>
          </a:p>
          <a:p>
            <a:pPr>
              <a:lnSpc>
                <a:spcPct val="130000"/>
              </a:lnSpc>
              <a:spcAft>
                <a:spcPts val="800"/>
              </a:spcAft>
              <a:defRPr sz="1300">
                <a:solidFill>
                  <a:srgbClr val="F0F2F5"/>
                </a:solidFill>
                <a:latin typeface="Times New Roman"/>
              </a:defRPr>
            </a:pPr>
            <a:r>
              <a:rPr>
                <a:latin typeface="Times New Roman"/>
              </a:rPr>
              <a:t>3. UML Modelling — Use UML and other diagrams to represent the system before implementation.</a:t>
            </a:r>
          </a:p>
          <a:p>
            <a:pPr>
              <a:lnSpc>
                <a:spcPct val="130000"/>
              </a:lnSpc>
              <a:spcAft>
                <a:spcPts val="800"/>
              </a:spcAft>
              <a:defRPr sz="1300">
                <a:solidFill>
                  <a:srgbClr val="F0F2F5"/>
                </a:solidFill>
                <a:latin typeface="Times New Roman"/>
              </a:defRPr>
            </a:pPr>
            <a:r>
              <a:rPr>
                <a:latin typeface="Times New Roman"/>
              </a:rPr>
              <a:t>4. Incremental Development — Build the system in separate modules and integrate them.</a:t>
            </a:r>
          </a:p>
          <a:p>
            <a:pPr>
              <a:lnSpc>
                <a:spcPct val="130000"/>
              </a:lnSpc>
              <a:spcAft>
                <a:spcPts val="800"/>
              </a:spcAft>
              <a:defRPr sz="1300">
                <a:solidFill>
                  <a:srgbClr val="F0F2F5"/>
                </a:solidFill>
                <a:latin typeface="Times New Roman"/>
              </a:defRPr>
            </a:pPr>
            <a:r>
              <a:rPr>
                <a:latin typeface="Times New Roman"/>
              </a:rPr>
              <a:t>5. Testing — Test the APIs, access permissions and main workflows.</a:t>
            </a:r>
          </a:p>
          <a:p>
            <a:pPr>
              <a:lnSpc>
                <a:spcPct val="130000"/>
              </a:lnSpc>
              <a:spcAft>
                <a:spcPts val="800"/>
              </a:spcAft>
              <a:defRPr sz="1300">
                <a:solidFill>
                  <a:srgbClr val="F0F2F5"/>
                </a:solidFill>
                <a:latin typeface="Times New Roman"/>
              </a:defRPr>
            </a:pPr>
            <a:r>
              <a:rPr>
                <a:latin typeface="Times New Roman"/>
              </a:rPr>
              <a:t>6. Final Integration — Validate the complete system across all user roles.</a:t>
            </a:r>
          </a:p>
        </p:txBody>
      </p:sp>
      <p:sp>
        <p:nvSpPr>
          <p:cNvPr id="9" name="TextBox 8"/>
          <p:cNvSpPr txBox="1"/>
          <p:nvPr/>
        </p:nvSpPr>
        <p:spPr>
          <a:xfrm>
            <a:off x="7040880" y="1508760"/>
            <a:ext cx="4327855" cy="4663440"/>
          </a:xfrm>
          <a:prstGeom prst="rect">
            <a:avLst/>
          </a:prstGeom>
          <a:noFill/>
        </p:spPr>
        <p:txBody>
          <a:bodyPr wrap="square">
            <a:spAutoFit/>
          </a:bodyPr>
          <a:lstStyle/>
          <a:p>
            <a:pPr>
              <a:spcAft>
                <a:spcPts val="1000"/>
              </a:spcAft>
              <a:defRPr sz="1700" b="1">
                <a:solidFill>
                  <a:srgbClr val="22D3EE"/>
                </a:solidFill>
                <a:latin typeface="Times New Roman"/>
              </a:defRPr>
            </a:pPr>
            <a:r>
              <a:rPr>
                <a:latin typeface="Times New Roman"/>
              </a:rPr>
              <a:t>Operational ML Flow</a:t>
            </a:r>
          </a:p>
          <a:p>
            <a:pPr>
              <a:spcAft>
                <a:spcPts val="200"/>
              </a:spcAft>
              <a:defRPr sz="1250" b="1">
                <a:solidFill>
                  <a:srgbClr val="F0F2F5"/>
                </a:solidFill>
                <a:latin typeface="Times New Roman"/>
              </a:defRPr>
            </a:pPr>
            <a:r>
              <a:rPr>
                <a:latin typeface="Times New Roman"/>
              </a:rPr>
              <a:t>Smart-Meter Data (SGCC Dataset)</a:t>
            </a:r>
          </a:p>
          <a:p>
            <a:pPr>
              <a:spcAft>
                <a:spcPts val="200"/>
              </a:spcAft>
              <a:defRPr sz="1250">
                <a:solidFill>
                  <a:srgbClr val="22D3EE"/>
                </a:solidFill>
                <a:latin typeface="Times New Roman"/>
              </a:defRPr>
            </a:pPr>
            <a:r>
              <a:rPr>
                <a:latin typeface="Times New Roman"/>
              </a:rPr>
              <a:t>        ↓</a:t>
            </a:r>
          </a:p>
          <a:p>
            <a:pPr>
              <a:spcAft>
                <a:spcPts val="200"/>
              </a:spcAft>
              <a:defRPr sz="1250" b="1">
                <a:solidFill>
                  <a:srgbClr val="F0F2F5"/>
                </a:solidFill>
                <a:latin typeface="Times New Roman"/>
              </a:defRPr>
            </a:pPr>
            <a:r>
              <a:rPr>
                <a:latin typeface="Times New Roman"/>
              </a:rPr>
              <a:t>Data Preprocessing &amp; Cleaning</a:t>
            </a:r>
          </a:p>
          <a:p>
            <a:pPr>
              <a:spcAft>
                <a:spcPts val="200"/>
              </a:spcAft>
              <a:defRPr sz="1250">
                <a:solidFill>
                  <a:srgbClr val="22D3EE"/>
                </a:solidFill>
                <a:latin typeface="Times New Roman"/>
              </a:defRPr>
            </a:pPr>
            <a:r>
              <a:rPr>
                <a:latin typeface="Times New Roman"/>
              </a:rPr>
              <a:t>        ↓</a:t>
            </a:r>
          </a:p>
          <a:p>
            <a:pPr>
              <a:spcAft>
                <a:spcPts val="200"/>
              </a:spcAft>
              <a:defRPr sz="1250" b="1">
                <a:solidFill>
                  <a:srgbClr val="F0F2F5"/>
                </a:solidFill>
                <a:latin typeface="Times New Roman"/>
              </a:defRPr>
            </a:pPr>
            <a:r>
              <a:rPr>
                <a:latin typeface="Times New Roman"/>
              </a:rPr>
              <a:t>XGBoost Risk Prediction</a:t>
            </a:r>
          </a:p>
          <a:p>
            <a:pPr>
              <a:spcAft>
                <a:spcPts val="200"/>
              </a:spcAft>
              <a:defRPr sz="1250">
                <a:solidFill>
                  <a:srgbClr val="22D3EE"/>
                </a:solidFill>
                <a:latin typeface="Times New Roman"/>
              </a:defRPr>
            </a:pPr>
            <a:r>
              <a:rPr>
                <a:latin typeface="Times New Roman"/>
              </a:rPr>
              <a:t>        ↓</a:t>
            </a:r>
          </a:p>
          <a:p>
            <a:pPr>
              <a:spcAft>
                <a:spcPts val="200"/>
              </a:spcAft>
              <a:defRPr sz="1250" b="1">
                <a:solidFill>
                  <a:srgbClr val="F0F2F5"/>
                </a:solidFill>
                <a:latin typeface="Times New Roman"/>
              </a:defRPr>
            </a:pPr>
            <a:r>
              <a:rPr>
                <a:latin typeface="Times New Roman"/>
              </a:rPr>
              <a:t>Inspection Prioritization &amp; SHAP</a:t>
            </a:r>
          </a:p>
          <a:p>
            <a:pPr>
              <a:spcAft>
                <a:spcPts val="200"/>
              </a:spcAft>
              <a:defRPr sz="1250">
                <a:solidFill>
                  <a:srgbClr val="22D3EE"/>
                </a:solidFill>
                <a:latin typeface="Times New Roman"/>
              </a:defRPr>
            </a:pPr>
            <a:r>
              <a:rPr>
                <a:latin typeface="Times New Roman"/>
              </a:rPr>
              <a:t>        ↓</a:t>
            </a:r>
          </a:p>
          <a:p>
            <a:pPr>
              <a:spcAft>
                <a:spcPts val="200"/>
              </a:spcAft>
              <a:defRPr sz="1250" b="1">
                <a:solidFill>
                  <a:srgbClr val="F0F2F5"/>
                </a:solidFill>
                <a:latin typeface="Times New Roman"/>
              </a:defRPr>
            </a:pPr>
            <a:r>
              <a:rPr>
                <a:latin typeface="Times New Roman"/>
              </a:rPr>
              <a:t>Physical On-Site Verification</a:t>
            </a:r>
          </a:p>
          <a:p>
            <a:br/>
            <a:pPr>
              <a:spcAft>
                <a:spcPts val="300"/>
              </a:spcAft>
              <a:defRPr sz="1200" b="1">
                <a:solidFill>
                  <a:srgbClr val="FBBF24"/>
                </a:solidFill>
                <a:latin typeface="Times New Roman"/>
              </a:defRPr>
            </a:pPr>
            <a:r>
              <a:rPr>
                <a:latin typeface="Times New Roman"/>
              </a:rPr>
              <a:t>Key Model Result on Held-Out Test Data:</a:t>
            </a:r>
          </a:p>
          <a:p>
            <a:pPr>
              <a:lnSpc>
                <a:spcPct val="125000"/>
              </a:lnSpc>
              <a:defRPr sz="1150">
                <a:solidFill>
                  <a:srgbClr val="A0A8B4"/>
                </a:solidFill>
                <a:latin typeface="Times New Roman"/>
              </a:defRPr>
            </a:pPr>
            <a:r>
              <a:rPr>
                <a:latin typeface="Times New Roman"/>
              </a:rPr>
              <a:t>• Model: XGBoost Classifier (Threshold: 0.65)</a:t>
            </a:r>
            <a:br/>
            <a:r>
              <a:rPr>
                <a:latin typeface="Times New Roman"/>
              </a:rPr>
              <a:t>• Test PR-AUC: 0.3164  |  Test F1: 0.3748</a:t>
            </a:r>
            <a:br/>
            <a:r>
              <a:rPr>
                <a:latin typeface="Times New Roman"/>
              </a:rPr>
              <a:t>• 4.9x efficiency improvement over random audits.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05 | NOVELTY OF OUR PROJECT</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Novelty of Our Project</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6 of 30</a:t>
            </a:r>
          </a:p>
        </p:txBody>
      </p:sp>
      <p:sp>
        <p:nvSpPr>
          <p:cNvPr id="8" name="TextBox 7"/>
          <p:cNvSpPr txBox="1"/>
          <p:nvPr/>
        </p:nvSpPr>
        <p:spPr>
          <a:xfrm>
            <a:off x="822960" y="1554480"/>
            <a:ext cx="10545775" cy="4572000"/>
          </a:xfrm>
          <a:prstGeom prst="rect">
            <a:avLst/>
          </a:prstGeom>
          <a:noFill/>
        </p:spPr>
        <p:txBody>
          <a:bodyPr wrap="square">
            <a:spAutoFit/>
          </a:bodyPr>
          <a:lstStyle/>
          <a:p>
            <a:pPr>
              <a:spcAft>
                <a:spcPts val="200"/>
              </a:spcAft>
              <a:defRPr sz="1550" b="1">
                <a:solidFill>
                  <a:srgbClr val="22D3EE"/>
                </a:solidFill>
                <a:latin typeface="Times New Roman"/>
              </a:defRPr>
            </a:pPr>
            <a:r>
              <a:rPr>
                <a:latin typeface="Times New Roman"/>
              </a:rPr>
              <a:t>•  Identify Suspicious Consumption:</a:t>
            </a:r>
          </a:p>
          <a:p>
            <a:pPr>
              <a:lnSpc>
                <a:spcPct val="130000"/>
              </a:lnSpc>
              <a:spcAft>
                <a:spcPts val="1000"/>
              </a:spcAft>
              <a:defRPr sz="1350">
                <a:solidFill>
                  <a:srgbClr val="F0F2F5"/>
                </a:solidFill>
                <a:latin typeface="Times New Roman"/>
              </a:defRPr>
            </a:pPr>
            <a:r>
              <a:rPr>
                <a:latin typeface="Times New Roman"/>
              </a:rPr>
              <a:t>    Use smart-meter consumption patterns to identify possible electricity theft rather than relying solely on random manual checks.</a:t>
            </a:r>
          </a:p>
          <a:p>
            <a:pPr>
              <a:spcAft>
                <a:spcPts val="200"/>
              </a:spcAft>
              <a:defRPr sz="1550" b="1">
                <a:solidFill>
                  <a:srgbClr val="22D3EE"/>
                </a:solidFill>
                <a:latin typeface="Times New Roman"/>
              </a:defRPr>
            </a:pPr>
            <a:r>
              <a:rPr>
                <a:latin typeface="Times New Roman"/>
              </a:rPr>
              <a:t>•  Prioritize Field Inspections:</a:t>
            </a:r>
          </a:p>
          <a:p>
            <a:pPr>
              <a:lnSpc>
                <a:spcPct val="130000"/>
              </a:lnSpc>
              <a:spcAft>
                <a:spcPts val="1000"/>
              </a:spcAft>
              <a:defRPr sz="1350">
                <a:solidFill>
                  <a:srgbClr val="F0F2F5"/>
                </a:solidFill>
                <a:latin typeface="Times New Roman"/>
              </a:defRPr>
            </a:pPr>
            <a:r>
              <a:rPr>
                <a:latin typeface="Times New Roman"/>
              </a:rPr>
              <a:t>    Help utility employees prioritize which consumers to inspect first, maximizing the use of limited inspection personnel.</a:t>
            </a:r>
          </a:p>
          <a:p>
            <a:pPr>
              <a:spcAft>
                <a:spcPts val="200"/>
              </a:spcAft>
              <a:defRPr sz="1550" b="1">
                <a:solidFill>
                  <a:srgbClr val="22D3EE"/>
                </a:solidFill>
                <a:latin typeface="Times New Roman"/>
              </a:defRPr>
            </a:pPr>
            <a:r>
              <a:rPr>
                <a:latin typeface="Times New Roman"/>
              </a:rPr>
              <a:t>•  Explain Predictions with SHAP:</a:t>
            </a:r>
          </a:p>
          <a:p>
            <a:pPr>
              <a:lnSpc>
                <a:spcPct val="130000"/>
              </a:lnSpc>
              <a:spcAft>
                <a:spcPts val="1000"/>
              </a:spcAft>
              <a:defRPr sz="1350">
                <a:solidFill>
                  <a:srgbClr val="F0F2F5"/>
                </a:solidFill>
                <a:latin typeface="Times New Roman"/>
              </a:defRPr>
            </a:pPr>
            <a:r>
              <a:rPr>
                <a:latin typeface="Times New Roman"/>
              </a:rPr>
              <a:t>    Show why a consumer was flagged using SHAP explanations, giving officers clear evidence before visiting a location.</a:t>
            </a:r>
          </a:p>
          <a:p>
            <a:pPr>
              <a:spcAft>
                <a:spcPts val="200"/>
              </a:spcAft>
              <a:defRPr sz="1550" b="1">
                <a:solidFill>
                  <a:srgbClr val="22D3EE"/>
                </a:solidFill>
                <a:latin typeface="Times New Roman"/>
              </a:defRPr>
            </a:pPr>
            <a:r>
              <a:rPr>
                <a:latin typeface="Times New Roman"/>
              </a:rPr>
              <a:t>•  Manage the Complete Inspection Workflow:</a:t>
            </a:r>
          </a:p>
          <a:p>
            <a:pPr>
              <a:lnSpc>
                <a:spcPct val="130000"/>
              </a:lnSpc>
              <a:spcAft>
                <a:spcPts val="1000"/>
              </a:spcAft>
              <a:defRPr sz="1350">
                <a:solidFill>
                  <a:srgbClr val="F0F2F5"/>
                </a:solidFill>
                <a:latin typeface="Times New Roman"/>
              </a:defRPr>
            </a:pPr>
            <a:r>
              <a:rPr>
                <a:latin typeface="Times New Roman"/>
              </a:rPr>
              <a:t>    Manage case review, officer assignment, visit scheduling, map views and recorded inspection outcomes in one system.</a:t>
            </a:r>
          </a:p>
          <a:p>
            <a:pPr>
              <a:spcAft>
                <a:spcPts val="200"/>
              </a:spcAft>
              <a:defRPr sz="1550" b="1">
                <a:solidFill>
                  <a:srgbClr val="22D3EE"/>
                </a:solidFill>
                <a:latin typeface="Times New Roman"/>
              </a:defRPr>
            </a:pPr>
            <a:r>
              <a:rPr>
                <a:latin typeface="Times New Roman"/>
              </a:rPr>
              <a:t>•  Unified Utility Platform Vision:</a:t>
            </a:r>
          </a:p>
          <a:p>
            <a:pPr>
              <a:lnSpc>
                <a:spcPct val="130000"/>
              </a:lnSpc>
              <a:spcAft>
                <a:spcPts val="1000"/>
              </a:spcAft>
              <a:defRPr sz="1350">
                <a:solidFill>
                  <a:srgbClr val="F0F2F5"/>
                </a:solidFill>
                <a:latin typeface="Times New Roman"/>
              </a:defRPr>
            </a:pPr>
            <a:r>
              <a:rPr>
                <a:latin typeface="Times New Roman"/>
              </a:rPr>
              <a:t>    Bring inspection operations, consumer services (billing telemetry, dispute filing) and board communications into one planned platform.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06 | SDLC MODEL</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SDLC Model: The Incremental Model</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7 of 30</a:t>
            </a:r>
          </a:p>
        </p:txBody>
      </p:sp>
      <p:sp>
        <p:nvSpPr>
          <p:cNvPr id="8" name="TextBox 7"/>
          <p:cNvSpPr txBox="1"/>
          <p:nvPr/>
        </p:nvSpPr>
        <p:spPr>
          <a:xfrm>
            <a:off x="822960" y="1508760"/>
            <a:ext cx="10545775" cy="2286000"/>
          </a:xfrm>
          <a:prstGeom prst="rect">
            <a:avLst/>
          </a:prstGeom>
          <a:noFill/>
        </p:spPr>
        <p:txBody>
          <a:bodyPr wrap="square">
            <a:spAutoFit/>
          </a:bodyPr>
          <a:lstStyle/>
          <a:p>
            <a:pPr>
              <a:spcAft>
                <a:spcPts val="1000"/>
              </a:spcAft>
              <a:defRPr sz="1700" b="1">
                <a:solidFill>
                  <a:srgbClr val="22D3EE"/>
                </a:solidFill>
                <a:latin typeface="Times New Roman"/>
              </a:defRPr>
            </a:pPr>
            <a:r>
              <a:rPr>
                <a:latin typeface="Times New Roman"/>
              </a:rPr>
              <a:t>Why We Selected the Incremental Model:</a:t>
            </a:r>
          </a:p>
          <a:p>
            <a:pPr>
              <a:lnSpc>
                <a:spcPct val="130000"/>
              </a:lnSpc>
              <a:spcAft>
                <a:spcPts val="800"/>
              </a:spcAft>
              <a:defRPr sz="1400">
                <a:solidFill>
                  <a:srgbClr val="F0F2F5"/>
                </a:solidFill>
                <a:latin typeface="Times New Roman"/>
              </a:defRPr>
            </a:pPr>
            <a:r>
              <a:rPr>
                <a:latin typeface="Times New Roman"/>
              </a:rPr>
              <a:t>•  The project has several separate modules: the data/ML pipeline, backend APIs, inspection portal, and consumer/board portals.</a:t>
            </a:r>
          </a:p>
          <a:p>
            <a:pPr>
              <a:lnSpc>
                <a:spcPct val="130000"/>
              </a:lnSpc>
              <a:spcAft>
                <a:spcPts val="800"/>
              </a:spcAft>
              <a:defRPr sz="1400">
                <a:solidFill>
                  <a:srgbClr val="F0F2F5"/>
                </a:solidFill>
                <a:latin typeface="Times New Roman"/>
              </a:defRPr>
            </a:pPr>
            <a:r>
              <a:rPr>
                <a:latin typeface="Times New Roman"/>
              </a:rPr>
              <a:t>•  Each module can be developed and tested in stages before moving to the next part of the system.</a:t>
            </a:r>
          </a:p>
          <a:p>
            <a:pPr>
              <a:lnSpc>
                <a:spcPct val="130000"/>
              </a:lnSpc>
              <a:spcAft>
                <a:spcPts val="800"/>
              </a:spcAft>
              <a:defRPr sz="1400">
                <a:solidFill>
                  <a:srgbClr val="F0F2F5"/>
                </a:solidFill>
                <a:latin typeface="Times New Roman"/>
              </a:defRPr>
            </a:pPr>
            <a:r>
              <a:rPr>
                <a:latin typeface="Times New Roman"/>
              </a:rPr>
              <a:t>•  New modules can be integrated into the existing system with lower risk of breaking working functionality.</a:t>
            </a:r>
          </a:p>
        </p:txBody>
      </p:sp>
      <p:sp>
        <p:nvSpPr>
          <p:cNvPr id="9" name="TextBox 8"/>
          <p:cNvSpPr txBox="1"/>
          <p:nvPr/>
        </p:nvSpPr>
        <p:spPr>
          <a:xfrm>
            <a:off x="822960" y="3931920"/>
            <a:ext cx="10545775" cy="2194560"/>
          </a:xfrm>
          <a:prstGeom prst="rect">
            <a:avLst/>
          </a:prstGeom>
          <a:noFill/>
        </p:spPr>
        <p:txBody>
          <a:bodyPr wrap="square">
            <a:spAutoFit/>
          </a:bodyPr>
          <a:lstStyle/>
          <a:p>
            <a:pPr>
              <a:spcAft>
                <a:spcPts val="1000"/>
              </a:spcAft>
              <a:defRPr sz="1500" b="1">
                <a:solidFill>
                  <a:srgbClr val="FBBF24"/>
                </a:solidFill>
                <a:latin typeface="Times New Roman"/>
              </a:defRPr>
            </a:pPr>
            <a:r>
              <a:rPr>
                <a:latin typeface="Times New Roman"/>
              </a:rPr>
              <a:t>Incremental Development Progression:</a:t>
            </a:r>
          </a:p>
          <a:p>
            <a:pPr>
              <a:lnSpc>
                <a:spcPct val="125000"/>
              </a:lnSpc>
              <a:spcAft>
                <a:spcPts val="400"/>
              </a:spcAft>
              <a:defRPr sz="1250">
                <a:solidFill>
                  <a:srgbClr val="F0F2F5"/>
                </a:solidFill>
                <a:latin typeface="Times New Roman"/>
              </a:defRPr>
            </a:pPr>
            <a:r>
              <a:rPr>
                <a:latin typeface="Times New Roman"/>
              </a:rPr>
              <a:t>•  Increment 1 (Data &amp; ML Engine): Data cleaning, feature extraction, XGBoost model, SHAP  —  [COMPLETE]</a:t>
            </a:r>
          </a:p>
          <a:p>
            <a:pPr>
              <a:lnSpc>
                <a:spcPct val="125000"/>
              </a:lnSpc>
              <a:spcAft>
                <a:spcPts val="400"/>
              </a:spcAft>
              <a:defRPr sz="1250">
                <a:solidFill>
                  <a:srgbClr val="F0F2F5"/>
                </a:solidFill>
                <a:latin typeface="Times New Roman"/>
              </a:defRPr>
            </a:pPr>
            <a:r>
              <a:rPr>
                <a:latin typeface="Times New Roman"/>
              </a:rPr>
              <a:t>•  Increment 2 (Backend &amp; Database): MySQL 8.0 schema (16 tables), FastAPI REST APIs, JWT Auth  —  [COMPLETE]</a:t>
            </a:r>
          </a:p>
          <a:p>
            <a:pPr>
              <a:lnSpc>
                <a:spcPct val="125000"/>
              </a:lnSpc>
              <a:spcAft>
                <a:spcPts val="400"/>
              </a:spcAft>
              <a:defRPr sz="1250">
                <a:solidFill>
                  <a:srgbClr val="F0F2F5"/>
                </a:solidFill>
                <a:latin typeface="Times New Roman"/>
              </a:defRPr>
            </a:pPr>
            <a:r>
              <a:rPr>
                <a:latin typeface="Times New Roman"/>
              </a:rPr>
              <a:t>•  Increment 3 (Inspection Portal): Dashboard, queue, case details, map, field outcome modal  —  [COMPLETE]</a:t>
            </a:r>
          </a:p>
          <a:p>
            <a:pPr>
              <a:lnSpc>
                <a:spcPct val="125000"/>
              </a:lnSpc>
              <a:spcAft>
                <a:spcPts val="400"/>
              </a:spcAft>
              <a:defRPr sz="1250">
                <a:solidFill>
                  <a:srgbClr val="F0F2F5"/>
                </a:solidFill>
                <a:latin typeface="Times New Roman"/>
              </a:defRPr>
            </a:pPr>
            <a:r>
              <a:rPr>
                <a:latin typeface="Times New Roman"/>
              </a:rPr>
              <a:t>•  Increment 4 (Consumer &amp; Board): Consumer telemetry &amp; dispute UI, board communications  —  [UNDERWAY]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07 | PROJECT PHASES</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Development Process</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8 of 30</a:t>
            </a:r>
          </a:p>
        </p:txBody>
      </p:sp>
      <p:sp>
        <p:nvSpPr>
          <p:cNvPr id="8" name="TextBox 7"/>
          <p:cNvSpPr txBox="1"/>
          <p:nvPr/>
        </p:nvSpPr>
        <p:spPr>
          <a:xfrm>
            <a:off x="822960" y="1508760"/>
            <a:ext cx="10545775" cy="4663440"/>
          </a:xfrm>
          <a:prstGeom prst="rect">
            <a:avLst/>
          </a:prstGeom>
          <a:noFill/>
        </p:spPr>
        <p:txBody>
          <a:bodyPr wrap="square">
            <a:spAutoFit/>
          </a:bodyPr>
          <a:lstStyle/>
          <a:p>
            <a:pPr>
              <a:spcAft>
                <a:spcPts val="400"/>
              </a:spcAft>
              <a:defRPr sz="1600" b="1">
                <a:solidFill>
                  <a:srgbClr val="22D3EE"/>
                </a:solidFill>
                <a:latin typeface="Times New Roman"/>
              </a:defRPr>
            </a:pPr>
            <a:r>
              <a:rPr>
                <a:latin typeface="Times New Roman"/>
              </a:rPr>
              <a:t>1. Requirements Analysis</a:t>
            </a:r>
          </a:p>
          <a:p>
            <a:pPr>
              <a:lnSpc>
                <a:spcPct val="130000"/>
              </a:lnSpc>
              <a:spcAft>
                <a:spcPts val="200"/>
              </a:spcAft>
              <a:defRPr sz="1300">
                <a:solidFill>
                  <a:srgbClr val="F0F2F5"/>
                </a:solidFill>
                <a:latin typeface="Times New Roman"/>
              </a:defRPr>
            </a:pPr>
            <a:r>
              <a:rPr>
                <a:latin typeface="Times New Roman"/>
              </a:rPr>
              <a:t>    •  Requirements were identified for consumers, employees and board communication staff.</a:t>
            </a:r>
          </a:p>
          <a:p>
            <a:pPr>
              <a:lnSpc>
                <a:spcPct val="130000"/>
              </a:lnSpc>
              <a:spcAft>
                <a:spcPts val="200"/>
              </a:spcAft>
              <a:defRPr sz="1300">
                <a:solidFill>
                  <a:srgbClr val="F0F2F5"/>
                </a:solidFill>
                <a:latin typeface="Times New Roman"/>
              </a:defRPr>
            </a:pPr>
            <a:r>
              <a:rPr>
                <a:latin typeface="Times New Roman"/>
              </a:rPr>
              <a:t>    •  A detailed Software Requirements Specification (SRS) was prepared and submitted earlier.</a:t>
            </a:r>
          </a:p>
          <a:p>
            <a:pPr>
              <a:lnSpc>
                <a:spcPct val="130000"/>
              </a:lnSpc>
              <a:spcAft>
                <a:spcPts val="1000"/>
              </a:spcAft>
              <a:defRPr sz="1300">
                <a:solidFill>
                  <a:srgbClr val="F0F2F5"/>
                </a:solidFill>
                <a:latin typeface="Times New Roman"/>
              </a:defRPr>
            </a:pPr>
            <a:r>
              <a:rPr>
                <a:latin typeface="Times New Roman"/>
              </a:rPr>
              <a:t>    •  Role-based access boundaries were established to keep consumer private data isolated.</a:t>
            </a:r>
          </a:p>
          <a:p>
            <a:pPr>
              <a:spcAft>
                <a:spcPts val="400"/>
              </a:spcAft>
              <a:defRPr sz="1600" b="1">
                <a:solidFill>
                  <a:srgbClr val="22D3EE"/>
                </a:solidFill>
                <a:latin typeface="Times New Roman"/>
              </a:defRPr>
            </a:pPr>
            <a:r>
              <a:rPr>
                <a:latin typeface="Times New Roman"/>
              </a:rPr>
              <a:t>2. System Design</a:t>
            </a:r>
          </a:p>
          <a:p>
            <a:pPr>
              <a:lnSpc>
                <a:spcPct val="130000"/>
              </a:lnSpc>
              <a:spcAft>
                <a:spcPts val="200"/>
              </a:spcAft>
              <a:defRPr sz="1300">
                <a:solidFill>
                  <a:srgbClr val="F0F2F5"/>
                </a:solidFill>
                <a:latin typeface="Times New Roman"/>
              </a:defRPr>
            </a:pPr>
            <a:r>
              <a:rPr>
                <a:latin typeface="Times New Roman"/>
              </a:rPr>
              <a:t>    •  UML diagrams were used to plan the system, its interactions and component boundaries.</a:t>
            </a:r>
          </a:p>
          <a:p>
            <a:pPr>
              <a:lnSpc>
                <a:spcPct val="130000"/>
              </a:lnSpc>
              <a:spcAft>
                <a:spcPts val="200"/>
              </a:spcAft>
              <a:defRPr sz="1300">
                <a:solidFill>
                  <a:srgbClr val="F0F2F5"/>
                </a:solidFill>
                <a:latin typeface="Times New Roman"/>
              </a:defRPr>
            </a:pPr>
            <a:r>
              <a:rPr>
                <a:latin typeface="Times New Roman"/>
              </a:rPr>
              <a:t>    •  Database structure and relationships were designed using a normalized MySQL schema (16 tables).</a:t>
            </a:r>
          </a:p>
          <a:p>
            <a:pPr>
              <a:lnSpc>
                <a:spcPct val="130000"/>
              </a:lnSpc>
              <a:spcAft>
                <a:spcPts val="1000"/>
              </a:spcAft>
              <a:defRPr sz="1300">
                <a:solidFill>
                  <a:srgbClr val="F0F2F5"/>
                </a:solidFill>
                <a:latin typeface="Times New Roman"/>
              </a:defRPr>
            </a:pPr>
            <a:r>
              <a:rPr>
                <a:latin typeface="Times New Roman"/>
              </a:rPr>
              <a:t>    •  User roles, state-driven inspection lifecycles and REST API contracts were defined.</a:t>
            </a:r>
          </a:p>
          <a:p>
            <a:pPr>
              <a:spcAft>
                <a:spcPts val="400"/>
              </a:spcAft>
              <a:defRPr sz="1600" b="1">
                <a:solidFill>
                  <a:srgbClr val="22D3EE"/>
                </a:solidFill>
                <a:latin typeface="Times New Roman"/>
              </a:defRPr>
            </a:pPr>
            <a:r>
              <a:rPr>
                <a:latin typeface="Times New Roman"/>
              </a:rPr>
              <a:t>3. Implementation</a:t>
            </a:r>
          </a:p>
          <a:p>
            <a:pPr>
              <a:lnSpc>
                <a:spcPct val="130000"/>
              </a:lnSpc>
              <a:spcAft>
                <a:spcPts val="200"/>
              </a:spcAft>
              <a:defRPr sz="1300">
                <a:solidFill>
                  <a:srgbClr val="F0F2F5"/>
                </a:solidFill>
                <a:latin typeface="Times New Roman"/>
              </a:defRPr>
            </a:pPr>
            <a:r>
              <a:rPr>
                <a:latin typeface="Times New Roman"/>
              </a:rPr>
              <a:t>    •  The project was divided into eight working phases to manage complexity.</a:t>
            </a:r>
          </a:p>
          <a:p>
            <a:pPr>
              <a:lnSpc>
                <a:spcPct val="130000"/>
              </a:lnSpc>
              <a:spcAft>
                <a:spcPts val="200"/>
              </a:spcAft>
              <a:defRPr sz="1300">
                <a:solidFill>
                  <a:srgbClr val="F0F2F5"/>
                </a:solidFill>
                <a:latin typeface="Times New Roman"/>
              </a:defRPr>
            </a:pPr>
            <a:r>
              <a:rPr>
                <a:latin typeface="Times New Roman"/>
              </a:rPr>
              <a:t>    •  Each phase covers a distinct part of the system and builds on earlier deliverables.</a:t>
            </a:r>
          </a:p>
          <a:p>
            <a:pPr>
              <a:lnSpc>
                <a:spcPct val="130000"/>
              </a:lnSpc>
              <a:spcAft>
                <a:spcPts val="1000"/>
              </a:spcAft>
              <a:defRPr sz="1300">
                <a:solidFill>
                  <a:srgbClr val="F0F2F5"/>
                </a:solidFill>
                <a:latin typeface="Times New Roman"/>
              </a:defRPr>
            </a:pPr>
            <a:r>
              <a:rPr>
                <a:latin typeface="Times New Roman"/>
              </a:rPr>
              <a:t>    •  Testing and final integration are planned as dedicated milestones before completion.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07 | PROJECT PHASES</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The Eight Working Phases</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9 of 30</a:t>
            </a:r>
          </a:p>
        </p:txBody>
      </p:sp>
      <p:sp>
        <p:nvSpPr>
          <p:cNvPr id="8" name="TextBox 7"/>
          <p:cNvSpPr txBox="1"/>
          <p:nvPr/>
        </p:nvSpPr>
        <p:spPr>
          <a:xfrm>
            <a:off x="822960" y="1463040"/>
            <a:ext cx="10545775" cy="4754880"/>
          </a:xfrm>
          <a:prstGeom prst="rect">
            <a:avLst/>
          </a:prstGeom>
          <a:noFill/>
        </p:spPr>
        <p:txBody>
          <a:bodyPr wrap="square">
            <a:spAutoFit/>
          </a:bodyPr>
          <a:lstStyle/>
          <a:p>
            <a:pPr>
              <a:defRPr sz="1300" b="1">
                <a:solidFill>
                  <a:srgbClr val="34D399"/>
                </a:solidFill>
                <a:latin typeface="Times New Roman"/>
              </a:defRPr>
            </a:pPr>
            <a:r>
              <a:rPr>
                <a:latin typeface="Times New Roman"/>
              </a:rPr>
              <a:t>Phase 1 — Requirements and Data Audit  [COMPLETE]</a:t>
            </a:r>
          </a:p>
          <a:p>
            <a:pPr>
              <a:spcAft>
                <a:spcPts val="400"/>
              </a:spcAft>
              <a:defRPr sz="1150">
                <a:solidFill>
                  <a:srgbClr val="F0F2F5"/>
                </a:solidFill>
                <a:latin typeface="Times New Roman"/>
              </a:defRPr>
            </a:pPr>
            <a:r>
              <a:rPr>
                <a:latin typeface="Times New Roman"/>
              </a:rPr>
              <a:t>    Identify system requirements; inspect the dataset and plan preprocessing.</a:t>
            </a:r>
          </a:p>
          <a:p>
            <a:pPr>
              <a:defRPr sz="1300" b="1">
                <a:solidFill>
                  <a:srgbClr val="34D399"/>
                </a:solidFill>
                <a:latin typeface="Times New Roman"/>
              </a:defRPr>
            </a:pPr>
            <a:r>
              <a:rPr>
                <a:latin typeface="Times New Roman"/>
              </a:rPr>
              <a:t>Phase 2 — Data and ML Engine  [COMPLETE]</a:t>
            </a:r>
          </a:p>
          <a:p>
            <a:pPr>
              <a:spcAft>
                <a:spcPts val="400"/>
              </a:spcAft>
              <a:defRPr sz="1150">
                <a:solidFill>
                  <a:srgbClr val="F0F2F5"/>
                </a:solidFill>
                <a:latin typeface="Times New Roman"/>
              </a:defRPr>
            </a:pPr>
            <a:r>
              <a:rPr>
                <a:latin typeface="Times New Roman"/>
              </a:rPr>
              <a:t>    Clean and prepare the data; build consumption features and train/evaluate the model.</a:t>
            </a:r>
          </a:p>
          <a:p>
            <a:pPr>
              <a:defRPr sz="1300" b="1">
                <a:solidFill>
                  <a:srgbClr val="34D399"/>
                </a:solidFill>
                <a:latin typeface="Times New Roman"/>
              </a:defRPr>
            </a:pPr>
            <a:r>
              <a:rPr>
                <a:latin typeface="Times New Roman"/>
              </a:rPr>
              <a:t>Phase 3 — Backend and Database  [COMPLETE]</a:t>
            </a:r>
          </a:p>
          <a:p>
            <a:pPr>
              <a:spcAft>
                <a:spcPts val="400"/>
              </a:spcAft>
              <a:defRPr sz="1150">
                <a:solidFill>
                  <a:srgbClr val="F0F2F5"/>
                </a:solidFill>
                <a:latin typeface="Times New Roman"/>
              </a:defRPr>
            </a:pPr>
            <a:r>
              <a:rPr>
                <a:latin typeface="Times New Roman"/>
              </a:rPr>
              <a:t>    Create the database (16 tables) and backend APIs; implement authentication and RBAC.</a:t>
            </a:r>
          </a:p>
          <a:p>
            <a:pPr>
              <a:defRPr sz="1300" b="1">
                <a:solidFill>
                  <a:srgbClr val="34D399"/>
                </a:solidFill>
                <a:latin typeface="Times New Roman"/>
              </a:defRPr>
            </a:pPr>
            <a:r>
              <a:rPr>
                <a:latin typeface="Times New Roman"/>
              </a:rPr>
              <a:t>Phase 4 — Inspection Portal  [COMPLETE]</a:t>
            </a:r>
          </a:p>
          <a:p>
            <a:pPr>
              <a:spcAft>
                <a:spcPts val="400"/>
              </a:spcAft>
              <a:defRPr sz="1150">
                <a:solidFill>
                  <a:srgbClr val="F0F2F5"/>
                </a:solidFill>
                <a:latin typeface="Times New Roman"/>
              </a:defRPr>
            </a:pPr>
            <a:r>
              <a:rPr>
                <a:latin typeface="Times New Roman"/>
              </a:rPr>
              <a:t>    Build the employee dashboard, inspection queue, SHAP details, map, outcomes and reports.</a:t>
            </a:r>
          </a:p>
          <a:p>
            <a:pPr>
              <a:defRPr sz="1300" b="1">
                <a:solidFill>
                  <a:srgbClr val="FBBF24"/>
                </a:solidFill>
                <a:latin typeface="Times New Roman"/>
              </a:defRPr>
            </a:pPr>
            <a:r>
              <a:rPr>
                <a:latin typeface="Times New Roman"/>
              </a:rPr>
              <a:t>Phase 5 — Consumer and Board Portals  [UNDERWAY]</a:t>
            </a:r>
          </a:p>
          <a:p>
            <a:pPr>
              <a:spcAft>
                <a:spcPts val="400"/>
              </a:spcAft>
              <a:defRPr sz="1150">
                <a:solidFill>
                  <a:srgbClr val="F0F2F5"/>
                </a:solidFill>
                <a:latin typeface="Times New Roman"/>
              </a:defRPr>
            </a:pPr>
            <a:r>
              <a:rPr>
                <a:latin typeface="Times New Roman"/>
              </a:rPr>
              <a:t>    Build Consumer Portal and Board Communication Portal; connect workflows to backend.</a:t>
            </a:r>
          </a:p>
          <a:p>
            <a:pPr>
              <a:defRPr sz="1300" b="1">
                <a:solidFill>
                  <a:srgbClr val="A0A8B4"/>
                </a:solidFill>
                <a:latin typeface="Times New Roman"/>
              </a:defRPr>
            </a:pPr>
            <a:r>
              <a:rPr>
                <a:latin typeface="Times New Roman"/>
              </a:rPr>
              <a:t>Phase 6 — Feedback and Model Lifecycle  [PENDING]</a:t>
            </a:r>
          </a:p>
          <a:p>
            <a:pPr>
              <a:spcAft>
                <a:spcPts val="400"/>
              </a:spcAft>
              <a:defRPr sz="1150">
                <a:solidFill>
                  <a:srgbClr val="F0F2F5"/>
                </a:solidFill>
                <a:latin typeface="Times New Roman"/>
              </a:defRPr>
            </a:pPr>
            <a:r>
              <a:rPr>
                <a:latin typeface="Times New Roman"/>
              </a:rPr>
              <a:t>    Extend the use of verified inspection results; improve future model evaluation.</a:t>
            </a:r>
          </a:p>
          <a:p>
            <a:pPr>
              <a:defRPr sz="1300" b="1">
                <a:solidFill>
                  <a:srgbClr val="A0A8B4"/>
                </a:solidFill>
                <a:latin typeface="Times New Roman"/>
              </a:defRPr>
            </a:pPr>
            <a:r>
              <a:rPr>
                <a:latin typeface="Times New Roman"/>
              </a:rPr>
              <a:t>Phase 7 — Security and Documentation  [PENDING]</a:t>
            </a:r>
          </a:p>
          <a:p>
            <a:pPr>
              <a:spcAft>
                <a:spcPts val="400"/>
              </a:spcAft>
              <a:defRPr sz="1150">
                <a:solidFill>
                  <a:srgbClr val="F0F2F5"/>
                </a:solidFill>
                <a:latin typeface="Times New Roman"/>
              </a:defRPr>
            </a:pPr>
            <a:r>
              <a:rPr>
                <a:latin typeface="Times New Roman"/>
              </a:rPr>
              <a:t>    Improve security and integration; complete documentation and deployment preparation.</a:t>
            </a:r>
          </a:p>
          <a:p>
            <a:pPr>
              <a:defRPr sz="1300" b="1">
                <a:solidFill>
                  <a:srgbClr val="A0A8B4"/>
                </a:solidFill>
                <a:latin typeface="Times New Roman"/>
              </a:defRPr>
            </a:pPr>
            <a:r>
              <a:rPr>
                <a:latin typeface="Times New Roman"/>
              </a:rPr>
              <a:t>Phase 8 — Final Testing  [PENDING]</a:t>
            </a:r>
          </a:p>
          <a:p>
            <a:pPr>
              <a:spcAft>
                <a:spcPts val="400"/>
              </a:spcAft>
              <a:defRPr sz="1150">
                <a:solidFill>
                  <a:srgbClr val="F0F2F5"/>
                </a:solidFill>
                <a:latin typeface="Times New Roman"/>
              </a:defRPr>
            </a:pPr>
            <a:r>
              <a:rPr>
                <a:latin typeface="Times New Roman"/>
              </a:rPr>
              <a:t>    Test all user roles and major workflows; resolve issues and validate complete system.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Use Case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Class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Sequence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Activity Diagram</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Entity Relationship Diagram (ERD)</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Data Flow Diagram – Level 0</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Data Flow Diagram – Level 1</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07 | PROJECT PHASES</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Data Flow Diagram – Level 2</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08 | CURRENT IMPLEMENTATION</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Current Implementation: Progress Overview</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18 of 30</a:t>
            </a:r>
          </a:p>
        </p:txBody>
      </p:sp>
      <p:sp>
        <p:nvSpPr>
          <p:cNvPr id="8" name="TextBox 7"/>
          <p:cNvSpPr txBox="1"/>
          <p:nvPr/>
        </p:nvSpPr>
        <p:spPr>
          <a:xfrm>
            <a:off x="822960" y="1508760"/>
            <a:ext cx="10545775" cy="4663440"/>
          </a:xfrm>
          <a:prstGeom prst="rect">
            <a:avLst/>
          </a:prstGeom>
          <a:noFill/>
        </p:spPr>
        <p:txBody>
          <a:bodyPr wrap="square">
            <a:spAutoFit/>
          </a:bodyPr>
          <a:lstStyle/>
          <a:p>
            <a:pPr>
              <a:spcAft>
                <a:spcPts val="600"/>
              </a:spcAft>
              <a:defRPr sz="1600" b="1">
                <a:solidFill>
                  <a:srgbClr val="34D399"/>
                </a:solidFill>
                <a:latin typeface="Times New Roman"/>
              </a:defRPr>
            </a:pPr>
            <a:r>
              <a:rPr>
                <a:latin typeface="Times New Roman"/>
              </a:rPr>
              <a:t>Completed Work (Phases 1 to 4):</a:t>
            </a:r>
          </a:p>
          <a:p>
            <a:pPr>
              <a:lnSpc>
                <a:spcPct val="125000"/>
              </a:lnSpc>
              <a:spcAft>
                <a:spcPts val="400"/>
              </a:spcAft>
              <a:defRPr sz="1250">
                <a:solidFill>
                  <a:srgbClr val="F0F2F5"/>
                </a:solidFill>
                <a:latin typeface="Times New Roman"/>
              </a:defRPr>
            </a:pPr>
            <a:r>
              <a:rPr>
                <a:latin typeface="Times New Roman"/>
              </a:rPr>
              <a:t>•  Phase 1: Requirements analysis and smart-meter dataset audit (SGCC data, 42,372 consumers).</a:t>
            </a:r>
          </a:p>
          <a:p>
            <a:pPr>
              <a:lnSpc>
                <a:spcPct val="125000"/>
              </a:lnSpc>
              <a:spcAft>
                <a:spcPts val="400"/>
              </a:spcAft>
              <a:defRPr sz="1250">
                <a:solidFill>
                  <a:srgbClr val="F0F2F5"/>
                </a:solidFill>
                <a:latin typeface="Times New Roman"/>
              </a:defRPr>
            </a:pPr>
            <a:r>
              <a:rPr>
                <a:latin typeface="Times New Roman"/>
              </a:rPr>
              <a:t>•  Phase 2: Data preprocessing, feature engineering, XGBoost champion model, and SHAP explainability.</a:t>
            </a:r>
          </a:p>
          <a:p>
            <a:pPr>
              <a:lnSpc>
                <a:spcPct val="125000"/>
              </a:lnSpc>
              <a:spcAft>
                <a:spcPts val="400"/>
              </a:spcAft>
              <a:defRPr sz="1250">
                <a:solidFill>
                  <a:srgbClr val="F0F2F5"/>
                </a:solidFill>
                <a:latin typeface="Times New Roman"/>
              </a:defRPr>
            </a:pPr>
            <a:r>
              <a:rPr>
                <a:latin typeface="Times New Roman"/>
              </a:rPr>
              <a:t>•  Phase 3: MySQL relational database (16 tables), FastAPI backend, JWT authentication, and role restrictions.</a:t>
            </a:r>
          </a:p>
          <a:p>
            <a:pPr>
              <a:lnSpc>
                <a:spcPct val="125000"/>
              </a:lnSpc>
              <a:spcAft>
                <a:spcPts val="400"/>
              </a:spcAft>
              <a:defRPr sz="1250">
                <a:solidFill>
                  <a:srgbClr val="F0F2F5"/>
                </a:solidFill>
                <a:latin typeface="Times New Roman"/>
              </a:defRPr>
            </a:pPr>
            <a:r>
              <a:rPr>
                <a:latin typeface="Times New Roman"/>
              </a:rPr>
              <a:t>•  Phase 4: Inspection Intelligence Portal, including: Employee dashboard, inspection queue, case details, SHAP explanations, inspection map, assignment/scheduling, field outcome recording, and reports.</a:t>
            </a:r>
          </a:p>
          <a:p>
            <a:br/>
            <a:pPr>
              <a:spcAft>
                <a:spcPts val="600"/>
              </a:spcAft>
              <a:defRPr sz="1600" b="1">
                <a:solidFill>
                  <a:srgbClr val="FBBF24"/>
                </a:solidFill>
                <a:latin typeface="Times New Roman"/>
              </a:defRPr>
            </a:pPr>
            <a:r>
              <a:rPr>
                <a:latin typeface="Times New Roman"/>
              </a:rPr>
              <a:t>Work Underway (Phase 5):</a:t>
            </a:r>
          </a:p>
          <a:p>
            <a:pPr>
              <a:lnSpc>
                <a:spcPct val="125000"/>
              </a:lnSpc>
              <a:spcAft>
                <a:spcPts val="400"/>
              </a:spcAft>
              <a:defRPr sz="1250">
                <a:solidFill>
                  <a:srgbClr val="F0F2F5"/>
                </a:solidFill>
                <a:latin typeface="Times New Roman"/>
              </a:defRPr>
            </a:pPr>
            <a:r>
              <a:rPr>
                <a:latin typeface="Times New Roman"/>
              </a:rPr>
              <a:t>•  Phase 5: Consumer Portal and Board Communication Portal.</a:t>
            </a:r>
          </a:p>
          <a:p>
            <a:pPr>
              <a:lnSpc>
                <a:spcPct val="125000"/>
              </a:lnSpc>
              <a:spcAft>
                <a:spcPts val="400"/>
              </a:spcAft>
              <a:defRPr sz="1250">
                <a:solidFill>
                  <a:srgbClr val="F0F2F5"/>
                </a:solidFill>
                <a:latin typeface="Times New Roman"/>
              </a:defRPr>
            </a:pPr>
            <a:r>
              <a:rPr>
                <a:latin typeface="Times New Roman"/>
              </a:rPr>
              <a:t>•  Backend models and API foundations are established; user-facing screens and workflows are in active development.</a:t>
            </a:r>
          </a:p>
          <a:p>
            <a:br/>
            <a:pPr>
              <a:spcAft>
                <a:spcPts val="200"/>
              </a:spcAft>
              <a:defRPr sz="1300" b="1">
                <a:solidFill>
                  <a:srgbClr val="22D3EE"/>
                </a:solidFill>
                <a:latin typeface="Times New Roman"/>
              </a:defRPr>
            </a:pPr>
            <a:r>
              <a:rPr>
                <a:latin typeface="Times New Roman"/>
              </a:rPr>
              <a:t>Testing Status Note:</a:t>
            </a:r>
          </a:p>
          <a:p>
            <a:pPr>
              <a:lnSpc>
                <a:spcPct val="125000"/>
              </a:lnSpc>
              <a:defRPr sz="1150">
                <a:solidFill>
                  <a:srgbClr val="A0A8B4"/>
                </a:solidFill>
                <a:latin typeface="Times New Roman"/>
              </a:defRPr>
            </a:pPr>
            <a:r>
              <a:rPr>
                <a:latin typeface="Times New Roman"/>
              </a:rPr>
              <a:t>•  All 19 automated backend integration tests pass. Local production build succeeds with zero TypeScript errors.</a:t>
            </a:r>
            <a:br/>
            <a:r>
              <a:rPr>
                <a:latin typeface="Times New Roman"/>
              </a:rPr>
              <a:t>•  Browser end-to-end automation had an external Playwright driver/CDN limitation; workflows verified via integration tests.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Employee Dashboard</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Inspection Queue</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Case Details and SHAP</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Inspection Map</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Field Outcome Recording</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Reports</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Consumer Portal</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74320"/>
          </a:xfrm>
          <a:prstGeom prst="rect">
            <a:avLst/>
          </a:prstGeom>
          <a:noFill/>
        </p:spPr>
        <p:txBody>
          <a:bodyPr wrap="square" lIns="0" tIns="0" rIns="0" bIns="0">
            <a:spAutoFit/>
          </a:bodyPr>
          <a:lstStyle/>
          <a:p>
            <a:pPr>
              <a:defRPr sz="1100" b="1">
                <a:solidFill>
                  <a:srgbClr val="22D3EE"/>
                </a:solidFill>
                <a:latin typeface="Times New Roman"/>
              </a:defRPr>
            </a:pPr>
            <a:r>
              <a:rPr>
                <a:latin typeface="Times New Roman"/>
              </a:rPr>
              <a:t>08 | CURRENT IMPLEMENTATION</a:t>
            </a:r>
          </a:p>
        </p:txBody>
      </p:sp>
      <p:sp>
        <p:nvSpPr>
          <p:cNvPr id="4" name="TextBox 3"/>
          <p:cNvSpPr txBox="1"/>
          <p:nvPr/>
        </p:nvSpPr>
        <p:spPr>
          <a:xfrm>
            <a:off x="822960" y="640080"/>
            <a:ext cx="10545775" cy="457200"/>
          </a:xfrm>
          <a:prstGeom prst="rect">
            <a:avLst/>
          </a:prstGeom>
          <a:noFill/>
        </p:spPr>
        <p:txBody>
          <a:bodyPr wrap="square" lIns="0" tIns="0" rIns="0" bIns="0">
            <a:spAutoFit/>
          </a:bodyPr>
          <a:lstStyle/>
          <a:p>
            <a:pPr>
              <a:defRPr sz="2200" b="1">
                <a:solidFill>
                  <a:srgbClr val="F0F2F5"/>
                </a:solidFill>
                <a:latin typeface="Times New Roman"/>
              </a:defRPr>
            </a:pPr>
            <a:r>
              <a:rPr>
                <a:latin typeface="Times New Roman"/>
              </a:rPr>
              <a:t>Board Communication Portal</a:t>
            </a:r>
          </a:p>
        </p:txBody>
      </p:sp>
      <p:sp>
        <p:nvSpPr>
          <p:cNvPr id="5" name="Rectangle 4"/>
          <p:cNvSpPr/>
          <p:nvPr/>
        </p:nvSpPr>
        <p:spPr>
          <a:xfrm>
            <a:off x="822960" y="1143000"/>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09 | PENDING DELIVERABLES</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Pending Deliverables and Current Issues</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27 of 30</a:t>
            </a:r>
          </a:p>
        </p:txBody>
      </p:sp>
      <p:sp>
        <p:nvSpPr>
          <p:cNvPr id="8" name="TextBox 7"/>
          <p:cNvSpPr txBox="1"/>
          <p:nvPr/>
        </p:nvSpPr>
        <p:spPr>
          <a:xfrm>
            <a:off x="822960" y="1508760"/>
            <a:ext cx="5303520" cy="4663440"/>
          </a:xfrm>
          <a:prstGeom prst="rect">
            <a:avLst/>
          </a:prstGeom>
          <a:noFill/>
        </p:spPr>
        <p:txBody>
          <a:bodyPr wrap="square">
            <a:spAutoFit/>
          </a:bodyPr>
          <a:lstStyle/>
          <a:p>
            <a:pPr>
              <a:spcAft>
                <a:spcPts val="1000"/>
              </a:spcAft>
              <a:defRPr sz="1700" b="1">
                <a:solidFill>
                  <a:srgbClr val="22D3EE"/>
                </a:solidFill>
                <a:latin typeface="Times New Roman"/>
              </a:defRPr>
            </a:pPr>
            <a:r>
              <a:rPr>
                <a:latin typeface="Times New Roman"/>
              </a:rPr>
              <a:t>Pending Deliverables</a:t>
            </a:r>
          </a:p>
          <a:p>
            <a:pPr>
              <a:lnSpc>
                <a:spcPct val="130000"/>
              </a:lnSpc>
              <a:spcAft>
                <a:spcPts val="800"/>
              </a:spcAft>
              <a:defRPr sz="1300">
                <a:solidFill>
                  <a:srgbClr val="F0F2F5"/>
                </a:solidFill>
                <a:latin typeface="Times New Roman"/>
              </a:defRPr>
            </a:pPr>
            <a:r>
              <a:rPr>
                <a:latin typeface="Times New Roman"/>
              </a:rPr>
              <a:t>•  Complete the user-facing Consumer Portal.</a:t>
            </a:r>
          </a:p>
          <a:p>
            <a:pPr>
              <a:lnSpc>
                <a:spcPct val="130000"/>
              </a:lnSpc>
              <a:spcAft>
                <a:spcPts val="800"/>
              </a:spcAft>
              <a:defRPr sz="1300">
                <a:solidFill>
                  <a:srgbClr val="F0F2F5"/>
                </a:solidFill>
                <a:latin typeface="Times New Roman"/>
              </a:defRPr>
            </a:pPr>
            <a:r>
              <a:rPr>
                <a:latin typeface="Times New Roman"/>
              </a:rPr>
              <a:t>•  Complete the Board Communication Portal.</a:t>
            </a:r>
          </a:p>
          <a:p>
            <a:pPr>
              <a:lnSpc>
                <a:spcPct val="130000"/>
              </a:lnSpc>
              <a:spcAft>
                <a:spcPts val="800"/>
              </a:spcAft>
              <a:defRPr sz="1300">
                <a:solidFill>
                  <a:srgbClr val="F0F2F5"/>
                </a:solidFill>
                <a:latin typeface="Times New Roman"/>
              </a:defRPr>
            </a:pPr>
            <a:r>
              <a:rPr>
                <a:latin typeface="Times New Roman"/>
              </a:rPr>
              <a:t>•  Integrate and validate all user-facing workflows across roles.</a:t>
            </a:r>
          </a:p>
          <a:p>
            <a:pPr>
              <a:lnSpc>
                <a:spcPct val="130000"/>
              </a:lnSpc>
              <a:spcAft>
                <a:spcPts val="800"/>
              </a:spcAft>
              <a:defRPr sz="1300">
                <a:solidFill>
                  <a:srgbClr val="F0F2F5"/>
                </a:solidFill>
                <a:latin typeface="Times New Roman"/>
              </a:defRPr>
            </a:pPr>
            <a:r>
              <a:rPr>
                <a:latin typeface="Times New Roman"/>
              </a:rPr>
              <a:t>•  Extend feedback and model lifecycle functionality.</a:t>
            </a:r>
          </a:p>
          <a:p>
            <a:pPr>
              <a:lnSpc>
                <a:spcPct val="130000"/>
              </a:lnSpc>
              <a:spcAft>
                <a:spcPts val="800"/>
              </a:spcAft>
              <a:defRPr sz="1300">
                <a:solidFill>
                  <a:srgbClr val="F0F2F5"/>
                </a:solidFill>
                <a:latin typeface="Times New Roman"/>
              </a:defRPr>
            </a:pPr>
            <a:r>
              <a:rPr>
                <a:latin typeface="Times New Roman"/>
              </a:rPr>
              <a:t>•  Complete security hardening, documentation and deployment preparation.</a:t>
            </a:r>
          </a:p>
          <a:p>
            <a:pPr>
              <a:lnSpc>
                <a:spcPct val="130000"/>
              </a:lnSpc>
              <a:spcAft>
                <a:spcPts val="800"/>
              </a:spcAft>
              <a:defRPr sz="1300">
                <a:solidFill>
                  <a:srgbClr val="F0F2F5"/>
                </a:solidFill>
                <a:latin typeface="Times New Roman"/>
              </a:defRPr>
            </a:pPr>
            <a:r>
              <a:rPr>
                <a:latin typeface="Times New Roman"/>
              </a:rPr>
              <a:t>•  Perform final system-wide integration testing.</a:t>
            </a:r>
          </a:p>
        </p:txBody>
      </p:sp>
      <p:sp>
        <p:nvSpPr>
          <p:cNvPr id="9" name="TextBox 8"/>
          <p:cNvSpPr txBox="1"/>
          <p:nvPr/>
        </p:nvSpPr>
        <p:spPr>
          <a:xfrm>
            <a:off x="6492240" y="1508760"/>
            <a:ext cx="4876495" cy="4663440"/>
          </a:xfrm>
          <a:prstGeom prst="rect">
            <a:avLst/>
          </a:prstGeom>
          <a:noFill/>
        </p:spPr>
        <p:txBody>
          <a:bodyPr wrap="square">
            <a:spAutoFit/>
          </a:bodyPr>
          <a:lstStyle/>
          <a:p>
            <a:pPr>
              <a:spcAft>
                <a:spcPts val="1000"/>
              </a:spcAft>
              <a:defRPr sz="1700" b="1">
                <a:solidFill>
                  <a:srgbClr val="FBBF24"/>
                </a:solidFill>
                <a:latin typeface="Times New Roman"/>
              </a:defRPr>
            </a:pPr>
            <a:r>
              <a:rPr>
                <a:latin typeface="Times New Roman"/>
              </a:rPr>
              <a:t>Current Issues and Limitations</a:t>
            </a:r>
          </a:p>
          <a:p>
            <a:pPr>
              <a:spcAft>
                <a:spcPts val="200"/>
              </a:spcAft>
              <a:defRPr sz="1250" b="1">
                <a:solidFill>
                  <a:srgbClr val="F0F2F5"/>
                </a:solidFill>
                <a:latin typeface="Times New Roman"/>
              </a:defRPr>
            </a:pPr>
            <a:r>
              <a:rPr>
                <a:latin typeface="Times New Roman"/>
              </a:rPr>
              <a:t>•  Browser Automation Driver Limitation:</a:t>
            </a:r>
          </a:p>
          <a:p>
            <a:pPr>
              <a:lnSpc>
                <a:spcPct val="125000"/>
              </a:lnSpc>
              <a:spcAft>
                <a:spcPts val="800"/>
              </a:spcAft>
              <a:defRPr sz="1150">
                <a:solidFill>
                  <a:srgbClr val="A0A8B4"/>
                </a:solidFill>
                <a:latin typeface="Times New Roman"/>
              </a:defRPr>
            </a:pPr>
            <a:r>
              <a:rPr>
                <a:latin typeface="Times New Roman"/>
              </a:rPr>
              <a:t>    Automated browser-level testing encountered an upstream CDN network failure while downloading Playwright driver binaries. Full browser E2E test runs remain incomplete.</a:t>
            </a:r>
          </a:p>
          <a:p>
            <a:pPr>
              <a:spcAft>
                <a:spcPts val="200"/>
              </a:spcAft>
              <a:defRPr sz="1250" b="1">
                <a:solidFill>
                  <a:srgbClr val="F0F2F5"/>
                </a:solidFill>
                <a:latin typeface="Times New Roman"/>
              </a:defRPr>
            </a:pPr>
            <a:r>
              <a:rPr>
                <a:latin typeface="Times New Roman"/>
              </a:rPr>
              <a:t>•  Verification Workaround:</a:t>
            </a:r>
          </a:p>
          <a:p>
            <a:pPr>
              <a:lnSpc>
                <a:spcPct val="125000"/>
              </a:lnSpc>
              <a:spcAft>
                <a:spcPts val="800"/>
              </a:spcAft>
              <a:defRPr sz="1150">
                <a:solidFill>
                  <a:srgbClr val="A0A8B4"/>
                </a:solidFill>
                <a:latin typeface="Times New Roman"/>
              </a:defRPr>
            </a:pPr>
            <a:r>
              <a:rPr>
                <a:latin typeface="Times New Roman"/>
              </a:rPr>
              <a:t>    System workflows and data contracts were verified through 19 passing pytest backend integration tests, TypeScript build validation, and manual interface verification.</a:t>
            </a:r>
          </a:p>
          <a:p>
            <a:pPr>
              <a:spcAft>
                <a:spcPts val="200"/>
              </a:spcAft>
              <a:defRPr sz="1250" b="1">
                <a:solidFill>
                  <a:srgbClr val="F0F2F5"/>
                </a:solidFill>
                <a:latin typeface="Times New Roman"/>
              </a:defRPr>
            </a:pPr>
            <a:r>
              <a:rPr>
                <a:latin typeface="Times New Roman"/>
              </a:rPr>
              <a:t>•  Deployment Scope:</a:t>
            </a:r>
          </a:p>
          <a:p>
            <a:pPr>
              <a:lnSpc>
                <a:spcPct val="125000"/>
              </a:lnSpc>
              <a:spcAft>
                <a:spcPts val="800"/>
              </a:spcAft>
              <a:defRPr sz="1150">
                <a:solidFill>
                  <a:srgbClr val="A0A8B4"/>
                </a:solidFill>
                <a:latin typeface="Times New Roman"/>
              </a:defRPr>
            </a:pPr>
            <a:r>
              <a:rPr>
                <a:latin typeface="Times New Roman"/>
              </a:rPr>
              <a:t>    The platform is currently validated in local development and production-build environments; real utility distribution deployment is not claimed.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10 | CONCLUSION</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Conclusion</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28 of 30</a:t>
            </a:r>
          </a:p>
        </p:txBody>
      </p:sp>
      <p:sp>
        <p:nvSpPr>
          <p:cNvPr id="8" name="TextBox 7"/>
          <p:cNvSpPr txBox="1"/>
          <p:nvPr/>
        </p:nvSpPr>
        <p:spPr>
          <a:xfrm>
            <a:off x="822960" y="1554480"/>
            <a:ext cx="10545775" cy="4572000"/>
          </a:xfrm>
          <a:prstGeom prst="rect">
            <a:avLst/>
          </a:prstGeom>
          <a:noFill/>
        </p:spPr>
        <p:txBody>
          <a:bodyPr wrap="square">
            <a:spAutoFit/>
          </a:bodyPr>
          <a:lstStyle/>
          <a:p>
            <a:pPr>
              <a:spcAft>
                <a:spcPts val="200"/>
              </a:spcAft>
              <a:defRPr sz="1550" b="1">
                <a:solidFill>
                  <a:srgbClr val="22D3EE"/>
                </a:solidFill>
                <a:latin typeface="Times New Roman"/>
              </a:defRPr>
            </a:pPr>
            <a:r>
              <a:rPr>
                <a:latin typeface="Times New Roman"/>
              </a:rPr>
              <a:t>•  Integrated Operational System:</a:t>
            </a:r>
          </a:p>
          <a:p>
            <a:pPr>
              <a:lnSpc>
                <a:spcPct val="130000"/>
              </a:lnSpc>
              <a:spcAft>
                <a:spcPts val="1000"/>
              </a:spcAft>
              <a:defRPr sz="1350">
                <a:solidFill>
                  <a:srgbClr val="F0F2F5"/>
                </a:solidFill>
                <a:latin typeface="Times New Roman"/>
              </a:defRPr>
            </a:pPr>
            <a:r>
              <a:rPr>
                <a:latin typeface="Times New Roman"/>
              </a:rPr>
              <a:t>    The project combines smart-meter-based risk detection with inspection management, connecting machine learning predictions with verified field outcomes.</a:t>
            </a:r>
          </a:p>
          <a:p>
            <a:pPr>
              <a:spcAft>
                <a:spcPts val="200"/>
              </a:spcAft>
              <a:defRPr sz="1550" b="1">
                <a:solidFill>
                  <a:srgbClr val="22D3EE"/>
                </a:solidFill>
                <a:latin typeface="Times New Roman"/>
              </a:defRPr>
            </a:pPr>
            <a:r>
              <a:rPr>
                <a:latin typeface="Times New Roman"/>
              </a:rPr>
              <a:t>•  Structured Software Engineering Approach:</a:t>
            </a:r>
          </a:p>
          <a:p>
            <a:pPr>
              <a:lnSpc>
                <a:spcPct val="130000"/>
              </a:lnSpc>
              <a:spcAft>
                <a:spcPts val="1000"/>
              </a:spcAft>
              <a:defRPr sz="1350">
                <a:solidFill>
                  <a:srgbClr val="F0F2F5"/>
                </a:solidFill>
                <a:latin typeface="Times New Roman"/>
              </a:defRPr>
            </a:pPr>
            <a:r>
              <a:rPr>
                <a:latin typeface="Times New Roman"/>
              </a:rPr>
              <a:t>    The Incremental Model supports development in separate modules, ensuring that database, backend security, and inspection workflows are proven before adding further portals.</a:t>
            </a:r>
          </a:p>
          <a:p>
            <a:pPr>
              <a:spcAft>
                <a:spcPts val="200"/>
              </a:spcAft>
              <a:defRPr sz="1550" b="1">
                <a:solidFill>
                  <a:srgbClr val="22D3EE"/>
                </a:solidFill>
                <a:latin typeface="Times New Roman"/>
              </a:defRPr>
            </a:pPr>
            <a:r>
              <a:rPr>
                <a:latin typeface="Times New Roman"/>
              </a:rPr>
              <a:t>•  Current Delivery Status:</a:t>
            </a:r>
          </a:p>
          <a:p>
            <a:pPr>
              <a:lnSpc>
                <a:spcPct val="130000"/>
              </a:lnSpc>
              <a:spcAft>
                <a:spcPts val="1000"/>
              </a:spcAft>
              <a:defRPr sz="1350">
                <a:solidFill>
                  <a:srgbClr val="F0F2F5"/>
                </a:solidFill>
                <a:latin typeface="Times New Roman"/>
              </a:defRPr>
            </a:pPr>
            <a:r>
              <a:rPr>
                <a:latin typeface="Times New Roman"/>
              </a:rPr>
              <a:t>    The first four phases are complete and verified (ML engine, MySQL database, FastAPI backend, and Inspection Intelligence Portal).</a:t>
            </a:r>
          </a:p>
          <a:p>
            <a:pPr>
              <a:spcAft>
                <a:spcPts val="200"/>
              </a:spcAft>
              <a:defRPr sz="1550" b="1">
                <a:solidFill>
                  <a:srgbClr val="22D3EE"/>
                </a:solidFill>
                <a:latin typeface="Times New Roman"/>
              </a:defRPr>
            </a:pPr>
            <a:r>
              <a:rPr>
                <a:latin typeface="Times New Roman"/>
              </a:rPr>
              <a:t>•  Active Development:</a:t>
            </a:r>
          </a:p>
          <a:p>
            <a:pPr>
              <a:lnSpc>
                <a:spcPct val="130000"/>
              </a:lnSpc>
              <a:spcAft>
                <a:spcPts val="1000"/>
              </a:spcAft>
              <a:defRPr sz="1350">
                <a:solidFill>
                  <a:srgbClr val="F0F2F5"/>
                </a:solidFill>
                <a:latin typeface="Times New Roman"/>
              </a:defRPr>
            </a:pPr>
            <a:r>
              <a:rPr>
                <a:latin typeface="Times New Roman"/>
              </a:rPr>
              <a:t>    Phase 5 is underway, focusing on the Consumer Portal and Board Communication Portal.</a:t>
            </a:r>
          </a:p>
          <a:p>
            <a:pPr>
              <a:spcAft>
                <a:spcPts val="200"/>
              </a:spcAft>
              <a:defRPr sz="1550" b="1">
                <a:solidFill>
                  <a:srgbClr val="22D3EE"/>
                </a:solidFill>
                <a:latin typeface="Times New Roman"/>
              </a:defRPr>
            </a:pPr>
            <a:r>
              <a:rPr>
                <a:latin typeface="Times New Roman"/>
              </a:rPr>
              <a:t>•  Remaining Work:</a:t>
            </a:r>
          </a:p>
          <a:p>
            <a:pPr>
              <a:lnSpc>
                <a:spcPct val="130000"/>
              </a:lnSpc>
              <a:spcAft>
                <a:spcPts val="1000"/>
              </a:spcAft>
              <a:defRPr sz="1350">
                <a:solidFill>
                  <a:srgbClr val="F0F2F5"/>
                </a:solidFill>
                <a:latin typeface="Times New Roman"/>
              </a:defRPr>
            </a:pPr>
            <a:r>
              <a:rPr>
                <a:latin typeface="Times New Roman"/>
              </a:rPr>
              <a:t>    Remaining work includes finishing user-facing portals, deeper feedback integration, documentation, and comprehensive system-wide testing.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822960" y="365760"/>
            <a:ext cx="10545775" cy="292608"/>
          </a:xfrm>
          <a:prstGeom prst="rect">
            <a:avLst/>
          </a:prstGeom>
          <a:noFill/>
        </p:spPr>
        <p:txBody>
          <a:bodyPr wrap="square" lIns="0" tIns="0" rIns="0" bIns="0">
            <a:spAutoFit/>
          </a:bodyPr>
          <a:lstStyle/>
          <a:p>
            <a:pPr>
              <a:defRPr sz="1150" b="1">
                <a:solidFill>
                  <a:srgbClr val="22D3EE"/>
                </a:solidFill>
                <a:latin typeface="Times New Roman"/>
              </a:defRPr>
            </a:pPr>
            <a:r>
              <a:rPr>
                <a:latin typeface="Times New Roman"/>
              </a:rPr>
              <a:t>10 | REFERENCES</a:t>
            </a:r>
          </a:p>
        </p:txBody>
      </p:sp>
      <p:sp>
        <p:nvSpPr>
          <p:cNvPr id="4" name="TextBox 3"/>
          <p:cNvSpPr txBox="1"/>
          <p:nvPr/>
        </p:nvSpPr>
        <p:spPr>
          <a:xfrm>
            <a:off x="822960" y="658368"/>
            <a:ext cx="10545775" cy="548640"/>
          </a:xfrm>
          <a:prstGeom prst="rect">
            <a:avLst/>
          </a:prstGeom>
          <a:noFill/>
        </p:spPr>
        <p:txBody>
          <a:bodyPr wrap="square" lIns="0" tIns="0" rIns="0" bIns="0">
            <a:spAutoFit/>
          </a:bodyPr>
          <a:lstStyle/>
          <a:p>
            <a:pPr>
              <a:defRPr sz="2500" b="1">
                <a:solidFill>
                  <a:srgbClr val="F0F2F5"/>
                </a:solidFill>
                <a:latin typeface="Times New Roman"/>
              </a:defRPr>
            </a:pPr>
            <a:r>
              <a:rPr>
                <a:latin typeface="Times New Roman"/>
              </a:rPr>
              <a:t>References</a:t>
            </a:r>
          </a:p>
        </p:txBody>
      </p:sp>
      <p:sp>
        <p:nvSpPr>
          <p:cNvPr id="5" name="Rectangle 4"/>
          <p:cNvSpPr/>
          <p:nvPr/>
        </p:nvSpPr>
        <p:spPr>
          <a:xfrm>
            <a:off x="822960" y="1261872"/>
            <a:ext cx="10545775" cy="13716"/>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6" name="TextBox 5"/>
          <p:cNvSpPr txBox="1"/>
          <p:nvPr/>
        </p:nvSpPr>
        <p:spPr>
          <a:xfrm>
            <a:off x="822960" y="6400800"/>
            <a:ext cx="5943600" cy="274320"/>
          </a:xfrm>
          <a:prstGeom prst="rect">
            <a:avLst/>
          </a:prstGeom>
          <a:noFill/>
        </p:spPr>
        <p:txBody>
          <a:bodyPr wrap="none" lIns="0" tIns="0" rIns="0" bIns="0">
            <a:spAutoFit/>
          </a:bodyPr>
          <a:lstStyle/>
          <a:p>
            <a:pPr>
              <a:defRPr sz="1000">
                <a:solidFill>
                  <a:srgbClr val="A0A8B4"/>
                </a:solidFill>
                <a:latin typeface="Times New Roman"/>
              </a:defRPr>
            </a:pPr>
            <a:r>
              <a:rPr>
                <a:latin typeface="Times New Roman"/>
              </a:rPr>
              <a:t>Electricity Theft Intelligence &amp; Inspection Platform | VIT Chennai</a:t>
            </a:r>
          </a:p>
        </p:txBody>
      </p:sp>
      <p:sp>
        <p:nvSpPr>
          <p:cNvPr id="7" name="TextBox 6"/>
          <p:cNvSpPr txBox="1"/>
          <p:nvPr/>
        </p:nvSpPr>
        <p:spPr>
          <a:xfrm>
            <a:off x="6858000" y="6400800"/>
            <a:ext cx="4510735" cy="274320"/>
          </a:xfrm>
          <a:prstGeom prst="rect">
            <a:avLst/>
          </a:prstGeom>
          <a:noFill/>
        </p:spPr>
        <p:txBody>
          <a:bodyPr wrap="none" lIns="0" tIns="0" rIns="0" bIns="0">
            <a:spAutoFit/>
          </a:bodyPr>
          <a:lstStyle/>
          <a:p>
            <a:pPr algn="r">
              <a:defRPr sz="1000">
                <a:solidFill>
                  <a:srgbClr val="A0A8B4"/>
                </a:solidFill>
                <a:latin typeface="Times New Roman"/>
              </a:defRPr>
            </a:pPr>
            <a:r>
              <a:rPr>
                <a:latin typeface="Times New Roman"/>
              </a:rPr>
              <a:t>Swanand Siknis (24BRS1358) | Slide 29 of 30</a:t>
            </a:r>
          </a:p>
        </p:txBody>
      </p:sp>
      <p:sp>
        <p:nvSpPr>
          <p:cNvPr id="8" name="TextBox 7"/>
          <p:cNvSpPr txBox="1"/>
          <p:nvPr/>
        </p:nvSpPr>
        <p:spPr>
          <a:xfrm>
            <a:off x="822960" y="1554480"/>
            <a:ext cx="10545775" cy="4572000"/>
          </a:xfrm>
          <a:prstGeom prst="rect">
            <a:avLst/>
          </a:prstGeom>
          <a:noFill/>
        </p:spPr>
        <p:txBody>
          <a:bodyPr wrap="square">
            <a:spAutoFit/>
          </a:bodyPr>
          <a:lstStyle/>
          <a:p>
            <a:pPr>
              <a:spcAft>
                <a:spcPts val="200"/>
              </a:spcAft>
              <a:defRPr sz="1400" b="1">
                <a:solidFill>
                  <a:srgbClr val="22D3EE"/>
                </a:solidFill>
                <a:latin typeface="Times New Roman"/>
              </a:defRPr>
            </a:pPr>
            <a:r>
              <a:rPr>
                <a:latin typeface="Times New Roman"/>
              </a:rPr>
              <a:t>1. Model Benchmarking Study:</a:t>
            </a:r>
          </a:p>
          <a:p>
            <a:pPr>
              <a:lnSpc>
                <a:spcPct val="130000"/>
              </a:lnSpc>
              <a:spcAft>
                <a:spcPts val="1000"/>
              </a:spcAft>
              <a:defRPr sz="1200">
                <a:solidFill>
                  <a:srgbClr val="F0F2F5"/>
                </a:solidFill>
                <a:latin typeface="Times New Roman"/>
              </a:defRPr>
            </a:pPr>
            <a:r>
              <a:rPr>
                <a:latin typeface="Times New Roman"/>
              </a:rPr>
              <a:t>Petrlik, J., Lezama, F., et al. (2022). "Electricity Theft Detection using Machine Learning." International Journal of Advanced Computer Science and Applications (IJACSA), Vol. 13, No. 12.</a:t>
            </a:r>
            <a:br/>
            <a:r>
              <a:rPr>
                <a:latin typeface="Times New Roman"/>
              </a:rPr>
              <a:t>DOI: 10.14569/IJACSA.2022.0131251</a:t>
            </a:r>
          </a:p>
          <a:p>
            <a:pPr>
              <a:spcAft>
                <a:spcPts val="200"/>
              </a:spcAft>
              <a:defRPr sz="1400" b="1">
                <a:solidFill>
                  <a:srgbClr val="22D3EE"/>
                </a:solidFill>
                <a:latin typeface="Times New Roman"/>
              </a:defRPr>
            </a:pPr>
            <a:r>
              <a:rPr>
                <a:latin typeface="Times New Roman"/>
              </a:rPr>
              <a:t>2. Smart-Meter Anomaly Detection:</a:t>
            </a:r>
          </a:p>
          <a:p>
            <a:pPr>
              <a:lnSpc>
                <a:spcPct val="130000"/>
              </a:lnSpc>
              <a:spcAft>
                <a:spcPts val="1000"/>
              </a:spcAft>
              <a:defRPr sz="1200">
                <a:solidFill>
                  <a:srgbClr val="F0F2F5"/>
                </a:solidFill>
                <a:latin typeface="Times New Roman"/>
              </a:defRPr>
            </a:pPr>
            <a:r>
              <a:rPr>
                <a:latin typeface="Times New Roman"/>
              </a:rPr>
              <a:t>Tsao, Y.-C., Rahmalia, N., &amp; Lu, J.-C. (2024). "Machine-Learning Techniques for Enhancing Electricity Theft Detection." Energy Reports, Vol. 12, pp. 3048–3064.</a:t>
            </a:r>
            <a:br/>
            <a:r>
              <a:rPr>
                <a:latin typeface="Times New Roman"/>
              </a:rPr>
              <a:t>DOI: 10.1016/j.egyr.2024.08.067</a:t>
            </a:r>
          </a:p>
          <a:p>
            <a:pPr>
              <a:spcAft>
                <a:spcPts val="200"/>
              </a:spcAft>
              <a:defRPr sz="1400" b="1">
                <a:solidFill>
                  <a:srgbClr val="22D3EE"/>
                </a:solidFill>
                <a:latin typeface="Times New Roman"/>
              </a:defRPr>
            </a:pPr>
            <a:r>
              <a:rPr>
                <a:latin typeface="Times New Roman"/>
              </a:rPr>
              <a:t>3. Benchmark Smart-Meter Dataset:</a:t>
            </a:r>
          </a:p>
          <a:p>
            <a:pPr>
              <a:lnSpc>
                <a:spcPct val="130000"/>
              </a:lnSpc>
              <a:spcAft>
                <a:spcPts val="1000"/>
              </a:spcAft>
              <a:defRPr sz="1200">
                <a:solidFill>
                  <a:srgbClr val="F0F2F5"/>
                </a:solidFill>
                <a:latin typeface="Times New Roman"/>
              </a:defRPr>
            </a:pPr>
            <a:r>
              <a:rPr>
                <a:latin typeface="Times New Roman"/>
              </a:rPr>
              <a:t>State Grid Corporation of China (SGCC). Real-world smart-meter electricity consumption benchmark dataset comprising 42,372 consumers and 1,034 daily consumption readings.</a:t>
            </a:r>
          </a:p>
          <a:p>
            <a:pPr>
              <a:spcAft>
                <a:spcPts val="200"/>
              </a:spcAft>
              <a:defRPr sz="1400" b="1">
                <a:solidFill>
                  <a:srgbClr val="22D3EE"/>
                </a:solidFill>
                <a:latin typeface="Times New Roman"/>
              </a:defRPr>
            </a:pPr>
            <a:r>
              <a:rPr>
                <a:latin typeface="Times New Roman"/>
              </a:rPr>
              <a:t>4. Explainable Artificial Intelligence:</a:t>
            </a:r>
          </a:p>
          <a:p>
            <a:pPr>
              <a:lnSpc>
                <a:spcPct val="130000"/>
              </a:lnSpc>
              <a:spcAft>
                <a:spcPts val="1000"/>
              </a:spcAft>
              <a:defRPr sz="1200">
                <a:solidFill>
                  <a:srgbClr val="F0F2F5"/>
                </a:solidFill>
                <a:latin typeface="Times New Roman"/>
              </a:defRPr>
            </a:pPr>
            <a:r>
              <a:rPr>
                <a:latin typeface="Times New Roman"/>
              </a:rPr>
              <a:t>Lundberg, S. M., &amp; Lee, S.-I. (2017). "A Unified Approach to Interpreting Model Predictions." Advances in Neural Information Processing Systems (NeurIPS 2017), Vol.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2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3" name="TextBox 2"/>
          <p:cNvSpPr txBox="1"/>
          <p:nvPr/>
        </p:nvSpPr>
        <p:spPr>
          <a:xfrm>
            <a:off x="1097280" y="1097280"/>
            <a:ext cx="9997135" cy="365760"/>
          </a:xfrm>
          <a:prstGeom prst="rect">
            <a:avLst/>
          </a:prstGeom>
          <a:noFill/>
        </p:spPr>
        <p:txBody>
          <a:bodyPr wrap="none">
            <a:spAutoFit/>
          </a:bodyPr>
          <a:lstStyle/>
          <a:p>
            <a:pPr>
              <a:defRPr sz="1300" b="1">
                <a:solidFill>
                  <a:srgbClr val="22D3EE"/>
                </a:solidFill>
                <a:latin typeface="Times New Roman"/>
              </a:defRPr>
            </a:pPr>
            <a:r>
              <a:rPr>
                <a:latin typeface="Times New Roman"/>
              </a:rPr>
              <a:t>B.TECH PROJECT EVALUATION — CONCLUSION</a:t>
            </a:r>
          </a:p>
        </p:txBody>
      </p:sp>
      <p:sp>
        <p:nvSpPr>
          <p:cNvPr id="4" name="TextBox 3"/>
          <p:cNvSpPr txBox="1"/>
          <p:nvPr/>
        </p:nvSpPr>
        <p:spPr>
          <a:xfrm>
            <a:off x="1097280" y="1554480"/>
            <a:ext cx="9997135" cy="1463040"/>
          </a:xfrm>
          <a:prstGeom prst="rect">
            <a:avLst/>
          </a:prstGeom>
          <a:noFill/>
        </p:spPr>
        <p:txBody>
          <a:bodyPr wrap="square">
            <a:spAutoFit/>
          </a:bodyPr>
          <a:lstStyle/>
          <a:p>
            <a:pPr>
              <a:defRPr sz="3600" b="1">
                <a:solidFill>
                  <a:srgbClr val="F0F2F5"/>
                </a:solidFill>
                <a:latin typeface="Times New Roman"/>
              </a:defRPr>
            </a:pPr>
            <a:r>
              <a:rPr>
                <a:latin typeface="Times New Roman"/>
              </a:rPr>
              <a:t>Electricity Theft Intelligence &amp;</a:t>
            </a:r>
            <a:br/>
            <a:r>
              <a:rPr>
                <a:latin typeface="Times New Roman"/>
              </a:rPr>
              <a:t>Inspection Platform</a:t>
            </a:r>
          </a:p>
        </p:txBody>
      </p:sp>
      <p:sp>
        <p:nvSpPr>
          <p:cNvPr id="5" name="TextBox 4"/>
          <p:cNvSpPr txBox="1"/>
          <p:nvPr/>
        </p:nvSpPr>
        <p:spPr>
          <a:xfrm>
            <a:off x="1097280" y="3154680"/>
            <a:ext cx="9997135" cy="548640"/>
          </a:xfrm>
          <a:prstGeom prst="rect">
            <a:avLst/>
          </a:prstGeom>
          <a:noFill/>
        </p:spPr>
        <p:txBody>
          <a:bodyPr wrap="none">
            <a:spAutoFit/>
          </a:bodyPr>
          <a:lstStyle/>
          <a:p>
            <a:pPr>
              <a:defRPr sz="2000">
                <a:solidFill>
                  <a:srgbClr val="A0A8B4"/>
                </a:solidFill>
                <a:latin typeface="Times New Roman"/>
              </a:defRPr>
            </a:pPr>
            <a:r>
              <a:rPr>
                <a:latin typeface="Times New Roman"/>
              </a:rPr>
              <a:t>Thank You — Questions &amp; Academic Technical Review</a:t>
            </a:r>
          </a:p>
        </p:txBody>
      </p:sp>
      <p:sp>
        <p:nvSpPr>
          <p:cNvPr id="6" name="Rectangle 5"/>
          <p:cNvSpPr/>
          <p:nvPr/>
        </p:nvSpPr>
        <p:spPr>
          <a:xfrm>
            <a:off x="1097280" y="3931920"/>
            <a:ext cx="9997135" cy="18288"/>
          </a:xfrm>
          <a:prstGeom prst="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1097280" y="4206240"/>
            <a:ext cx="4846320" cy="1645920"/>
          </a:xfrm>
          <a:prstGeom prst="rect">
            <a:avLst/>
          </a:prstGeom>
          <a:noFill/>
        </p:spPr>
        <p:txBody>
          <a:bodyPr wrap="none">
            <a:spAutoFit/>
          </a:bodyPr>
          <a:lstStyle/>
          <a:p>
            <a:pPr>
              <a:defRPr sz="1100">
                <a:solidFill>
                  <a:srgbClr val="22D3EE"/>
                </a:solidFill>
                <a:latin typeface="Times New Roman"/>
              </a:defRPr>
            </a:pPr>
            <a:r>
              <a:rPr>
                <a:latin typeface="Times New Roman"/>
              </a:rPr>
              <a:t>Student Investigator:</a:t>
            </a:r>
          </a:p>
          <a:p>
            <a:pPr>
              <a:defRPr sz="1800" b="1">
                <a:solidFill>
                  <a:srgbClr val="F0F2F5"/>
                </a:solidFill>
                <a:latin typeface="Times New Roman"/>
              </a:defRPr>
            </a:pPr>
            <a:r>
              <a:rPr>
                <a:latin typeface="Times New Roman"/>
              </a:rPr>
              <a:t>Swanand Siknis</a:t>
            </a:r>
          </a:p>
          <a:p>
            <a:pPr>
              <a:defRPr sz="1300">
                <a:solidFill>
                  <a:srgbClr val="A0A8B4"/>
                </a:solidFill>
                <a:latin typeface="Times New Roman"/>
              </a:defRPr>
            </a:pPr>
            <a:r>
              <a:rPr>
                <a:latin typeface="Times New Roman"/>
              </a:rPr>
              <a:t>Registration Number: 24BRS1358</a:t>
            </a:r>
          </a:p>
        </p:txBody>
      </p:sp>
      <p:sp>
        <p:nvSpPr>
          <p:cNvPr id="8" name="TextBox 7"/>
          <p:cNvSpPr txBox="1"/>
          <p:nvPr/>
        </p:nvSpPr>
        <p:spPr>
          <a:xfrm>
            <a:off x="6217920" y="4206240"/>
            <a:ext cx="4846320" cy="1645920"/>
          </a:xfrm>
          <a:prstGeom prst="rect">
            <a:avLst/>
          </a:prstGeom>
          <a:noFill/>
        </p:spPr>
        <p:txBody>
          <a:bodyPr wrap="none">
            <a:spAutoFit/>
          </a:bodyPr>
          <a:lstStyle/>
          <a:p>
            <a:pPr>
              <a:defRPr sz="1100">
                <a:solidFill>
                  <a:srgbClr val="22D3EE"/>
                </a:solidFill>
                <a:latin typeface="Times New Roman"/>
              </a:defRPr>
            </a:pPr>
            <a:r>
              <a:rPr>
                <a:latin typeface="Times New Roman"/>
              </a:rPr>
              <a:t>Programme &amp; Institution:</a:t>
            </a:r>
          </a:p>
          <a:p>
            <a:pPr>
              <a:defRPr sz="1800" b="1">
                <a:solidFill>
                  <a:srgbClr val="F0F2F5"/>
                </a:solidFill>
                <a:latin typeface="Times New Roman"/>
              </a:defRPr>
            </a:pPr>
            <a:r>
              <a:rPr>
                <a:latin typeface="Times New Roman"/>
              </a:rPr>
              <a:t>B.Tech CSE — Artificial Intelligence &amp; Robotics</a:t>
            </a:r>
          </a:p>
          <a:p>
            <a:pPr>
              <a:defRPr sz="1300">
                <a:solidFill>
                  <a:srgbClr val="A0A8B4"/>
                </a:solidFill>
                <a:latin typeface="Times New Roman"/>
              </a:defRPr>
            </a:pPr>
            <a:r>
              <a:rPr>
                <a:latin typeface="Times New Roman"/>
              </a:rPr>
              <a:t>VIT Chennai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