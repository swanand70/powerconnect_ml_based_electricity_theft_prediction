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914400"/>
            <a:ext cx="9997135" cy="365760"/>
          </a:xfrm>
          <a:prstGeom prst="rect">
            <a:avLst/>
          </a:prstGeom>
          <a:noFill/>
        </p:spPr>
        <p:txBody>
          <a:bodyPr wrap="none">
            <a:spAutoFit/>
          </a:bodyPr>
          <a:lstStyle/>
          <a:p>
            <a:pPr>
              <a:defRPr sz="1300" b="1">
                <a:solidFill>
                  <a:srgbClr val="22D3EE"/>
                </a:solidFill>
                <a:latin typeface="Times New Roman"/>
              </a:defRPr>
            </a:pPr>
            <a:r>
              <a:t>B.TECH SOFTWARE ENGINEERING PROJECT REVIEW</a:t>
            </a:r>
          </a:p>
        </p:txBody>
      </p:sp>
      <p:sp>
        <p:nvSpPr>
          <p:cNvPr id="4" name="TextBox 3"/>
          <p:cNvSpPr txBox="1"/>
          <p:nvPr/>
        </p:nvSpPr>
        <p:spPr>
          <a:xfrm>
            <a:off x="1097280" y="1325880"/>
            <a:ext cx="9997135" cy="1645920"/>
          </a:xfrm>
          <a:prstGeom prst="rect">
            <a:avLst/>
          </a:prstGeom>
          <a:noFill/>
        </p:spPr>
        <p:txBody>
          <a:bodyPr wrap="square">
            <a:spAutoFit/>
          </a:bodyPr>
          <a:lstStyle/>
          <a:p>
            <a:pPr>
              <a:defRPr sz="3600" b="1">
                <a:solidFill>
                  <a:srgbClr val="F0F2F5"/>
                </a:solidFill>
                <a:latin typeface="Times New Roman"/>
              </a:defRPr>
            </a:pPr>
            <a:r>
              <a:t>ELECTRICITY THEFT INTELLIGENCE &amp;</a:t>
            </a:r>
            <a:br/>
            <a:r>
              <a:t>INSPECTION PLATFORM</a:t>
            </a:r>
          </a:p>
        </p:txBody>
      </p:sp>
      <p:sp>
        <p:nvSpPr>
          <p:cNvPr id="5" name="TextBox 4"/>
          <p:cNvSpPr txBox="1"/>
          <p:nvPr/>
        </p:nvSpPr>
        <p:spPr>
          <a:xfrm>
            <a:off x="1097280" y="3063240"/>
            <a:ext cx="9997135" cy="822960"/>
          </a:xfrm>
          <a:prstGeom prst="rect">
            <a:avLst/>
          </a:prstGeom>
          <a:noFill/>
        </p:spPr>
        <p:txBody>
          <a:bodyPr wrap="square">
            <a:spAutoFit/>
          </a:bodyPr>
          <a:lstStyle/>
          <a:p>
            <a:pPr>
              <a:defRPr sz="1800">
                <a:solidFill>
                  <a:srgbClr val="9CA3AF"/>
                </a:solidFill>
                <a:latin typeface="Times New Roman"/>
              </a:defRPr>
            </a:pPr>
            <a:r>
              <a:t>Machine Learning-Based Risk Detection, Explainable Inspection Prioritization and Utility Operations</a:t>
            </a:r>
          </a:p>
        </p:txBody>
      </p:sp>
      <p:sp>
        <p:nvSpPr>
          <p:cNvPr id="6" name="Rectangle 5"/>
          <p:cNvSpPr/>
          <p:nvPr/>
        </p:nvSpPr>
        <p:spPr>
          <a:xfrm>
            <a:off x="1097280" y="3977639"/>
            <a:ext cx="9997135" cy="18288"/>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4206240"/>
            <a:ext cx="4846320" cy="1737360"/>
          </a:xfrm>
          <a:prstGeom prst="rect">
            <a:avLst/>
          </a:prstGeom>
          <a:noFill/>
        </p:spPr>
        <p:txBody>
          <a:bodyPr wrap="none">
            <a:spAutoFit/>
          </a:bodyPr>
          <a:lstStyle/>
          <a:p>
            <a:pPr>
              <a:defRPr sz="1100">
                <a:solidFill>
                  <a:srgbClr val="22D3EE"/>
                </a:solidFill>
                <a:latin typeface="Times New Roman"/>
              </a:defRPr>
            </a:pPr>
            <a:r>
              <a:t>Student Investigator:</a:t>
            </a:r>
          </a:p>
          <a:p>
            <a:pPr>
              <a:defRPr sz="1700" b="1">
                <a:solidFill>
                  <a:srgbClr val="F0F2F5"/>
                </a:solidFill>
                <a:latin typeface="Times New Roman"/>
              </a:defRPr>
            </a:pPr>
            <a:r>
              <a:t>Swanand Siknis</a:t>
            </a:r>
          </a:p>
          <a:p>
            <a:pPr>
              <a:defRPr sz="1300">
                <a:solidFill>
                  <a:srgbClr val="9CA3AF"/>
                </a:solidFill>
                <a:latin typeface="Times New Roman"/>
              </a:defRPr>
            </a:pPr>
            <a:r>
              <a:t>Registration Number: 24BRS1358</a:t>
            </a:r>
          </a:p>
        </p:txBody>
      </p:sp>
      <p:sp>
        <p:nvSpPr>
          <p:cNvPr id="8" name="TextBox 7"/>
          <p:cNvSpPr txBox="1"/>
          <p:nvPr/>
        </p:nvSpPr>
        <p:spPr>
          <a:xfrm>
            <a:off x="6217920" y="4206240"/>
            <a:ext cx="4846320" cy="1737360"/>
          </a:xfrm>
          <a:prstGeom prst="rect">
            <a:avLst/>
          </a:prstGeom>
          <a:noFill/>
        </p:spPr>
        <p:txBody>
          <a:bodyPr wrap="none">
            <a:spAutoFit/>
          </a:bodyPr>
          <a:lstStyle/>
          <a:p>
            <a:pPr>
              <a:defRPr sz="1100">
                <a:solidFill>
                  <a:srgbClr val="22D3EE"/>
                </a:solidFill>
                <a:latin typeface="Times New Roman"/>
              </a:defRPr>
            </a:pPr>
            <a:r>
              <a:t>Academic Affiliation:</a:t>
            </a:r>
          </a:p>
          <a:p>
            <a:pPr>
              <a:defRPr sz="1700" b="1">
                <a:solidFill>
                  <a:srgbClr val="F0F2F5"/>
                </a:solidFill>
                <a:latin typeface="Times New Roman"/>
              </a:defRPr>
            </a:pPr>
            <a:r>
              <a:t>B.Tech CSE — Artificial Intelligence &amp; Robotics</a:t>
            </a:r>
          </a:p>
          <a:p>
            <a:pPr>
              <a:defRPr sz="1300">
                <a:solidFill>
                  <a:srgbClr val="9CA3AF"/>
                </a:solidFill>
                <a:latin typeface="Times New Roman"/>
              </a:defRPr>
            </a:pPr>
            <a:r>
              <a:t>Vellore Institute of Technology (VIT), Chennai</a:t>
            </a:r>
          </a:p>
        </p:txBody>
      </p:sp>
      <p:sp>
        <p:nvSpPr>
          <p:cNvPr id="9" name="TextBox 8"/>
          <p:cNvSpPr txBox="1"/>
          <p:nvPr/>
        </p:nvSpPr>
        <p:spPr>
          <a:xfrm>
            <a:off x="1097280" y="6172200"/>
            <a:ext cx="9997135" cy="365760"/>
          </a:xfrm>
          <a:prstGeom prst="rect">
            <a:avLst/>
          </a:prstGeom>
          <a:noFill/>
        </p:spPr>
        <p:txBody>
          <a:bodyPr wrap="none">
            <a:spAutoFit/>
          </a:bodyPr>
          <a:lstStyle/>
          <a:p>
            <a:pPr>
              <a:defRPr sz="1100">
                <a:solidFill>
                  <a:srgbClr val="9CA3AF"/>
                </a:solidFill>
                <a:latin typeface="Times New Roman"/>
              </a:defRPr>
            </a:pPr>
            <a:r>
              <a:t>Project Code Repository: https://github.com/swanand70/grid-guard-ai.git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02 | PROBLEM STATEMENT</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Operational Realities in Utility Distribution</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2 of 38</a:t>
            </a:r>
          </a:p>
        </p:txBody>
      </p:sp>
      <p:sp>
        <p:nvSpPr>
          <p:cNvPr id="8" name="Rectangle 7"/>
          <p:cNvSpPr/>
          <p:nvPr/>
        </p:nvSpPr>
        <p:spPr>
          <a:xfrm>
            <a:off x="7315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20240"/>
            <a:ext cx="2864815" cy="3840480"/>
          </a:xfrm>
          <a:prstGeom prst="rect">
            <a:avLst/>
          </a:prstGeom>
          <a:noFill/>
        </p:spPr>
        <p:txBody>
          <a:bodyPr wrap="square">
            <a:spAutoFit/>
          </a:bodyPr>
          <a:lstStyle/>
          <a:p>
            <a:pPr>
              <a:defRPr sz="1300" b="1">
                <a:solidFill>
                  <a:srgbClr val="22D3EE"/>
                </a:solidFill>
                <a:latin typeface="Times New Roman"/>
              </a:defRPr>
            </a:pPr>
            <a:r>
              <a:t>01</a:t>
            </a:r>
          </a:p>
          <a:p>
            <a:pPr>
              <a:spcAft>
                <a:spcPts val="1200"/>
              </a:spcAft>
              <a:defRPr sz="1800" b="1">
                <a:solidFill>
                  <a:srgbClr val="F0F2F5"/>
                </a:solidFill>
                <a:latin typeface="Times New Roman"/>
              </a:defRPr>
            </a:pPr>
            <a:r>
              <a:t>Limited Granular Visibility</a:t>
            </a:r>
          </a:p>
          <a:p>
            <a:pPr algn="just">
              <a:lnSpc>
                <a:spcPct val="130000"/>
              </a:lnSpc>
              <a:defRPr sz="1350">
                <a:solidFill>
                  <a:srgbClr val="9CA3AF"/>
                </a:solidFill>
                <a:latin typeface="Times New Roman"/>
              </a:defRPr>
            </a:pPr>
            <a:r>
              <a:t>Conventional electromechanical and periodic billing meters record only aggregate monthly consumption figures. This monthly granularity conceals fraudulent consumption anomalies, night-time meter bypasses, and artificial zero-load periods, preventing utilities from detecting suspicious load divergence in near-real-time.</a:t>
            </a:r>
          </a:p>
        </p:txBody>
      </p:sp>
      <p:sp>
        <p:nvSpPr>
          <p:cNvPr id="10" name="Rectangle 9"/>
          <p:cNvSpPr/>
          <p:nvPr/>
        </p:nvSpPr>
        <p:spPr>
          <a:xfrm>
            <a:off x="43891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920240"/>
            <a:ext cx="2864815" cy="3840480"/>
          </a:xfrm>
          <a:prstGeom prst="rect">
            <a:avLst/>
          </a:prstGeom>
          <a:noFill/>
        </p:spPr>
        <p:txBody>
          <a:bodyPr wrap="square">
            <a:spAutoFit/>
          </a:bodyPr>
          <a:lstStyle/>
          <a:p>
            <a:pPr>
              <a:defRPr sz="1300" b="1">
                <a:solidFill>
                  <a:srgbClr val="22D3EE"/>
                </a:solidFill>
                <a:latin typeface="Times New Roman"/>
              </a:defRPr>
            </a:pPr>
            <a:r>
              <a:t>02</a:t>
            </a:r>
          </a:p>
          <a:p>
            <a:pPr>
              <a:spcAft>
                <a:spcPts val="1200"/>
              </a:spcAft>
              <a:defRPr sz="1800" b="1">
                <a:solidFill>
                  <a:srgbClr val="F0F2F5"/>
                </a:solidFill>
                <a:latin typeface="Times New Roman"/>
              </a:defRPr>
            </a:pPr>
            <a:r>
              <a:t>Scale &amp; Non-Technical Losses</a:t>
            </a:r>
          </a:p>
          <a:p>
            <a:pPr algn="just">
              <a:lnSpc>
                <a:spcPct val="130000"/>
              </a:lnSpc>
              <a:defRPr sz="1350">
                <a:solidFill>
                  <a:srgbClr val="9CA3AF"/>
                </a:solidFill>
                <a:latin typeface="Times New Roman"/>
              </a:defRPr>
            </a:pPr>
            <a:r>
              <a:t>Modern electricity distribution companies serve hundreds of thousands of diverse consumers across commercial, industrial, and residential sectors. Non-technical losses (NTL)—primarily caused by illegal meter tampering, phase tapping, and billing fraud—inflict severe revenue haemorrhaging and grid load instability.</a:t>
            </a:r>
          </a:p>
        </p:txBody>
      </p:sp>
      <p:sp>
        <p:nvSpPr>
          <p:cNvPr id="12" name="Rectangle 11"/>
          <p:cNvSpPr/>
          <p:nvPr/>
        </p:nvSpPr>
        <p:spPr>
          <a:xfrm>
            <a:off x="80467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920240"/>
            <a:ext cx="2864815" cy="3840480"/>
          </a:xfrm>
          <a:prstGeom prst="rect">
            <a:avLst/>
          </a:prstGeom>
          <a:noFill/>
        </p:spPr>
        <p:txBody>
          <a:bodyPr wrap="square">
            <a:spAutoFit/>
          </a:bodyPr>
          <a:lstStyle/>
          <a:p>
            <a:pPr>
              <a:defRPr sz="1300" b="1">
                <a:solidFill>
                  <a:srgbClr val="22D3EE"/>
                </a:solidFill>
                <a:latin typeface="Times New Roman"/>
              </a:defRPr>
            </a:pPr>
            <a:r>
              <a:t>03</a:t>
            </a:r>
          </a:p>
          <a:p>
            <a:pPr>
              <a:spcAft>
                <a:spcPts val="1200"/>
              </a:spcAft>
              <a:defRPr sz="1800" b="1">
                <a:solidFill>
                  <a:srgbClr val="F0F2F5"/>
                </a:solidFill>
                <a:latin typeface="Times New Roman"/>
              </a:defRPr>
            </a:pPr>
            <a:r>
              <a:t>Limitations of Manual Audits</a:t>
            </a:r>
          </a:p>
          <a:p>
            <a:pPr algn="just">
              <a:lnSpc>
                <a:spcPct val="130000"/>
              </a:lnSpc>
              <a:defRPr sz="1350">
                <a:solidFill>
                  <a:srgbClr val="9CA3AF"/>
                </a:solidFill>
                <a:latin typeface="Times New Roman"/>
              </a:defRPr>
            </a:pPr>
            <a:r>
              <a:t>Physical field audits conducted by utility flying squads are labour-intensive, dangerous, and resource-constrained. Unprioritized or complaint-driven manual dispatch results in dismal audit hit rates (~8%), excessive officer transit times, and immense operational waste across unflagged normal consumers.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02 | PROBLEM STATEMENT</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The Technical and Operational Disconnect</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3 of 38</a:t>
            </a:r>
          </a:p>
        </p:txBody>
      </p:sp>
      <p:sp>
        <p:nvSpPr>
          <p:cNvPr id="8" name="Rectangle 7"/>
          <p:cNvSpPr/>
          <p:nvPr/>
        </p:nvSpPr>
        <p:spPr>
          <a:xfrm>
            <a:off x="731520" y="1645920"/>
            <a:ext cx="5120640"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828800"/>
            <a:ext cx="4572000" cy="4023360"/>
          </a:xfrm>
          <a:prstGeom prst="rect">
            <a:avLst/>
          </a:prstGeom>
          <a:noFill/>
        </p:spPr>
        <p:txBody>
          <a:bodyPr wrap="square">
            <a:spAutoFit/>
          </a:bodyPr>
          <a:lstStyle/>
          <a:p>
            <a:pPr>
              <a:defRPr sz="1200" b="1">
                <a:solidFill>
                  <a:srgbClr val="22D3EE"/>
                </a:solidFill>
                <a:latin typeface="Times New Roman"/>
              </a:defRPr>
            </a:pPr>
            <a:r>
              <a:t>CRITICAL DISTINCTION</a:t>
            </a:r>
          </a:p>
          <a:p>
            <a:pPr>
              <a:spcAft>
                <a:spcPts val="1000"/>
              </a:spcAft>
              <a:defRPr sz="2000" b="1">
                <a:solidFill>
                  <a:srgbClr val="F0F2F5"/>
                </a:solidFill>
                <a:latin typeface="Times New Roman"/>
              </a:defRPr>
            </a:pPr>
            <a:r>
              <a:t>Prediction Is Not Legal Verification</a:t>
            </a:r>
          </a:p>
          <a:p>
            <a:pPr algn="just">
              <a:lnSpc>
                <a:spcPct val="130000"/>
              </a:lnSpc>
              <a:spcAft>
                <a:spcPts val="1000"/>
              </a:spcAft>
              <a:defRPr sz="1300">
                <a:solidFill>
                  <a:srgbClr val="9CA3AF"/>
                </a:solidFill>
                <a:latin typeface="Times New Roman"/>
              </a:defRPr>
            </a:pPr>
            <a:r>
              <a:t>A statistical risk percentage or ML classification label indicates suspicious consumption behaviour—it does not legally constitute verified electricity theft. Legitimate causes such as solar net-metering, extended factory vacations, seasonal agricultural demand, or faulty current transformers can trigger high model theft scores.</a:t>
            </a:r>
          </a:p>
          <a:p>
            <a:pPr algn="just">
              <a:lnSpc>
                <a:spcPct val="130000"/>
              </a:lnSpc>
              <a:defRPr sz="1300">
                <a:solidFill>
                  <a:srgbClr val="9CA3AF"/>
                </a:solidFill>
                <a:latin typeface="Times New Roman"/>
              </a:defRPr>
            </a:pPr>
            <a:r>
              <a:t>Therefore, physical inspection by authorized vigilance officers remains the only legally admissible verification mechanism before penalties or disconnections can be levied.</a:t>
            </a:r>
          </a:p>
        </p:txBody>
      </p:sp>
      <p:sp>
        <p:nvSpPr>
          <p:cNvPr id="10" name="Rectangle 9"/>
          <p:cNvSpPr/>
          <p:nvPr/>
        </p:nvSpPr>
        <p:spPr>
          <a:xfrm>
            <a:off x="6217920" y="1645920"/>
            <a:ext cx="52422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693615" cy="4023360"/>
          </a:xfrm>
          <a:prstGeom prst="rect">
            <a:avLst/>
          </a:prstGeom>
          <a:noFill/>
        </p:spPr>
        <p:txBody>
          <a:bodyPr wrap="square">
            <a:spAutoFit/>
          </a:bodyPr>
          <a:lstStyle/>
          <a:p>
            <a:pPr>
              <a:defRPr sz="1200" b="1">
                <a:solidFill>
                  <a:srgbClr val="FBBF24"/>
                </a:solidFill>
                <a:latin typeface="Times New Roman"/>
              </a:defRPr>
            </a:pPr>
            <a:r>
              <a:t>THE OPERATIONAL GAP</a:t>
            </a:r>
          </a:p>
          <a:p>
            <a:pPr>
              <a:spcAft>
                <a:spcPts val="1000"/>
              </a:spcAft>
              <a:defRPr sz="2000" b="1">
                <a:solidFill>
                  <a:srgbClr val="F0F2F5"/>
                </a:solidFill>
                <a:latin typeface="Times New Roman"/>
              </a:defRPr>
            </a:pPr>
            <a:r>
              <a:t>Isolated Models vs Usable Systems</a:t>
            </a:r>
          </a:p>
          <a:p>
            <a:pPr algn="just">
              <a:lnSpc>
                <a:spcPct val="130000"/>
              </a:lnSpc>
              <a:spcAft>
                <a:spcPts val="1400"/>
              </a:spcAft>
              <a:defRPr sz="1300">
                <a:solidFill>
                  <a:srgbClr val="9CA3AF"/>
                </a:solidFill>
                <a:latin typeface="Times New Roman"/>
              </a:defRPr>
            </a:pPr>
            <a:r>
              <a:t>Existing academic research frequently treats theft detection as an isolated classification competition, stopping once an algorithm outputs probability arrays. An isolated score does not dispatch field officers, schedule inspections, record tamper evidence, track fines, or feed verified field outcomes back to the model.</a:t>
            </a:r>
          </a:p>
          <a:p>
            <a:pPr>
              <a:defRPr sz="1200" b="1">
                <a:solidFill>
                  <a:srgbClr val="22D3EE"/>
                </a:solidFill>
                <a:latin typeface="Times New Roman"/>
              </a:defRPr>
            </a:pPr>
            <a:r>
              <a:t>Central Research &amp; Engineering Question:</a:t>
            </a:r>
          </a:p>
          <a:p>
            <a:pPr algn="just">
              <a:lnSpc>
                <a:spcPct val="130000"/>
              </a:lnSpc>
              <a:defRPr sz="1350" b="1">
                <a:solidFill>
                  <a:srgbClr val="F0F2F5"/>
                </a:solidFill>
                <a:latin typeface="Times New Roman"/>
              </a:defRPr>
            </a:pPr>
            <a:r>
              <a:t>"How can smart-meter consumption data and machine learning be integrated into an explainable, risk-prioritized inspection workflow that connects model predictions with verified field outcomes?"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03 | LITERATURE REVIEW &amp; RELATED WORK</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State of the Art in ML Electricity Theft Detection</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4 of 38</a:t>
            </a:r>
          </a:p>
        </p:txBody>
      </p:sp>
      <p:sp>
        <p:nvSpPr>
          <p:cNvPr id="8" name="Rectangle 7"/>
          <p:cNvSpPr/>
          <p:nvPr/>
        </p:nvSpPr>
        <p:spPr>
          <a:xfrm>
            <a:off x="7315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20240"/>
            <a:ext cx="2864815" cy="3840480"/>
          </a:xfrm>
          <a:prstGeom prst="rect">
            <a:avLst/>
          </a:prstGeom>
          <a:noFill/>
        </p:spPr>
        <p:txBody>
          <a:bodyPr wrap="square">
            <a:spAutoFit/>
          </a:bodyPr>
          <a:lstStyle/>
          <a:p>
            <a:pPr>
              <a:defRPr sz="1600" b="1">
                <a:solidFill>
                  <a:srgbClr val="F0F2F5"/>
                </a:solidFill>
                <a:latin typeface="Times New Roman"/>
              </a:defRPr>
            </a:pPr>
            <a:r>
              <a:t>Petrlik, Lezama, et al. (2022)</a:t>
            </a:r>
          </a:p>
          <a:p>
            <a:pPr>
              <a:spcAft>
                <a:spcPts val="1000"/>
              </a:spcAft>
              <a:defRPr sz="1100">
                <a:solidFill>
                  <a:srgbClr val="22D3EE"/>
                </a:solidFill>
                <a:latin typeface="Times New Roman"/>
              </a:defRPr>
            </a:pPr>
            <a:r>
              <a:t>Electricity Theft Detection using Machine Learning (IJACSA, Vol. 13, No. 12, DOI: 10.14569/IJACSA.2022.0131251)</a:t>
            </a:r>
          </a:p>
          <a:p>
            <a:pPr algn="just">
              <a:lnSpc>
                <a:spcPct val="130000"/>
              </a:lnSpc>
              <a:defRPr sz="1300">
                <a:solidFill>
                  <a:srgbClr val="9CA3AF"/>
                </a:solidFill>
                <a:latin typeface="Times New Roman"/>
              </a:defRPr>
            </a:pPr>
            <a:r>
              <a:t>Evaluated five classic ML algorithms on the SGCC dataset (~42,000 consumers). Demonstrated that tree-based models and SVMs outperform linear classifiers. Results reported: SVM (81% accuracy), Random Forest (80%), KNN (79%), Logistic Regression (69%), Naive Bayes (68%). Established 3-sigma outlier handling and missing-value interpolation benchmarks on raw smart-meter time-series.</a:t>
            </a:r>
          </a:p>
        </p:txBody>
      </p:sp>
      <p:sp>
        <p:nvSpPr>
          <p:cNvPr id="10" name="Rectangle 9"/>
          <p:cNvSpPr/>
          <p:nvPr/>
        </p:nvSpPr>
        <p:spPr>
          <a:xfrm>
            <a:off x="43891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920240"/>
            <a:ext cx="2864815" cy="3840480"/>
          </a:xfrm>
          <a:prstGeom prst="rect">
            <a:avLst/>
          </a:prstGeom>
          <a:noFill/>
        </p:spPr>
        <p:txBody>
          <a:bodyPr wrap="square">
            <a:spAutoFit/>
          </a:bodyPr>
          <a:lstStyle/>
          <a:p>
            <a:pPr>
              <a:defRPr sz="1600" b="1">
                <a:solidFill>
                  <a:srgbClr val="F0F2F5"/>
                </a:solidFill>
                <a:latin typeface="Times New Roman"/>
              </a:defRPr>
            </a:pPr>
            <a:r>
              <a:t>Tsao, Rahmalia, &amp; Lu (2024)</a:t>
            </a:r>
          </a:p>
          <a:p>
            <a:pPr>
              <a:spcAft>
                <a:spcPts val="1000"/>
              </a:spcAft>
              <a:defRPr sz="1100">
                <a:solidFill>
                  <a:srgbClr val="22D3EE"/>
                </a:solidFill>
                <a:latin typeface="Times New Roman"/>
              </a:defRPr>
            </a:pPr>
            <a:r>
              <a:t>Machine-Learning Techniques for Enhancing Electricity Theft Detection (Energy Reports, Vol. 12, pp. 3048–3064)</a:t>
            </a:r>
          </a:p>
          <a:p>
            <a:pPr algn="just">
              <a:lnSpc>
                <a:spcPct val="130000"/>
              </a:lnSpc>
              <a:defRPr sz="1300">
                <a:solidFill>
                  <a:srgbClr val="9CA3AF"/>
                </a:solidFill>
                <a:latin typeface="Times New Roman"/>
              </a:defRPr>
            </a:pPr>
            <a:r>
              <a:t>Investigated Decision Trees and Support Vector Machines combined with aggregate transformer parameters and distribution network reliability metrics. Highlighted the importance of integrating macroscopic substation parameters with consumer-level time-series consumption anomalies.</a:t>
            </a:r>
          </a:p>
        </p:txBody>
      </p:sp>
      <p:sp>
        <p:nvSpPr>
          <p:cNvPr id="12" name="Rectangle 11"/>
          <p:cNvSpPr/>
          <p:nvPr/>
        </p:nvSpPr>
        <p:spPr>
          <a:xfrm>
            <a:off x="80467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920240"/>
            <a:ext cx="2864815" cy="3840480"/>
          </a:xfrm>
          <a:prstGeom prst="rect">
            <a:avLst/>
          </a:prstGeom>
          <a:noFill/>
        </p:spPr>
        <p:txBody>
          <a:bodyPr wrap="square">
            <a:spAutoFit/>
          </a:bodyPr>
          <a:lstStyle/>
          <a:p>
            <a:pPr>
              <a:defRPr sz="1600" b="1">
                <a:solidFill>
                  <a:srgbClr val="F0F2F5"/>
                </a:solidFill>
                <a:latin typeface="Times New Roman"/>
              </a:defRPr>
            </a:pPr>
            <a:r>
              <a:t>Ensemble &amp; Tree-Based State of the Art</a:t>
            </a:r>
          </a:p>
          <a:p>
            <a:pPr>
              <a:spcAft>
                <a:spcPts val="1000"/>
              </a:spcAft>
              <a:defRPr sz="1100">
                <a:solidFill>
                  <a:srgbClr val="22D3EE"/>
                </a:solidFill>
                <a:latin typeface="Times New Roman"/>
              </a:defRPr>
            </a:pPr>
            <a:r>
              <a:t>Literature Consensus on Tabular Time-Series Consumption Data</a:t>
            </a:r>
          </a:p>
          <a:p>
            <a:pPr algn="just">
              <a:lnSpc>
                <a:spcPct val="130000"/>
              </a:lnSpc>
              <a:defRPr sz="1300">
                <a:solidFill>
                  <a:srgbClr val="9CA3AF"/>
                </a:solidFill>
                <a:latin typeface="Times New Roman"/>
              </a:defRPr>
            </a:pPr>
            <a:r>
              <a:t>Recent studies consistently demonstrate that gradient boosted decision trees (XGBoost, LightGBM) yield superior operational performance on tabular smart-meter data compared to unregularized deep neural networks, due to robust handling of high missingness, scale insensitivity, and interpretability.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03 | LITERATURE REVIEW &amp; RELATED WORK</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Identified Research Gaps and Project Novelty</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5 of 38</a:t>
            </a:r>
          </a:p>
        </p:txBody>
      </p:sp>
      <p:sp>
        <p:nvSpPr>
          <p:cNvPr id="8" name="Rectangle 7"/>
          <p:cNvSpPr/>
          <p:nvPr/>
        </p:nvSpPr>
        <p:spPr>
          <a:xfrm>
            <a:off x="731520" y="1645920"/>
            <a:ext cx="52422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4785055" cy="1737360"/>
          </a:xfrm>
          <a:prstGeom prst="rect">
            <a:avLst/>
          </a:prstGeom>
          <a:noFill/>
        </p:spPr>
        <p:txBody>
          <a:bodyPr wrap="square">
            <a:spAutoFit/>
          </a:bodyPr>
          <a:lstStyle/>
          <a:p>
            <a:pPr>
              <a:defRPr sz="1450" b="1">
                <a:solidFill>
                  <a:srgbClr val="FBBF24"/>
                </a:solidFill>
                <a:latin typeface="Times New Roman"/>
              </a:defRPr>
            </a:pPr>
            <a:r>
              <a:t>Gap 1: Black-Box Predictions</a:t>
            </a:r>
          </a:p>
          <a:p>
            <a:pPr>
              <a:spcAft>
                <a:spcPts val="400"/>
              </a:spcAft>
              <a:defRPr sz="1200">
                <a:solidFill>
                  <a:srgbClr val="9CA3AF"/>
                </a:solidFill>
                <a:latin typeface="Times New Roman"/>
              </a:defRPr>
            </a:pPr>
            <a:r>
              <a:t>Prior works output raw anomaly scores without explaining which consumption features drove the prediction, preventing utility field officers from justifying search warrants or audit actions.</a:t>
            </a:r>
          </a:p>
          <a:p>
            <a:pPr>
              <a:defRPr sz="1200" b="1">
                <a:solidFill>
                  <a:srgbClr val="22D3EE"/>
                </a:solidFill>
                <a:latin typeface="Times New Roman"/>
              </a:defRPr>
            </a:pPr>
            <a:r>
              <a:t>Project Contribution: Local SHAP TreeExplainer feature attributions for every flagged consumer, displaying direction and magnitude of risk factors.</a:t>
            </a:r>
          </a:p>
        </p:txBody>
      </p:sp>
      <p:sp>
        <p:nvSpPr>
          <p:cNvPr id="10" name="Rectangle 9"/>
          <p:cNvSpPr/>
          <p:nvPr/>
        </p:nvSpPr>
        <p:spPr>
          <a:xfrm>
            <a:off x="6217920" y="1645920"/>
            <a:ext cx="52422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828800"/>
            <a:ext cx="4785055" cy="1737360"/>
          </a:xfrm>
          <a:prstGeom prst="rect">
            <a:avLst/>
          </a:prstGeom>
          <a:noFill/>
        </p:spPr>
        <p:txBody>
          <a:bodyPr wrap="square">
            <a:spAutoFit/>
          </a:bodyPr>
          <a:lstStyle/>
          <a:p>
            <a:pPr>
              <a:defRPr sz="1450" b="1">
                <a:solidFill>
                  <a:srgbClr val="FBBF24"/>
                </a:solidFill>
                <a:latin typeface="Times New Roman"/>
              </a:defRPr>
            </a:pPr>
            <a:r>
              <a:t>Gap 2: Class Imbalance Ignored</a:t>
            </a:r>
          </a:p>
          <a:p>
            <a:pPr>
              <a:spcAft>
                <a:spcPts val="400"/>
              </a:spcAft>
              <a:defRPr sz="1200">
                <a:solidFill>
                  <a:srgbClr val="9CA3AF"/>
                </a:solidFill>
                <a:latin typeface="Times New Roman"/>
              </a:defRPr>
            </a:pPr>
            <a:r>
              <a:t>Many benchmarks evaluate standard accuracy on datasets where theft represents &lt;10% of records, masking severe false-negative rates in real-world deployments.</a:t>
            </a:r>
          </a:p>
          <a:p>
            <a:pPr>
              <a:defRPr sz="1200" b="1">
                <a:solidFill>
                  <a:srgbClr val="22D3EE"/>
                </a:solidFill>
                <a:latin typeface="Times New Roman"/>
              </a:defRPr>
            </a:pPr>
            <a:r>
              <a:t>Project Contribution: Class-weighted cost-sensitive training, precision-recall optimization (PR-AUC), and threshold calibration on held-out validation sets.</a:t>
            </a:r>
          </a:p>
        </p:txBody>
      </p:sp>
      <p:sp>
        <p:nvSpPr>
          <p:cNvPr id="12" name="Rectangle 11"/>
          <p:cNvSpPr/>
          <p:nvPr/>
        </p:nvSpPr>
        <p:spPr>
          <a:xfrm>
            <a:off x="731520" y="3931920"/>
            <a:ext cx="52422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14800"/>
            <a:ext cx="4785055" cy="1737360"/>
          </a:xfrm>
          <a:prstGeom prst="rect">
            <a:avLst/>
          </a:prstGeom>
          <a:noFill/>
        </p:spPr>
        <p:txBody>
          <a:bodyPr wrap="square">
            <a:spAutoFit/>
          </a:bodyPr>
          <a:lstStyle/>
          <a:p>
            <a:pPr>
              <a:defRPr sz="1450" b="1">
                <a:solidFill>
                  <a:srgbClr val="FBBF24"/>
                </a:solidFill>
                <a:latin typeface="Times New Roman"/>
              </a:defRPr>
            </a:pPr>
            <a:r>
              <a:t>Gap 3: Disconnected Operations</a:t>
            </a:r>
          </a:p>
          <a:p>
            <a:pPr>
              <a:spcAft>
                <a:spcPts val="400"/>
              </a:spcAft>
              <a:defRPr sz="1200">
                <a:solidFill>
                  <a:srgbClr val="9CA3AF"/>
                </a:solidFill>
                <a:latin typeface="Times New Roman"/>
              </a:defRPr>
            </a:pPr>
            <a:r>
              <a:t>Academic models stop at offline evaluations. No workflow exists to assign flying squads, schedule visits, record physical tamper evidence, or issue penalties.</a:t>
            </a:r>
          </a:p>
          <a:p>
            <a:pPr>
              <a:defRPr sz="1200" b="1">
                <a:solidFill>
                  <a:srgbClr val="22D3EE"/>
                </a:solidFill>
                <a:latin typeface="Times New Roman"/>
              </a:defRPr>
            </a:pPr>
            <a:r>
              <a:t>Project Contribution: Full-lifecycle operational software with role-based access control, GIS mapping, officer assignment, and outcome logging.</a:t>
            </a:r>
          </a:p>
        </p:txBody>
      </p:sp>
      <p:sp>
        <p:nvSpPr>
          <p:cNvPr id="14" name="Rectangle 13"/>
          <p:cNvSpPr/>
          <p:nvPr/>
        </p:nvSpPr>
        <p:spPr>
          <a:xfrm>
            <a:off x="6217920" y="3931920"/>
            <a:ext cx="52422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114800"/>
            <a:ext cx="4785055" cy="1737360"/>
          </a:xfrm>
          <a:prstGeom prst="rect">
            <a:avLst/>
          </a:prstGeom>
          <a:noFill/>
        </p:spPr>
        <p:txBody>
          <a:bodyPr wrap="square">
            <a:spAutoFit/>
          </a:bodyPr>
          <a:lstStyle/>
          <a:p>
            <a:pPr>
              <a:defRPr sz="1450" b="1">
                <a:solidFill>
                  <a:srgbClr val="FBBF24"/>
                </a:solidFill>
                <a:latin typeface="Times New Roman"/>
              </a:defRPr>
            </a:pPr>
            <a:r>
              <a:t>Gap 4: Absence of Model Feedback</a:t>
            </a:r>
          </a:p>
          <a:p>
            <a:pPr>
              <a:spcAft>
                <a:spcPts val="400"/>
              </a:spcAft>
              <a:defRPr sz="1200">
                <a:solidFill>
                  <a:srgbClr val="9CA3AF"/>
                </a:solidFill>
                <a:latin typeface="Times New Roman"/>
              </a:defRPr>
            </a:pPr>
            <a:r>
              <a:t>Existing systems treat ML models as static one-off artifacts, discarding valuable ground-truth verification outcomes recorded by field inspectors.</a:t>
            </a:r>
          </a:p>
          <a:p>
            <a:pPr>
              <a:defRPr sz="1200" b="1">
                <a:solidFill>
                  <a:srgbClr val="22D3EE"/>
                </a:solidFill>
                <a:latin typeface="Times New Roman"/>
              </a:defRPr>
            </a:pPr>
            <a:r>
              <a:t>Project Contribution: Relational feedback architecture recording verified physical findings (theft confirmed / clean) to support governed future model calibration.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04 | METHODOLOGY &amp; MACHINE LEARNING PIPELINE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The 8-Stage End-to-End Operational Workflow</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6 of 38</a:t>
            </a:r>
          </a:p>
        </p:txBody>
      </p:sp>
      <p:sp>
        <p:nvSpPr>
          <p:cNvPr id="8" name="Rectangle 7"/>
          <p:cNvSpPr/>
          <p:nvPr/>
        </p:nvSpPr>
        <p:spPr>
          <a:xfrm>
            <a:off x="731520" y="1691640"/>
            <a:ext cx="2514600" cy="205740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74520"/>
            <a:ext cx="2148840" cy="1691640"/>
          </a:xfrm>
          <a:prstGeom prst="rect">
            <a:avLst/>
          </a:prstGeom>
          <a:noFill/>
        </p:spPr>
        <p:txBody>
          <a:bodyPr wrap="square">
            <a:spAutoFit/>
          </a:bodyPr>
          <a:lstStyle/>
          <a:p>
            <a:pPr>
              <a:spcAft>
                <a:spcPts val="800"/>
              </a:spcAft>
              <a:defRPr sz="1400" b="1">
                <a:solidFill>
                  <a:srgbClr val="22D3EE"/>
                </a:solidFill>
                <a:latin typeface="Times New Roman"/>
              </a:defRPr>
            </a:pPr>
            <a:r>
              <a:t>1. Data Acquisition</a:t>
            </a:r>
          </a:p>
          <a:p>
            <a:pPr>
              <a:lnSpc>
                <a:spcPct val="125000"/>
              </a:lnSpc>
              <a:defRPr sz="1200">
                <a:solidFill>
                  <a:srgbClr val="9CA3AF"/>
                </a:solidFill>
                <a:latin typeface="Times New Roman"/>
              </a:defRPr>
            </a:pPr>
            <a:r>
              <a:t>SGCC Smart Meter Dataset</a:t>
            </a:r>
            <a:br/>
            <a:r>
              <a:t>42,372 consumers</a:t>
            </a:r>
            <a:br/>
            <a:r>
              <a:t>1,034 daily readings</a:t>
            </a:r>
          </a:p>
        </p:txBody>
      </p:sp>
      <p:sp>
        <p:nvSpPr>
          <p:cNvPr id="10" name="Rectangle 9"/>
          <p:cNvSpPr/>
          <p:nvPr/>
        </p:nvSpPr>
        <p:spPr>
          <a:xfrm>
            <a:off x="3474720" y="1691640"/>
            <a:ext cx="2514600" cy="205740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874520"/>
            <a:ext cx="2148840" cy="1691640"/>
          </a:xfrm>
          <a:prstGeom prst="rect">
            <a:avLst/>
          </a:prstGeom>
          <a:noFill/>
        </p:spPr>
        <p:txBody>
          <a:bodyPr wrap="square">
            <a:spAutoFit/>
          </a:bodyPr>
          <a:lstStyle/>
          <a:p>
            <a:pPr>
              <a:spcAft>
                <a:spcPts val="800"/>
              </a:spcAft>
              <a:defRPr sz="1400" b="1">
                <a:solidFill>
                  <a:srgbClr val="22D3EE"/>
                </a:solidFill>
                <a:latin typeface="Times New Roman"/>
              </a:defRPr>
            </a:pPr>
            <a:r>
              <a:t>2. Preprocessing</a:t>
            </a:r>
          </a:p>
          <a:p>
            <a:pPr>
              <a:lnSpc>
                <a:spcPct val="125000"/>
              </a:lnSpc>
              <a:defRPr sz="1200">
                <a:solidFill>
                  <a:srgbClr val="9CA3AF"/>
                </a:solidFill>
                <a:latin typeface="Times New Roman"/>
              </a:defRPr>
            </a:pPr>
            <a:r>
              <a:t>Chronological sorting</a:t>
            </a:r>
            <a:br/>
            <a:r>
              <a:t>Missing data interpolation</a:t>
            </a:r>
            <a:br/>
            <a:r>
              <a:t>Winsorization (99.9th pct)</a:t>
            </a:r>
          </a:p>
        </p:txBody>
      </p:sp>
      <p:sp>
        <p:nvSpPr>
          <p:cNvPr id="12" name="Rectangle 11"/>
          <p:cNvSpPr/>
          <p:nvPr/>
        </p:nvSpPr>
        <p:spPr>
          <a:xfrm>
            <a:off x="6217920" y="1691640"/>
            <a:ext cx="2514600" cy="205740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874520"/>
            <a:ext cx="2148840" cy="1691640"/>
          </a:xfrm>
          <a:prstGeom prst="rect">
            <a:avLst/>
          </a:prstGeom>
          <a:noFill/>
        </p:spPr>
        <p:txBody>
          <a:bodyPr wrap="square">
            <a:spAutoFit/>
          </a:bodyPr>
          <a:lstStyle/>
          <a:p>
            <a:pPr>
              <a:spcAft>
                <a:spcPts val="800"/>
              </a:spcAft>
              <a:defRPr sz="1400" b="1">
                <a:solidFill>
                  <a:srgbClr val="22D3EE"/>
                </a:solidFill>
                <a:latin typeface="Times New Roman"/>
              </a:defRPr>
            </a:pPr>
            <a:r>
              <a:t>3. Feature Eng.</a:t>
            </a:r>
          </a:p>
          <a:p>
            <a:pPr>
              <a:lnSpc>
                <a:spcPct val="125000"/>
              </a:lnSpc>
              <a:defRPr sz="1200">
                <a:solidFill>
                  <a:srgbClr val="9CA3AF"/>
                </a:solidFill>
                <a:latin typeface="Times New Roman"/>
              </a:defRPr>
            </a:pPr>
            <a:r>
              <a:t>15 domain features:</a:t>
            </a:r>
            <a:br/>
            <a:r>
              <a:t>Volatility, trend slope,</a:t>
            </a:r>
            <a:br/>
            <a:r>
              <a:t>lag autocorrelations</a:t>
            </a:r>
          </a:p>
        </p:txBody>
      </p:sp>
      <p:sp>
        <p:nvSpPr>
          <p:cNvPr id="14" name="Rectangle 13"/>
          <p:cNvSpPr/>
          <p:nvPr/>
        </p:nvSpPr>
        <p:spPr>
          <a:xfrm>
            <a:off x="8961120" y="1691640"/>
            <a:ext cx="2514600" cy="205740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874520"/>
            <a:ext cx="2148840" cy="1691640"/>
          </a:xfrm>
          <a:prstGeom prst="rect">
            <a:avLst/>
          </a:prstGeom>
          <a:noFill/>
        </p:spPr>
        <p:txBody>
          <a:bodyPr wrap="square">
            <a:spAutoFit/>
          </a:bodyPr>
          <a:lstStyle/>
          <a:p>
            <a:pPr>
              <a:spcAft>
                <a:spcPts val="800"/>
              </a:spcAft>
              <a:defRPr sz="1400" b="1">
                <a:solidFill>
                  <a:srgbClr val="22D3EE"/>
                </a:solidFill>
                <a:latin typeface="Times New Roman"/>
              </a:defRPr>
            </a:pPr>
            <a:r>
              <a:t>4. Imbalance Train</a:t>
            </a:r>
          </a:p>
          <a:p>
            <a:pPr>
              <a:lnSpc>
                <a:spcPct val="125000"/>
              </a:lnSpc>
              <a:defRPr sz="1200">
                <a:solidFill>
                  <a:srgbClr val="9CA3AF"/>
                </a:solidFill>
                <a:latin typeface="Times New Roman"/>
              </a:defRPr>
            </a:pPr>
            <a:r>
              <a:t>Class-weighted loss</a:t>
            </a:r>
            <a:br/>
            <a:r>
              <a:t>70/15/15 chronological</a:t>
            </a:r>
            <a:br/>
            <a:r>
              <a:t>Zero-leakage split</a:t>
            </a:r>
          </a:p>
        </p:txBody>
      </p:sp>
      <p:sp>
        <p:nvSpPr>
          <p:cNvPr id="16" name="Rectangle 15"/>
          <p:cNvSpPr/>
          <p:nvPr/>
        </p:nvSpPr>
        <p:spPr>
          <a:xfrm>
            <a:off x="731520" y="3931920"/>
            <a:ext cx="2514600" cy="205740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114800"/>
            <a:ext cx="2148840" cy="1691640"/>
          </a:xfrm>
          <a:prstGeom prst="rect">
            <a:avLst/>
          </a:prstGeom>
          <a:noFill/>
        </p:spPr>
        <p:txBody>
          <a:bodyPr wrap="square">
            <a:spAutoFit/>
          </a:bodyPr>
          <a:lstStyle/>
          <a:p>
            <a:pPr>
              <a:spcAft>
                <a:spcPts val="800"/>
              </a:spcAft>
              <a:defRPr sz="1400" b="1">
                <a:solidFill>
                  <a:srgbClr val="22D3EE"/>
                </a:solidFill>
                <a:latin typeface="Times New Roman"/>
              </a:defRPr>
            </a:pPr>
            <a:r>
              <a:t>5. Model Tuning</a:t>
            </a:r>
          </a:p>
          <a:p>
            <a:pPr>
              <a:lnSpc>
                <a:spcPct val="125000"/>
              </a:lnSpc>
              <a:defRPr sz="1200">
                <a:solidFill>
                  <a:srgbClr val="9CA3AF"/>
                </a:solidFill>
                <a:latin typeface="Times New Roman"/>
              </a:defRPr>
            </a:pPr>
            <a:r>
              <a:t>PR-AUC optimization</a:t>
            </a:r>
            <a:br/>
            <a:r>
              <a:t>Threshold tuning (0.65)</a:t>
            </a:r>
            <a:br/>
            <a:r>
              <a:t>Held-out test evaluation</a:t>
            </a:r>
          </a:p>
        </p:txBody>
      </p:sp>
      <p:sp>
        <p:nvSpPr>
          <p:cNvPr id="18" name="Rectangle 17"/>
          <p:cNvSpPr/>
          <p:nvPr/>
        </p:nvSpPr>
        <p:spPr>
          <a:xfrm>
            <a:off x="3474720" y="3931920"/>
            <a:ext cx="2514600" cy="205740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0" y="4114800"/>
            <a:ext cx="2148840" cy="1691640"/>
          </a:xfrm>
          <a:prstGeom prst="rect">
            <a:avLst/>
          </a:prstGeom>
          <a:noFill/>
        </p:spPr>
        <p:txBody>
          <a:bodyPr wrap="square">
            <a:spAutoFit/>
          </a:bodyPr>
          <a:lstStyle/>
          <a:p>
            <a:pPr>
              <a:spcAft>
                <a:spcPts val="800"/>
              </a:spcAft>
              <a:defRPr sz="1400" b="1">
                <a:solidFill>
                  <a:srgbClr val="22D3EE"/>
                </a:solidFill>
                <a:latin typeface="Times New Roman"/>
              </a:defRPr>
            </a:pPr>
            <a:r>
              <a:t>6. Explainability</a:t>
            </a:r>
          </a:p>
          <a:p>
            <a:pPr>
              <a:lnSpc>
                <a:spcPct val="125000"/>
              </a:lnSpc>
              <a:defRPr sz="1200">
                <a:solidFill>
                  <a:srgbClr val="9CA3AF"/>
                </a:solidFill>
                <a:latin typeface="Times New Roman"/>
              </a:defRPr>
            </a:pPr>
            <a:r>
              <a:t>SHAP TreeExplainer</a:t>
            </a:r>
            <a:br/>
            <a:r>
              <a:t>Local waterfall drivers</a:t>
            </a:r>
            <a:br/>
            <a:r>
              <a:t>Evidentiary reporting</a:t>
            </a:r>
          </a:p>
        </p:txBody>
      </p:sp>
      <p:sp>
        <p:nvSpPr>
          <p:cNvPr id="20" name="Rectangle 19"/>
          <p:cNvSpPr/>
          <p:nvPr/>
        </p:nvSpPr>
        <p:spPr>
          <a:xfrm>
            <a:off x="6217920" y="3931920"/>
            <a:ext cx="2514600" cy="205740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114800"/>
            <a:ext cx="2148840" cy="1691640"/>
          </a:xfrm>
          <a:prstGeom prst="rect">
            <a:avLst/>
          </a:prstGeom>
          <a:noFill/>
        </p:spPr>
        <p:txBody>
          <a:bodyPr wrap="square">
            <a:spAutoFit/>
          </a:bodyPr>
          <a:lstStyle/>
          <a:p>
            <a:pPr>
              <a:spcAft>
                <a:spcPts val="800"/>
              </a:spcAft>
              <a:defRPr sz="1400" b="1">
                <a:solidFill>
                  <a:srgbClr val="22D3EE"/>
                </a:solidFill>
                <a:latin typeface="Times New Roman"/>
              </a:defRPr>
            </a:pPr>
            <a:r>
              <a:t>7. Field Dispatch</a:t>
            </a:r>
          </a:p>
          <a:p>
            <a:pPr>
              <a:lnSpc>
                <a:spcPct val="125000"/>
              </a:lnSpc>
              <a:defRPr sz="1200">
                <a:solidFill>
                  <a:srgbClr val="9CA3AF"/>
                </a:solidFill>
                <a:latin typeface="Times New Roman"/>
              </a:defRPr>
            </a:pPr>
            <a:r>
              <a:t>Operational priority queue</a:t>
            </a:r>
            <a:br/>
            <a:r>
              <a:t>Flying squad assignment</a:t>
            </a:r>
            <a:br/>
            <a:r>
              <a:t>GIS spatial routing</a:t>
            </a:r>
          </a:p>
        </p:txBody>
      </p:sp>
      <p:sp>
        <p:nvSpPr>
          <p:cNvPr id="22" name="Rectangle 21"/>
          <p:cNvSpPr/>
          <p:nvPr/>
        </p:nvSpPr>
        <p:spPr>
          <a:xfrm>
            <a:off x="8961120" y="3931920"/>
            <a:ext cx="2514600" cy="205740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0" y="4114800"/>
            <a:ext cx="2148840" cy="1691640"/>
          </a:xfrm>
          <a:prstGeom prst="rect">
            <a:avLst/>
          </a:prstGeom>
          <a:noFill/>
        </p:spPr>
        <p:txBody>
          <a:bodyPr wrap="square">
            <a:spAutoFit/>
          </a:bodyPr>
          <a:lstStyle/>
          <a:p>
            <a:pPr>
              <a:spcAft>
                <a:spcPts val="800"/>
              </a:spcAft>
              <a:defRPr sz="1400" b="1">
                <a:solidFill>
                  <a:srgbClr val="22D3EE"/>
                </a:solidFill>
                <a:latin typeface="Times New Roman"/>
              </a:defRPr>
            </a:pPr>
            <a:r>
              <a:t>8. Closed Feedback</a:t>
            </a:r>
          </a:p>
          <a:p>
            <a:pPr>
              <a:lnSpc>
                <a:spcPct val="125000"/>
              </a:lnSpc>
              <a:defRPr sz="1200">
                <a:solidFill>
                  <a:srgbClr val="9CA3AF"/>
                </a:solidFill>
                <a:latin typeface="Times New Roman"/>
              </a:defRPr>
            </a:pPr>
            <a:r>
              <a:t>Physical outcome logging</a:t>
            </a:r>
            <a:br/>
            <a:r>
              <a:t>Tamper verification</a:t>
            </a:r>
            <a:br/>
            <a:r>
              <a:t>Future model retraining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04 | METHODOLOGY &amp; MACHINE LEARNING PIPELINE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SGCC Dataset Characteristics and Class Imbalance</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7 of 38</a:t>
            </a:r>
          </a:p>
        </p:txBody>
      </p:sp>
      <p:sp>
        <p:nvSpPr>
          <p:cNvPr id="8" name="Rectangle 7"/>
          <p:cNvSpPr/>
          <p:nvPr/>
        </p:nvSpPr>
        <p:spPr>
          <a:xfrm>
            <a:off x="731520" y="1645920"/>
            <a:ext cx="5120640"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828800"/>
            <a:ext cx="4572000" cy="4023360"/>
          </a:xfrm>
          <a:prstGeom prst="rect">
            <a:avLst/>
          </a:prstGeom>
          <a:noFill/>
        </p:spPr>
        <p:txBody>
          <a:bodyPr wrap="square">
            <a:spAutoFit/>
          </a:bodyPr>
          <a:lstStyle/>
          <a:p>
            <a:pPr>
              <a:defRPr sz="1200" b="1">
                <a:solidFill>
                  <a:srgbClr val="22D3EE"/>
                </a:solidFill>
                <a:latin typeface="Times New Roman"/>
              </a:defRPr>
            </a:pPr>
            <a:r>
              <a:t>DATASET AUDIT &amp; SCALE</a:t>
            </a:r>
          </a:p>
          <a:p>
            <a:pPr>
              <a:spcAft>
                <a:spcPts val="1000"/>
              </a:spcAft>
              <a:defRPr sz="1900" b="1">
                <a:solidFill>
                  <a:srgbClr val="F0F2F5"/>
                </a:solidFill>
                <a:latin typeface="Times New Roman"/>
              </a:defRPr>
            </a:pPr>
            <a:r>
              <a:t>State Grid Corp. of China (SGCC)</a:t>
            </a:r>
          </a:p>
          <a:p>
            <a:pPr>
              <a:spcAft>
                <a:spcPts val="400"/>
              </a:spcAft>
              <a:defRPr sz="1250">
                <a:solidFill>
                  <a:srgbClr val="9CA3AF"/>
                </a:solidFill>
                <a:latin typeface="Times New Roman"/>
              </a:defRPr>
            </a:pPr>
            <a:r>
              <a:t>• Total Consumers: 42,372 unique consumer records (167.1 MB CSV)</a:t>
            </a:r>
          </a:p>
          <a:p>
            <a:pPr>
              <a:spcAft>
                <a:spcPts val="400"/>
              </a:spcAft>
              <a:defRPr sz="1250">
                <a:solidFill>
                  <a:srgbClr val="9CA3AF"/>
                </a:solidFill>
                <a:latin typeface="Times New Roman"/>
              </a:defRPr>
            </a:pPr>
            <a:r>
              <a:t>• Temporal Dimension: 1,034 daily readings (2014-01-01 to 2016-10-31)</a:t>
            </a:r>
          </a:p>
          <a:p>
            <a:pPr>
              <a:spcAft>
                <a:spcPts val="400"/>
              </a:spcAft>
              <a:defRPr sz="1250">
                <a:solidFill>
                  <a:srgbClr val="9CA3AF"/>
                </a:solidFill>
                <a:latin typeface="Times New Roman"/>
              </a:defRPr>
            </a:pPr>
            <a:r>
              <a:t>• Total Meter Cells: 43,812,648 individual daily consumption measurements</a:t>
            </a:r>
          </a:p>
          <a:p>
            <a:pPr>
              <a:spcAft>
                <a:spcPts val="400"/>
              </a:spcAft>
              <a:defRPr sz="1250">
                <a:solidFill>
                  <a:srgbClr val="9CA3AF"/>
                </a:solidFill>
                <a:latin typeface="Times New Roman"/>
              </a:defRPr>
            </a:pPr>
            <a:r>
              <a:t>• Missing Readings: 11,233,528 cells (25.64%) due to network &amp; telemetry dropouts</a:t>
            </a:r>
          </a:p>
          <a:p>
            <a:pPr>
              <a:spcAft>
                <a:spcPts val="400"/>
              </a:spcAft>
              <a:defRPr sz="1250">
                <a:solidFill>
                  <a:srgbClr val="9CA3AF"/>
                </a:solidFill>
                <a:latin typeface="Times New Roman"/>
              </a:defRPr>
            </a:pPr>
            <a:r>
              <a:t>• Zero Readings: 5,788,603 cells (17.77%) representing zero-load or outages</a:t>
            </a:r>
          </a:p>
          <a:p>
            <a:pPr>
              <a:spcAft>
                <a:spcPts val="400"/>
              </a:spcAft>
              <a:defRPr sz="1250">
                <a:solidFill>
                  <a:srgbClr val="9CA3AF"/>
                </a:solidFill>
                <a:latin typeface="Times New Roman"/>
              </a:defRPr>
            </a:pPr>
            <a:r>
              <a:t>• Outlier Treatment: 99.9th percentile winsorization applied to cap physical surges</a:t>
            </a:r>
          </a:p>
        </p:txBody>
      </p:sp>
      <p:sp>
        <p:nvSpPr>
          <p:cNvPr id="10" name="Rectangle 9"/>
          <p:cNvSpPr/>
          <p:nvPr/>
        </p:nvSpPr>
        <p:spPr>
          <a:xfrm>
            <a:off x="6217920" y="1645920"/>
            <a:ext cx="52422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693615" cy="4023360"/>
          </a:xfrm>
          <a:prstGeom prst="rect">
            <a:avLst/>
          </a:prstGeom>
          <a:noFill/>
        </p:spPr>
        <p:txBody>
          <a:bodyPr wrap="square">
            <a:spAutoFit/>
          </a:bodyPr>
          <a:lstStyle/>
          <a:p>
            <a:pPr>
              <a:defRPr sz="1200" b="1">
                <a:solidFill>
                  <a:srgbClr val="FBBF24"/>
                </a:solidFill>
                <a:latin typeface="Times New Roman"/>
              </a:defRPr>
            </a:pPr>
            <a:r>
              <a:t>CLASS DISTRIBUTION REALITY</a:t>
            </a:r>
          </a:p>
          <a:p>
            <a:pPr>
              <a:spcAft>
                <a:spcPts val="1000"/>
              </a:spcAft>
              <a:defRPr sz="1900" b="1">
                <a:solidFill>
                  <a:srgbClr val="F0F2F5"/>
                </a:solidFill>
                <a:latin typeface="Times New Roman"/>
              </a:defRPr>
            </a:pPr>
            <a:r>
              <a:t>Severe 1:10.7 Imbalance (8.53% Theft)</a:t>
            </a:r>
          </a:p>
          <a:p>
            <a:pPr>
              <a:spcAft>
                <a:spcPts val="1000"/>
              </a:spcAft>
              <a:defRPr sz="1300">
                <a:solidFill>
                  <a:srgbClr val="9CA3AF"/>
                </a:solidFill>
                <a:latin typeface="Times New Roman"/>
              </a:defRPr>
            </a:pPr>
            <a:r>
              <a:t>• Normal Consumers (FLAG = 0): 38,757 records (91.47%)</a:t>
            </a:r>
            <a:br/>
            <a:r>
              <a:t>• Verified Theft Suspects (FLAG = 1): 3,615 records (8.53%)</a:t>
            </a:r>
            <a:br/>
            <a:r>
              <a:t>• Imbalance Ratio: Exactly 1 theft record for every 10.7 normal consumers.</a:t>
            </a:r>
          </a:p>
          <a:p>
            <a:pPr>
              <a:defRPr sz="1300" b="1">
                <a:solidFill>
                  <a:srgbClr val="F87171"/>
                </a:solidFill>
                <a:latin typeface="Times New Roman"/>
              </a:defRPr>
            </a:pPr>
            <a:r>
              <a:t>Why Standard Accuracy is Fraudulent:</a:t>
            </a:r>
          </a:p>
          <a:p>
            <a:pPr algn="just">
              <a:lnSpc>
                <a:spcPct val="130000"/>
              </a:lnSpc>
              <a:defRPr sz="1250">
                <a:solidFill>
                  <a:srgbClr val="9CA3AF"/>
                </a:solidFill>
                <a:latin typeface="Times New Roman"/>
              </a:defRPr>
            </a:pPr>
            <a:r>
              <a:t>A trivial majority classifier predicting 0 for all consumers achieves 91.47% accuracy while detecting exactly zero cases of theft! Therefore, Precision-Recall AUC (PR-AUC) and F1-score are the mandatory scientific metrics for evaluation.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04 | METHODOLOGY &amp; MACHINE LEARNING PIPELINE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Model Comparison and Class Imbalance Experiments</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8 of 38</a:t>
            </a:r>
          </a:p>
        </p:txBody>
      </p:sp>
      <p:sp>
        <p:nvSpPr>
          <p:cNvPr id="8" name="Rectangle 7"/>
          <p:cNvSpPr/>
          <p:nvPr/>
        </p:nvSpPr>
        <p:spPr>
          <a:xfrm>
            <a:off x="731520" y="1645920"/>
            <a:ext cx="107286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10362895" cy="365760"/>
          </a:xfrm>
          <a:prstGeom prst="rect">
            <a:avLst/>
          </a:prstGeom>
          <a:noFill/>
        </p:spPr>
        <p:txBody>
          <a:bodyPr wrap="none">
            <a:spAutoFit/>
          </a:bodyPr>
          <a:lstStyle/>
          <a:p>
            <a:pPr>
              <a:defRPr sz="1200" b="1">
                <a:solidFill>
                  <a:srgbClr val="22D3EE"/>
                </a:solidFill>
                <a:latin typeface="Times New Roman"/>
              </a:defRPr>
            </a:pPr>
            <a:r>
              <a:t>ALGORITHM BENCHMARK (VALIDATION SET EVALUATION)</a:t>
            </a:r>
          </a:p>
        </p:txBody>
      </p:sp>
      <p:graphicFrame>
        <p:nvGraphicFramePr>
          <p:cNvPr id="10" name="Table 9"/>
          <p:cNvGraphicFramePr>
            <a:graphicFrameLocks noGrp="1"/>
          </p:cNvGraphicFramePr>
          <p:nvPr/>
        </p:nvGraphicFramePr>
        <p:xfrm>
          <a:off x="914400" y="2057400"/>
          <a:ext cx="10362895" cy="1554480"/>
        </p:xfrm>
        <a:graphic>
          <a:graphicData uri="http://schemas.openxmlformats.org/drawingml/2006/table">
            <a:tbl>
              <a:tblPr firstRow="1" bandRow="1">
                <a:tableStyleId>{5C22544A-7EE6-4342-B048-85BDC9FD1C3A}</a:tableStyleId>
              </a:tblPr>
              <a:tblGrid>
                <a:gridCol w="1727149"/>
                <a:gridCol w="1727149"/>
                <a:gridCol w="1727149"/>
                <a:gridCol w="1727149"/>
                <a:gridCol w="1727149"/>
                <a:gridCol w="1727150"/>
              </a:tblGrid>
              <a:tr h="310896">
                <a:tc>
                  <a:txBody>
                    <a:bodyPr/>
                    <a:lstStyle/>
                    <a:p>
                      <a:pPr>
                        <a:defRPr sz="1100" b="1">
                          <a:solidFill>
                            <a:srgbClr val="22D3EE"/>
                          </a:solidFill>
                          <a:latin typeface="Times New Roman"/>
                        </a:defRPr>
                      </a:pPr>
                      <a:r>
                        <a:t>Model Architecture</a:t>
                      </a:r>
                    </a:p>
                  </a:txBody>
                  <a:tcPr>
                    <a:solidFill>
                      <a:srgbClr val="2D3748"/>
                    </a:solidFill>
                  </a:tcPr>
                </a:tc>
                <a:tc>
                  <a:txBody>
                    <a:bodyPr/>
                    <a:lstStyle/>
                    <a:p>
                      <a:pPr>
                        <a:defRPr sz="1100" b="1">
                          <a:solidFill>
                            <a:srgbClr val="22D3EE"/>
                          </a:solidFill>
                          <a:latin typeface="Times New Roman"/>
                        </a:defRPr>
                      </a:pPr>
                      <a:r>
                        <a:t>Val PR-AUC</a:t>
                      </a:r>
                    </a:p>
                  </a:txBody>
                  <a:tcPr>
                    <a:solidFill>
                      <a:srgbClr val="2D3748"/>
                    </a:solidFill>
                  </a:tcPr>
                </a:tc>
                <a:tc>
                  <a:txBody>
                    <a:bodyPr/>
                    <a:lstStyle/>
                    <a:p>
                      <a:pPr>
                        <a:defRPr sz="1100" b="1">
                          <a:solidFill>
                            <a:srgbClr val="22D3EE"/>
                          </a:solidFill>
                          <a:latin typeface="Times New Roman"/>
                        </a:defRPr>
                      </a:pPr>
                      <a:r>
                        <a:t>Val F1-Score</a:t>
                      </a:r>
                    </a:p>
                  </a:txBody>
                  <a:tcPr>
                    <a:solidFill>
                      <a:srgbClr val="2D3748"/>
                    </a:solidFill>
                  </a:tcPr>
                </a:tc>
                <a:tc>
                  <a:txBody>
                    <a:bodyPr/>
                    <a:lstStyle/>
                    <a:p>
                      <a:pPr>
                        <a:defRPr sz="1100" b="1">
                          <a:solidFill>
                            <a:srgbClr val="22D3EE"/>
                          </a:solidFill>
                          <a:latin typeface="Times New Roman"/>
                        </a:defRPr>
                      </a:pPr>
                      <a:r>
                        <a:t>Val Precision</a:t>
                      </a:r>
                    </a:p>
                  </a:txBody>
                  <a:tcPr>
                    <a:solidFill>
                      <a:srgbClr val="2D3748"/>
                    </a:solidFill>
                  </a:tcPr>
                </a:tc>
                <a:tc>
                  <a:txBody>
                    <a:bodyPr/>
                    <a:lstStyle/>
                    <a:p>
                      <a:pPr>
                        <a:defRPr sz="1100" b="1">
                          <a:solidFill>
                            <a:srgbClr val="22D3EE"/>
                          </a:solidFill>
                          <a:latin typeface="Times New Roman"/>
                        </a:defRPr>
                      </a:pPr>
                      <a:r>
                        <a:t>Val Recall</a:t>
                      </a:r>
                    </a:p>
                  </a:txBody>
                  <a:tcPr>
                    <a:solidFill>
                      <a:srgbClr val="2D3748"/>
                    </a:solidFill>
                  </a:tcPr>
                </a:tc>
                <a:tc>
                  <a:txBody>
                    <a:bodyPr/>
                    <a:lstStyle/>
                    <a:p>
                      <a:pPr>
                        <a:defRPr sz="1100" b="1">
                          <a:solidFill>
                            <a:srgbClr val="22D3EE"/>
                          </a:solidFill>
                          <a:latin typeface="Times New Roman"/>
                        </a:defRPr>
                      </a:pPr>
                      <a:r>
                        <a:t>Top-500 Precision</a:t>
                      </a:r>
                    </a:p>
                  </a:txBody>
                  <a:tcPr>
                    <a:solidFill>
                      <a:srgbClr val="2D3748"/>
                    </a:solidFill>
                  </a:tcPr>
                </a:tc>
              </a:tr>
              <a:tr h="310896">
                <a:tc>
                  <a:txBody>
                    <a:bodyPr/>
                    <a:lstStyle/>
                    <a:p>
                      <a:pPr>
                        <a:defRPr sz="1100">
                          <a:solidFill>
                            <a:srgbClr val="F0F2F5"/>
                          </a:solidFill>
                          <a:latin typeface="Times New Roman"/>
                        </a:defRPr>
                      </a:pPr>
                      <a:r>
                        <a:t>Model A: Majority Baseline</a:t>
                      </a:r>
                    </a:p>
                  </a:txBody>
                  <a:tcPr>
                    <a:solidFill>
                      <a:srgbClr val="181C24"/>
                    </a:solidFill>
                  </a:tcPr>
                </a:tc>
                <a:tc>
                  <a:txBody>
                    <a:bodyPr/>
                    <a:lstStyle/>
                    <a:p>
                      <a:pPr>
                        <a:defRPr sz="1100">
                          <a:solidFill>
                            <a:srgbClr val="9CA3AF"/>
                          </a:solidFill>
                          <a:latin typeface="Times New Roman"/>
                        </a:defRPr>
                      </a:pPr>
                      <a:r>
                        <a:t>0.0853</a:t>
                      </a:r>
                    </a:p>
                  </a:txBody>
                  <a:tcPr>
                    <a:solidFill>
                      <a:srgbClr val="181C24"/>
                    </a:solidFill>
                  </a:tcPr>
                </a:tc>
                <a:tc>
                  <a:txBody>
                    <a:bodyPr/>
                    <a:lstStyle/>
                    <a:p>
                      <a:pPr>
                        <a:defRPr sz="1100">
                          <a:solidFill>
                            <a:srgbClr val="9CA3AF"/>
                          </a:solidFill>
                          <a:latin typeface="Times New Roman"/>
                        </a:defRPr>
                      </a:pPr>
                      <a:r>
                        <a:t>0.0000</a:t>
                      </a:r>
                    </a:p>
                  </a:txBody>
                  <a:tcPr>
                    <a:solidFill>
                      <a:srgbClr val="181C24"/>
                    </a:solidFill>
                  </a:tcPr>
                </a:tc>
                <a:tc>
                  <a:txBody>
                    <a:bodyPr/>
                    <a:lstStyle/>
                    <a:p>
                      <a:pPr>
                        <a:defRPr sz="1100">
                          <a:solidFill>
                            <a:srgbClr val="9CA3AF"/>
                          </a:solidFill>
                          <a:latin typeface="Times New Roman"/>
                        </a:defRPr>
                      </a:pPr>
                      <a:r>
                        <a:t>0.0000</a:t>
                      </a:r>
                    </a:p>
                  </a:txBody>
                  <a:tcPr>
                    <a:solidFill>
                      <a:srgbClr val="181C24"/>
                    </a:solidFill>
                  </a:tcPr>
                </a:tc>
                <a:tc>
                  <a:txBody>
                    <a:bodyPr/>
                    <a:lstStyle/>
                    <a:p>
                      <a:pPr>
                        <a:defRPr sz="1100">
                          <a:solidFill>
                            <a:srgbClr val="9CA3AF"/>
                          </a:solidFill>
                          <a:latin typeface="Times New Roman"/>
                        </a:defRPr>
                      </a:pPr>
                      <a:r>
                        <a:t>0.0000</a:t>
                      </a:r>
                    </a:p>
                  </a:txBody>
                  <a:tcPr>
                    <a:solidFill>
                      <a:srgbClr val="181C24"/>
                    </a:solidFill>
                  </a:tcPr>
                </a:tc>
                <a:tc>
                  <a:txBody>
                    <a:bodyPr/>
                    <a:lstStyle/>
                    <a:p>
                      <a:pPr>
                        <a:defRPr sz="1100">
                          <a:solidFill>
                            <a:srgbClr val="9CA3AF"/>
                          </a:solidFill>
                          <a:latin typeface="Times New Roman"/>
                        </a:defRPr>
                      </a:pPr>
                      <a:r>
                        <a:t>9.0%</a:t>
                      </a:r>
                    </a:p>
                  </a:txBody>
                  <a:tcPr>
                    <a:solidFill>
                      <a:srgbClr val="181C24"/>
                    </a:solidFill>
                  </a:tcPr>
                </a:tc>
              </a:tr>
              <a:tr h="310896">
                <a:tc>
                  <a:txBody>
                    <a:bodyPr/>
                    <a:lstStyle/>
                    <a:p>
                      <a:pPr>
                        <a:defRPr sz="1100">
                          <a:solidFill>
                            <a:srgbClr val="F0F2F5"/>
                          </a:solidFill>
                          <a:latin typeface="Times New Roman"/>
                        </a:defRPr>
                      </a:pPr>
                      <a:r>
                        <a:t>Model B: Logistic Regression</a:t>
                      </a:r>
                    </a:p>
                  </a:txBody>
                  <a:tcPr>
                    <a:solidFill>
                      <a:srgbClr val="101216"/>
                    </a:solidFill>
                  </a:tcPr>
                </a:tc>
                <a:tc>
                  <a:txBody>
                    <a:bodyPr/>
                    <a:lstStyle/>
                    <a:p>
                      <a:pPr>
                        <a:defRPr sz="1100">
                          <a:solidFill>
                            <a:srgbClr val="9CA3AF"/>
                          </a:solidFill>
                          <a:latin typeface="Times New Roman"/>
                        </a:defRPr>
                      </a:pPr>
                      <a:r>
                        <a:t>0.2687</a:t>
                      </a:r>
                    </a:p>
                  </a:txBody>
                  <a:tcPr>
                    <a:solidFill>
                      <a:srgbClr val="101216"/>
                    </a:solidFill>
                  </a:tcPr>
                </a:tc>
                <a:tc>
                  <a:txBody>
                    <a:bodyPr/>
                    <a:lstStyle/>
                    <a:p>
                      <a:pPr>
                        <a:defRPr sz="1100">
                          <a:solidFill>
                            <a:srgbClr val="9CA3AF"/>
                          </a:solidFill>
                          <a:latin typeface="Times New Roman"/>
                        </a:defRPr>
                      </a:pPr>
                      <a:r>
                        <a:t>0.2807</a:t>
                      </a:r>
                    </a:p>
                  </a:txBody>
                  <a:tcPr>
                    <a:solidFill>
                      <a:srgbClr val="101216"/>
                    </a:solidFill>
                  </a:tcPr>
                </a:tc>
                <a:tc>
                  <a:txBody>
                    <a:bodyPr/>
                    <a:lstStyle/>
                    <a:p>
                      <a:pPr>
                        <a:defRPr sz="1100">
                          <a:solidFill>
                            <a:srgbClr val="9CA3AF"/>
                          </a:solidFill>
                          <a:latin typeface="Times New Roman"/>
                        </a:defRPr>
                      </a:pPr>
                      <a:r>
                        <a:t>0.1790</a:t>
                      </a:r>
                    </a:p>
                  </a:txBody>
                  <a:tcPr>
                    <a:solidFill>
                      <a:srgbClr val="101216"/>
                    </a:solidFill>
                  </a:tcPr>
                </a:tc>
                <a:tc>
                  <a:txBody>
                    <a:bodyPr/>
                    <a:lstStyle/>
                    <a:p>
                      <a:pPr>
                        <a:defRPr sz="1100">
                          <a:solidFill>
                            <a:srgbClr val="9CA3AF"/>
                          </a:solidFill>
                          <a:latin typeface="Times New Roman"/>
                        </a:defRPr>
                      </a:pPr>
                      <a:r>
                        <a:t>0.6494</a:t>
                      </a:r>
                    </a:p>
                  </a:txBody>
                  <a:tcPr>
                    <a:solidFill>
                      <a:srgbClr val="101216"/>
                    </a:solidFill>
                  </a:tcPr>
                </a:tc>
                <a:tc>
                  <a:txBody>
                    <a:bodyPr/>
                    <a:lstStyle/>
                    <a:p>
                      <a:pPr>
                        <a:defRPr sz="1100">
                          <a:solidFill>
                            <a:srgbClr val="9CA3AF"/>
                          </a:solidFill>
                          <a:latin typeface="Times New Roman"/>
                        </a:defRPr>
                      </a:pPr>
                      <a:r>
                        <a:t>31.0%</a:t>
                      </a:r>
                    </a:p>
                  </a:txBody>
                  <a:tcPr>
                    <a:solidFill>
                      <a:srgbClr val="101216"/>
                    </a:solidFill>
                  </a:tcPr>
                </a:tc>
              </a:tr>
              <a:tr h="310896">
                <a:tc>
                  <a:txBody>
                    <a:bodyPr/>
                    <a:lstStyle/>
                    <a:p>
                      <a:pPr>
                        <a:defRPr sz="1100">
                          <a:solidFill>
                            <a:srgbClr val="F0F2F5"/>
                          </a:solidFill>
                          <a:latin typeface="Times New Roman"/>
                        </a:defRPr>
                      </a:pPr>
                      <a:r>
                        <a:t>Model C: Random Forest</a:t>
                      </a:r>
                    </a:p>
                  </a:txBody>
                  <a:tcPr>
                    <a:solidFill>
                      <a:srgbClr val="181C24"/>
                    </a:solidFill>
                  </a:tcPr>
                </a:tc>
                <a:tc>
                  <a:txBody>
                    <a:bodyPr/>
                    <a:lstStyle/>
                    <a:p>
                      <a:pPr>
                        <a:defRPr sz="1100">
                          <a:solidFill>
                            <a:srgbClr val="9CA3AF"/>
                          </a:solidFill>
                          <a:latin typeface="Times New Roman"/>
                        </a:defRPr>
                      </a:pPr>
                      <a:r>
                        <a:t>0.3320</a:t>
                      </a:r>
                    </a:p>
                  </a:txBody>
                  <a:tcPr>
                    <a:solidFill>
                      <a:srgbClr val="181C24"/>
                    </a:solidFill>
                  </a:tcPr>
                </a:tc>
                <a:tc>
                  <a:txBody>
                    <a:bodyPr/>
                    <a:lstStyle/>
                    <a:p>
                      <a:pPr>
                        <a:defRPr sz="1100">
                          <a:solidFill>
                            <a:srgbClr val="9CA3AF"/>
                          </a:solidFill>
                          <a:latin typeface="Times New Roman"/>
                        </a:defRPr>
                      </a:pPr>
                      <a:r>
                        <a:t>0.3524</a:t>
                      </a:r>
                    </a:p>
                  </a:txBody>
                  <a:tcPr>
                    <a:solidFill>
                      <a:srgbClr val="181C24"/>
                    </a:solidFill>
                  </a:tcPr>
                </a:tc>
                <a:tc>
                  <a:txBody>
                    <a:bodyPr/>
                    <a:lstStyle/>
                    <a:p>
                      <a:pPr>
                        <a:defRPr sz="1100">
                          <a:solidFill>
                            <a:srgbClr val="9CA3AF"/>
                          </a:solidFill>
                          <a:latin typeface="Times New Roman"/>
                        </a:defRPr>
                      </a:pPr>
                      <a:r>
                        <a:t>0.2830</a:t>
                      </a:r>
                    </a:p>
                  </a:txBody>
                  <a:tcPr>
                    <a:solidFill>
                      <a:srgbClr val="181C24"/>
                    </a:solidFill>
                  </a:tcPr>
                </a:tc>
                <a:tc>
                  <a:txBody>
                    <a:bodyPr/>
                    <a:lstStyle/>
                    <a:p>
                      <a:pPr>
                        <a:defRPr sz="1100">
                          <a:solidFill>
                            <a:srgbClr val="9CA3AF"/>
                          </a:solidFill>
                          <a:latin typeface="Times New Roman"/>
                        </a:defRPr>
                      </a:pPr>
                      <a:r>
                        <a:t>0.4668</a:t>
                      </a:r>
                    </a:p>
                  </a:txBody>
                  <a:tcPr>
                    <a:solidFill>
                      <a:srgbClr val="181C24"/>
                    </a:solidFill>
                  </a:tcPr>
                </a:tc>
                <a:tc>
                  <a:txBody>
                    <a:bodyPr/>
                    <a:lstStyle/>
                    <a:p>
                      <a:pPr>
                        <a:defRPr sz="1100">
                          <a:solidFill>
                            <a:srgbClr val="9CA3AF"/>
                          </a:solidFill>
                          <a:latin typeface="Times New Roman"/>
                        </a:defRPr>
                      </a:pPr>
                      <a:r>
                        <a:t>36.2%</a:t>
                      </a:r>
                    </a:p>
                  </a:txBody>
                  <a:tcPr>
                    <a:solidFill>
                      <a:srgbClr val="181C24"/>
                    </a:solidFill>
                  </a:tcPr>
                </a:tc>
              </a:tr>
              <a:tr h="310896">
                <a:tc>
                  <a:txBody>
                    <a:bodyPr/>
                    <a:lstStyle/>
                    <a:p>
                      <a:pPr>
                        <a:defRPr sz="1100" b="1">
                          <a:solidFill>
                            <a:srgbClr val="22D3EE"/>
                          </a:solidFill>
                          <a:latin typeface="Times New Roman"/>
                        </a:defRPr>
                      </a:pPr>
                      <a:r>
                        <a:t>Model D: XGBoost Balanced (Selected)</a:t>
                      </a:r>
                    </a:p>
                  </a:txBody>
                  <a:tcPr>
                    <a:solidFill>
                      <a:srgbClr val="101216"/>
                    </a:solidFill>
                  </a:tcPr>
                </a:tc>
                <a:tc>
                  <a:txBody>
                    <a:bodyPr/>
                    <a:lstStyle/>
                    <a:p>
                      <a:pPr>
                        <a:defRPr sz="1100" b="1">
                          <a:solidFill>
                            <a:srgbClr val="22D3EE"/>
                          </a:solidFill>
                          <a:latin typeface="Times New Roman"/>
                        </a:defRPr>
                      </a:pPr>
                      <a:r>
                        <a:t>0.3605</a:t>
                      </a:r>
                    </a:p>
                  </a:txBody>
                  <a:tcPr>
                    <a:solidFill>
                      <a:srgbClr val="101216"/>
                    </a:solidFill>
                  </a:tcPr>
                </a:tc>
                <a:tc>
                  <a:txBody>
                    <a:bodyPr/>
                    <a:lstStyle/>
                    <a:p>
                      <a:pPr>
                        <a:defRPr sz="1100" b="1">
                          <a:solidFill>
                            <a:srgbClr val="22D3EE"/>
                          </a:solidFill>
                          <a:latin typeface="Times New Roman"/>
                        </a:defRPr>
                      </a:pPr>
                      <a:r>
                        <a:t>0.3395</a:t>
                      </a:r>
                    </a:p>
                  </a:txBody>
                  <a:tcPr>
                    <a:solidFill>
                      <a:srgbClr val="101216"/>
                    </a:solidFill>
                  </a:tcPr>
                </a:tc>
                <a:tc>
                  <a:txBody>
                    <a:bodyPr/>
                    <a:lstStyle/>
                    <a:p>
                      <a:pPr>
                        <a:defRPr sz="1100" b="1">
                          <a:solidFill>
                            <a:srgbClr val="22D3EE"/>
                          </a:solidFill>
                          <a:latin typeface="Times New Roman"/>
                        </a:defRPr>
                      </a:pPr>
                      <a:r>
                        <a:t>0.2507</a:t>
                      </a:r>
                    </a:p>
                  </a:txBody>
                  <a:tcPr>
                    <a:solidFill>
                      <a:srgbClr val="101216"/>
                    </a:solidFill>
                  </a:tcPr>
                </a:tc>
                <a:tc>
                  <a:txBody>
                    <a:bodyPr/>
                    <a:lstStyle/>
                    <a:p>
                      <a:pPr>
                        <a:defRPr sz="1100" b="1">
                          <a:solidFill>
                            <a:srgbClr val="22D3EE"/>
                          </a:solidFill>
                          <a:latin typeface="Times New Roman"/>
                        </a:defRPr>
                      </a:pPr>
                      <a:r>
                        <a:t>0.5258</a:t>
                      </a:r>
                    </a:p>
                  </a:txBody>
                  <a:tcPr>
                    <a:solidFill>
                      <a:srgbClr val="101216"/>
                    </a:solidFill>
                  </a:tcPr>
                </a:tc>
                <a:tc>
                  <a:txBody>
                    <a:bodyPr/>
                    <a:lstStyle/>
                    <a:p>
                      <a:pPr>
                        <a:defRPr sz="1100" b="1">
                          <a:solidFill>
                            <a:srgbClr val="22D3EE"/>
                          </a:solidFill>
                          <a:latin typeface="Times New Roman"/>
                        </a:defRPr>
                      </a:pPr>
                      <a:r>
                        <a:t>39.2%</a:t>
                      </a:r>
                    </a:p>
                  </a:txBody>
                  <a:tcPr>
                    <a:solidFill>
                      <a:srgbClr val="101216"/>
                    </a:solidFill>
                  </a:tcPr>
                </a:tc>
              </a:tr>
            </a:tbl>
          </a:graphicData>
        </a:graphic>
      </p:graphicFrame>
      <p:sp>
        <p:nvSpPr>
          <p:cNvPr id="11" name="Rectangle 10"/>
          <p:cNvSpPr/>
          <p:nvPr/>
        </p:nvSpPr>
        <p:spPr>
          <a:xfrm>
            <a:off x="731520" y="3931920"/>
            <a:ext cx="107286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23360"/>
            <a:ext cx="10362895" cy="365760"/>
          </a:xfrm>
          <a:prstGeom prst="rect">
            <a:avLst/>
          </a:prstGeom>
          <a:noFill/>
        </p:spPr>
        <p:txBody>
          <a:bodyPr wrap="none">
            <a:spAutoFit/>
          </a:bodyPr>
          <a:lstStyle/>
          <a:p>
            <a:pPr>
              <a:defRPr sz="1200" b="1">
                <a:solidFill>
                  <a:srgbClr val="FBBF24"/>
                </a:solidFill>
                <a:latin typeface="Times New Roman"/>
              </a:defRPr>
            </a:pPr>
            <a:r>
              <a:t>CLASS IMBALANCE HANDLING EXPERIMENTATION (XGBOOST)</a:t>
            </a:r>
          </a:p>
        </p:txBody>
      </p:sp>
      <p:graphicFrame>
        <p:nvGraphicFramePr>
          <p:cNvPr id="13" name="Table 12"/>
          <p:cNvGraphicFramePr>
            <a:graphicFrameLocks noGrp="1"/>
          </p:cNvGraphicFramePr>
          <p:nvPr/>
        </p:nvGraphicFramePr>
        <p:xfrm>
          <a:off x="914400" y="4343400"/>
          <a:ext cx="10362895" cy="1554480"/>
        </p:xfrm>
        <a:graphic>
          <a:graphicData uri="http://schemas.openxmlformats.org/drawingml/2006/table">
            <a:tbl>
              <a:tblPr firstRow="1" bandRow="1">
                <a:tableStyleId>{5C22544A-7EE6-4342-B048-85BDC9FD1C3A}</a:tableStyleId>
              </a:tblPr>
              <a:tblGrid>
                <a:gridCol w="1727149"/>
                <a:gridCol w="1727149"/>
                <a:gridCol w="1727149"/>
                <a:gridCol w="1727149"/>
                <a:gridCol w="1727149"/>
                <a:gridCol w="1727150"/>
              </a:tblGrid>
              <a:tr h="388620">
                <a:tc>
                  <a:txBody>
                    <a:bodyPr/>
                    <a:lstStyle/>
                    <a:p>
                      <a:pPr>
                        <a:defRPr sz="1100" b="1">
                          <a:solidFill>
                            <a:srgbClr val="22D3EE"/>
                          </a:solidFill>
                          <a:latin typeface="Times New Roman"/>
                        </a:defRPr>
                      </a:pPr>
                      <a:r>
                        <a:t>Imbalance Strategy</a:t>
                      </a:r>
                    </a:p>
                  </a:txBody>
                  <a:tcPr>
                    <a:solidFill>
                      <a:srgbClr val="2D3748"/>
                    </a:solidFill>
                  </a:tcPr>
                </a:tc>
                <a:tc>
                  <a:txBody>
                    <a:bodyPr/>
                    <a:lstStyle/>
                    <a:p>
                      <a:pPr>
                        <a:defRPr sz="1100" b="1">
                          <a:solidFill>
                            <a:srgbClr val="22D3EE"/>
                          </a:solidFill>
                          <a:latin typeface="Times New Roman"/>
                        </a:defRPr>
                      </a:pPr>
                      <a:r>
                        <a:t>Precision</a:t>
                      </a:r>
                    </a:p>
                  </a:txBody>
                  <a:tcPr>
                    <a:solidFill>
                      <a:srgbClr val="2D3748"/>
                    </a:solidFill>
                  </a:tcPr>
                </a:tc>
                <a:tc>
                  <a:txBody>
                    <a:bodyPr/>
                    <a:lstStyle/>
                    <a:p>
                      <a:pPr>
                        <a:defRPr sz="1100" b="1">
                          <a:solidFill>
                            <a:srgbClr val="22D3EE"/>
                          </a:solidFill>
                          <a:latin typeface="Times New Roman"/>
                        </a:defRPr>
                      </a:pPr>
                      <a:r>
                        <a:t>Recall</a:t>
                      </a:r>
                    </a:p>
                  </a:txBody>
                  <a:tcPr>
                    <a:solidFill>
                      <a:srgbClr val="2D3748"/>
                    </a:solidFill>
                  </a:tcPr>
                </a:tc>
                <a:tc>
                  <a:txBody>
                    <a:bodyPr/>
                    <a:lstStyle/>
                    <a:p>
                      <a:pPr>
                        <a:defRPr sz="1100" b="1">
                          <a:solidFill>
                            <a:srgbClr val="22D3EE"/>
                          </a:solidFill>
                          <a:latin typeface="Times New Roman"/>
                        </a:defRPr>
                      </a:pPr>
                      <a:r>
                        <a:t>F1-Score</a:t>
                      </a:r>
                    </a:p>
                  </a:txBody>
                  <a:tcPr>
                    <a:solidFill>
                      <a:srgbClr val="2D3748"/>
                    </a:solidFill>
                  </a:tcPr>
                </a:tc>
                <a:tc>
                  <a:txBody>
                    <a:bodyPr/>
                    <a:lstStyle/>
                    <a:p>
                      <a:pPr>
                        <a:defRPr sz="1100" b="1">
                          <a:solidFill>
                            <a:srgbClr val="22D3EE"/>
                          </a:solidFill>
                          <a:latin typeface="Times New Roman"/>
                        </a:defRPr>
                      </a:pPr>
                      <a:r>
                        <a:t>PR-AUC</a:t>
                      </a:r>
                    </a:p>
                  </a:txBody>
                  <a:tcPr>
                    <a:solidFill>
                      <a:srgbClr val="2D3748"/>
                    </a:solidFill>
                  </a:tcPr>
                </a:tc>
                <a:tc>
                  <a:txBody>
                    <a:bodyPr/>
                    <a:lstStyle/>
                    <a:p>
                      <a:pPr>
                        <a:defRPr sz="1100" b="1">
                          <a:solidFill>
                            <a:srgbClr val="22D3EE"/>
                          </a:solidFill>
                          <a:latin typeface="Times New Roman"/>
                        </a:defRPr>
                      </a:pPr>
                      <a:r>
                        <a:t>Operational Assessment</a:t>
                      </a:r>
                    </a:p>
                  </a:txBody>
                  <a:tcPr>
                    <a:solidFill>
                      <a:srgbClr val="2D3748"/>
                    </a:solidFill>
                  </a:tcPr>
                </a:tc>
              </a:tr>
              <a:tr h="388620">
                <a:tc>
                  <a:txBody>
                    <a:bodyPr/>
                    <a:lstStyle/>
                    <a:p>
                      <a:pPr>
                        <a:defRPr sz="1100">
                          <a:solidFill>
                            <a:srgbClr val="F0F2F5"/>
                          </a:solidFill>
                          <a:latin typeface="Times New Roman"/>
                        </a:defRPr>
                      </a:pPr>
                      <a:r>
                        <a:t>Experiment A: No Balancing</a:t>
                      </a:r>
                    </a:p>
                  </a:txBody>
                  <a:tcPr>
                    <a:solidFill>
                      <a:srgbClr val="181C24"/>
                    </a:solidFill>
                  </a:tcPr>
                </a:tc>
                <a:tc>
                  <a:txBody>
                    <a:bodyPr/>
                    <a:lstStyle/>
                    <a:p>
                      <a:pPr>
                        <a:defRPr sz="1100">
                          <a:solidFill>
                            <a:srgbClr val="9CA3AF"/>
                          </a:solidFill>
                          <a:latin typeface="Times New Roman"/>
                        </a:defRPr>
                      </a:pPr>
                      <a:r>
                        <a:t>0.6961</a:t>
                      </a:r>
                    </a:p>
                  </a:txBody>
                  <a:tcPr>
                    <a:solidFill>
                      <a:srgbClr val="181C24"/>
                    </a:solidFill>
                  </a:tcPr>
                </a:tc>
                <a:tc>
                  <a:txBody>
                    <a:bodyPr/>
                    <a:lstStyle/>
                    <a:p>
                      <a:pPr>
                        <a:defRPr sz="1100">
                          <a:solidFill>
                            <a:srgbClr val="9CA3AF"/>
                          </a:solidFill>
                          <a:latin typeface="Times New Roman"/>
                        </a:defRPr>
                      </a:pPr>
                      <a:r>
                        <a:t>0.1310</a:t>
                      </a:r>
                    </a:p>
                  </a:txBody>
                  <a:tcPr>
                    <a:solidFill>
                      <a:srgbClr val="181C24"/>
                    </a:solidFill>
                  </a:tcPr>
                </a:tc>
                <a:tc>
                  <a:txBody>
                    <a:bodyPr/>
                    <a:lstStyle/>
                    <a:p>
                      <a:pPr>
                        <a:defRPr sz="1100">
                          <a:solidFill>
                            <a:srgbClr val="9CA3AF"/>
                          </a:solidFill>
                          <a:latin typeface="Times New Roman"/>
                        </a:defRPr>
                      </a:pPr>
                      <a:r>
                        <a:t>0.2205</a:t>
                      </a:r>
                    </a:p>
                  </a:txBody>
                  <a:tcPr>
                    <a:solidFill>
                      <a:srgbClr val="181C24"/>
                    </a:solidFill>
                  </a:tcPr>
                </a:tc>
                <a:tc>
                  <a:txBody>
                    <a:bodyPr/>
                    <a:lstStyle/>
                    <a:p>
                      <a:pPr>
                        <a:defRPr sz="1100">
                          <a:solidFill>
                            <a:srgbClr val="9CA3AF"/>
                          </a:solidFill>
                          <a:latin typeface="Times New Roman"/>
                        </a:defRPr>
                      </a:pPr>
                      <a:r>
                        <a:t>0.3746</a:t>
                      </a:r>
                    </a:p>
                  </a:txBody>
                  <a:tcPr>
                    <a:solidFill>
                      <a:srgbClr val="181C24"/>
                    </a:solidFill>
                  </a:tcPr>
                </a:tc>
                <a:tc>
                  <a:txBody>
                    <a:bodyPr/>
                    <a:lstStyle/>
                    <a:p>
                      <a:pPr>
                        <a:defRPr sz="1100">
                          <a:solidFill>
                            <a:srgbClr val="9CA3AF"/>
                          </a:solidFill>
                          <a:latin typeface="Times New Roman"/>
                        </a:defRPr>
                      </a:pPr>
                      <a:r>
                        <a:t>High precision but misses 87% of theft cases.</a:t>
                      </a:r>
                    </a:p>
                  </a:txBody>
                  <a:tcPr>
                    <a:solidFill>
                      <a:srgbClr val="181C24"/>
                    </a:solidFill>
                  </a:tcPr>
                </a:tc>
              </a:tr>
              <a:tr h="388620">
                <a:tc>
                  <a:txBody>
                    <a:bodyPr/>
                    <a:lstStyle/>
                    <a:p>
                      <a:pPr>
                        <a:defRPr sz="1100" b="1">
                          <a:solidFill>
                            <a:srgbClr val="34D399"/>
                          </a:solidFill>
                          <a:latin typeface="Times New Roman"/>
                        </a:defRPr>
                      </a:pPr>
                      <a:r>
                        <a:t>Experiment B: Class Weighting (Selected)</a:t>
                      </a:r>
                    </a:p>
                  </a:txBody>
                  <a:tcPr>
                    <a:solidFill>
                      <a:srgbClr val="101216"/>
                    </a:solidFill>
                  </a:tcPr>
                </a:tc>
                <a:tc>
                  <a:txBody>
                    <a:bodyPr/>
                    <a:lstStyle/>
                    <a:p>
                      <a:pPr>
                        <a:defRPr sz="1100" b="1">
                          <a:solidFill>
                            <a:srgbClr val="34D399"/>
                          </a:solidFill>
                          <a:latin typeface="Times New Roman"/>
                        </a:defRPr>
                      </a:pPr>
                      <a:r>
                        <a:t>0.2507</a:t>
                      </a:r>
                    </a:p>
                  </a:txBody>
                  <a:tcPr>
                    <a:solidFill>
                      <a:srgbClr val="101216"/>
                    </a:solidFill>
                  </a:tcPr>
                </a:tc>
                <a:tc>
                  <a:txBody>
                    <a:bodyPr/>
                    <a:lstStyle/>
                    <a:p>
                      <a:pPr>
                        <a:defRPr sz="1100" b="1">
                          <a:solidFill>
                            <a:srgbClr val="34D399"/>
                          </a:solidFill>
                          <a:latin typeface="Times New Roman"/>
                        </a:defRPr>
                      </a:pPr>
                      <a:r>
                        <a:t>0.5258</a:t>
                      </a:r>
                    </a:p>
                  </a:txBody>
                  <a:tcPr>
                    <a:solidFill>
                      <a:srgbClr val="101216"/>
                    </a:solidFill>
                  </a:tcPr>
                </a:tc>
                <a:tc>
                  <a:txBody>
                    <a:bodyPr/>
                    <a:lstStyle/>
                    <a:p>
                      <a:pPr>
                        <a:defRPr sz="1100" b="1">
                          <a:solidFill>
                            <a:srgbClr val="34D399"/>
                          </a:solidFill>
                          <a:latin typeface="Times New Roman"/>
                        </a:defRPr>
                      </a:pPr>
                      <a:r>
                        <a:t>0.3395</a:t>
                      </a:r>
                    </a:p>
                  </a:txBody>
                  <a:tcPr>
                    <a:solidFill>
                      <a:srgbClr val="101216"/>
                    </a:solidFill>
                  </a:tcPr>
                </a:tc>
                <a:tc>
                  <a:txBody>
                    <a:bodyPr/>
                    <a:lstStyle/>
                    <a:p>
                      <a:pPr>
                        <a:defRPr sz="1100" b="1">
                          <a:solidFill>
                            <a:srgbClr val="34D399"/>
                          </a:solidFill>
                          <a:latin typeface="Times New Roman"/>
                        </a:defRPr>
                      </a:pPr>
                      <a:r>
                        <a:t>0.3605</a:t>
                      </a:r>
                    </a:p>
                  </a:txBody>
                  <a:tcPr>
                    <a:solidFill>
                      <a:srgbClr val="101216"/>
                    </a:solidFill>
                  </a:tcPr>
                </a:tc>
                <a:tc>
                  <a:txBody>
                    <a:bodyPr/>
                    <a:lstStyle/>
                    <a:p>
                      <a:pPr>
                        <a:defRPr sz="1100" b="1">
                          <a:solidFill>
                            <a:srgbClr val="34D399"/>
                          </a:solidFill>
                          <a:latin typeface="Times New Roman"/>
                        </a:defRPr>
                      </a:pPr>
                      <a:r>
                        <a:t>Optimal operational balance for squad capacity.</a:t>
                      </a:r>
                    </a:p>
                  </a:txBody>
                  <a:tcPr>
                    <a:solidFill>
                      <a:srgbClr val="101216"/>
                    </a:solidFill>
                  </a:tcPr>
                </a:tc>
              </a:tr>
              <a:tr h="388620">
                <a:tc>
                  <a:txBody>
                    <a:bodyPr/>
                    <a:lstStyle/>
                    <a:p>
                      <a:pPr>
                        <a:defRPr sz="1100">
                          <a:solidFill>
                            <a:srgbClr val="F0F2F5"/>
                          </a:solidFill>
                          <a:latin typeface="Times New Roman"/>
                        </a:defRPr>
                      </a:pPr>
                      <a:r>
                        <a:t>Experiment C: SMOTE (Train Only)</a:t>
                      </a:r>
                    </a:p>
                  </a:txBody>
                  <a:tcPr>
                    <a:solidFill>
                      <a:srgbClr val="181C24"/>
                    </a:solidFill>
                  </a:tcPr>
                </a:tc>
                <a:tc>
                  <a:txBody>
                    <a:bodyPr/>
                    <a:lstStyle/>
                    <a:p>
                      <a:pPr>
                        <a:defRPr sz="1100">
                          <a:solidFill>
                            <a:srgbClr val="9CA3AF"/>
                          </a:solidFill>
                          <a:latin typeface="Times New Roman"/>
                        </a:defRPr>
                      </a:pPr>
                      <a:r>
                        <a:t>0.2797</a:t>
                      </a:r>
                    </a:p>
                  </a:txBody>
                  <a:tcPr>
                    <a:solidFill>
                      <a:srgbClr val="181C24"/>
                    </a:solidFill>
                  </a:tcPr>
                </a:tc>
                <a:tc>
                  <a:txBody>
                    <a:bodyPr/>
                    <a:lstStyle/>
                    <a:p>
                      <a:pPr>
                        <a:defRPr sz="1100">
                          <a:solidFill>
                            <a:srgbClr val="9CA3AF"/>
                          </a:solidFill>
                          <a:latin typeface="Times New Roman"/>
                        </a:defRPr>
                      </a:pPr>
                      <a:r>
                        <a:t>0.3948</a:t>
                      </a:r>
                    </a:p>
                  </a:txBody>
                  <a:tcPr>
                    <a:solidFill>
                      <a:srgbClr val="181C24"/>
                    </a:solidFill>
                  </a:tcPr>
                </a:tc>
                <a:tc>
                  <a:txBody>
                    <a:bodyPr/>
                    <a:lstStyle/>
                    <a:p>
                      <a:pPr>
                        <a:defRPr sz="1100">
                          <a:solidFill>
                            <a:srgbClr val="9CA3AF"/>
                          </a:solidFill>
                          <a:latin typeface="Times New Roman"/>
                        </a:defRPr>
                      </a:pPr>
                      <a:r>
                        <a:t>0.3275</a:t>
                      </a:r>
                    </a:p>
                  </a:txBody>
                  <a:tcPr>
                    <a:solidFill>
                      <a:srgbClr val="181C24"/>
                    </a:solidFill>
                  </a:tcPr>
                </a:tc>
                <a:tc>
                  <a:txBody>
                    <a:bodyPr/>
                    <a:lstStyle/>
                    <a:p>
                      <a:pPr>
                        <a:defRPr sz="1100">
                          <a:solidFill>
                            <a:srgbClr val="9CA3AF"/>
                          </a:solidFill>
                          <a:latin typeface="Times New Roman"/>
                        </a:defRPr>
                      </a:pPr>
                      <a:r>
                        <a:t>0.3146</a:t>
                      </a:r>
                    </a:p>
                  </a:txBody>
                  <a:tcPr>
                    <a:solidFill>
                      <a:srgbClr val="181C24"/>
                    </a:solidFill>
                  </a:tcPr>
                </a:tc>
                <a:tc>
                  <a:txBody>
                    <a:bodyPr/>
                    <a:lstStyle/>
                    <a:p>
                      <a:pPr>
                        <a:defRPr sz="1100">
                          <a:solidFill>
                            <a:srgbClr val="9CA3AF"/>
                          </a:solidFill>
                          <a:latin typeface="Times New Roman"/>
                        </a:defRPr>
                      </a:pPr>
                      <a:r>
                        <a:t>Synthetic interpolation distorted boundary curves.</a:t>
                      </a:r>
                    </a:p>
                  </a:txBody>
                  <a:tcPr>
                    <a:solidFill>
                      <a:srgbClr val="181C24"/>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04 | METHODOLOGY &amp; MACHINE LEARNING PIPELINE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Champion Model Evaluation on Held-Out Test Set</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9 of 38</a:t>
            </a:r>
          </a:p>
        </p:txBody>
      </p:sp>
      <p:sp>
        <p:nvSpPr>
          <p:cNvPr id="8" name="Rectangle 7"/>
          <p:cNvSpPr/>
          <p:nvPr/>
        </p:nvSpPr>
        <p:spPr>
          <a:xfrm>
            <a:off x="731520" y="1645920"/>
            <a:ext cx="2514600" cy="16459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83080"/>
            <a:ext cx="2148840" cy="1371600"/>
          </a:xfrm>
          <a:prstGeom prst="rect">
            <a:avLst/>
          </a:prstGeom>
          <a:noFill/>
        </p:spPr>
        <p:txBody>
          <a:bodyPr wrap="none">
            <a:spAutoFit/>
          </a:bodyPr>
          <a:lstStyle/>
          <a:p>
            <a:pPr>
              <a:defRPr sz="1100">
                <a:solidFill>
                  <a:srgbClr val="9CA3AF"/>
                </a:solidFill>
                <a:latin typeface="Times New Roman"/>
              </a:defRPr>
            </a:pPr>
            <a:r>
              <a:t>PR-AUC (Primary)</a:t>
            </a:r>
          </a:p>
          <a:p>
            <a:pPr>
              <a:defRPr sz="2600" b="1">
                <a:solidFill>
                  <a:srgbClr val="22D3EE"/>
                </a:solidFill>
                <a:latin typeface="Times New Roman"/>
              </a:defRPr>
            </a:pPr>
            <a:r>
              <a:t>0.3164</a:t>
            </a:r>
          </a:p>
          <a:p>
            <a:pPr>
              <a:defRPr sz="1000">
                <a:solidFill>
                  <a:srgbClr val="9CA3AF"/>
                </a:solidFill>
                <a:latin typeface="Times New Roman"/>
              </a:defRPr>
            </a:pPr>
            <a:r>
              <a:t>Baseline: 0.0853 (3.7x improvement)</a:t>
            </a:r>
          </a:p>
        </p:txBody>
      </p:sp>
      <p:sp>
        <p:nvSpPr>
          <p:cNvPr id="10" name="Rectangle 9"/>
          <p:cNvSpPr/>
          <p:nvPr/>
        </p:nvSpPr>
        <p:spPr>
          <a:xfrm>
            <a:off x="3474720" y="1645920"/>
            <a:ext cx="2514600" cy="16459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783080"/>
            <a:ext cx="2148840" cy="1371600"/>
          </a:xfrm>
          <a:prstGeom prst="rect">
            <a:avLst/>
          </a:prstGeom>
          <a:noFill/>
        </p:spPr>
        <p:txBody>
          <a:bodyPr wrap="none">
            <a:spAutoFit/>
          </a:bodyPr>
          <a:lstStyle/>
          <a:p>
            <a:pPr>
              <a:defRPr sz="1100">
                <a:solidFill>
                  <a:srgbClr val="9CA3AF"/>
                </a:solidFill>
                <a:latin typeface="Times New Roman"/>
              </a:defRPr>
            </a:pPr>
            <a:r>
              <a:t>ROC-AUC</a:t>
            </a:r>
          </a:p>
          <a:p>
            <a:pPr>
              <a:defRPr sz="2600" b="1">
                <a:solidFill>
                  <a:srgbClr val="F0F2F5"/>
                </a:solidFill>
                <a:latin typeface="Times New Roman"/>
              </a:defRPr>
            </a:pPr>
            <a:r>
              <a:t>0.7758</a:t>
            </a:r>
          </a:p>
          <a:p>
            <a:pPr>
              <a:defRPr sz="1000">
                <a:solidFill>
                  <a:srgbClr val="9CA3AF"/>
                </a:solidFill>
                <a:latin typeface="Times New Roman"/>
              </a:defRPr>
            </a:pPr>
            <a:r>
              <a:t>Discriminative separation capability</a:t>
            </a:r>
          </a:p>
        </p:txBody>
      </p:sp>
      <p:sp>
        <p:nvSpPr>
          <p:cNvPr id="12" name="Rectangle 11"/>
          <p:cNvSpPr/>
          <p:nvPr/>
        </p:nvSpPr>
        <p:spPr>
          <a:xfrm>
            <a:off x="6217920" y="1645920"/>
            <a:ext cx="2514600" cy="16459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83080"/>
            <a:ext cx="2148840" cy="1371600"/>
          </a:xfrm>
          <a:prstGeom prst="rect">
            <a:avLst/>
          </a:prstGeom>
          <a:noFill/>
        </p:spPr>
        <p:txBody>
          <a:bodyPr wrap="none">
            <a:spAutoFit/>
          </a:bodyPr>
          <a:lstStyle/>
          <a:p>
            <a:pPr>
              <a:defRPr sz="1100">
                <a:solidFill>
                  <a:srgbClr val="9CA3AF"/>
                </a:solidFill>
                <a:latin typeface="Times New Roman"/>
              </a:defRPr>
            </a:pPr>
            <a:r>
              <a:t>Test F1-Score</a:t>
            </a:r>
          </a:p>
          <a:p>
            <a:pPr>
              <a:defRPr sz="2600" b="1">
                <a:solidFill>
                  <a:srgbClr val="34D399"/>
                </a:solidFill>
                <a:latin typeface="Times New Roman"/>
              </a:defRPr>
            </a:pPr>
            <a:r>
              <a:t>0.3748</a:t>
            </a:r>
          </a:p>
          <a:p>
            <a:pPr>
              <a:defRPr sz="1000">
                <a:solidFill>
                  <a:srgbClr val="9CA3AF"/>
                </a:solidFill>
                <a:latin typeface="Times New Roman"/>
              </a:defRPr>
            </a:pPr>
            <a:r>
              <a:t>At calibrated threshold 0.65</a:t>
            </a:r>
          </a:p>
        </p:txBody>
      </p:sp>
      <p:sp>
        <p:nvSpPr>
          <p:cNvPr id="14" name="Rectangle 13"/>
          <p:cNvSpPr/>
          <p:nvPr/>
        </p:nvSpPr>
        <p:spPr>
          <a:xfrm>
            <a:off x="8961120" y="1645920"/>
            <a:ext cx="2514600" cy="16459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783080"/>
            <a:ext cx="2148840" cy="1371600"/>
          </a:xfrm>
          <a:prstGeom prst="rect">
            <a:avLst/>
          </a:prstGeom>
          <a:noFill/>
        </p:spPr>
        <p:txBody>
          <a:bodyPr wrap="none">
            <a:spAutoFit/>
          </a:bodyPr>
          <a:lstStyle/>
          <a:p>
            <a:pPr>
              <a:defRPr sz="1100">
                <a:solidFill>
                  <a:srgbClr val="9CA3AF"/>
                </a:solidFill>
                <a:latin typeface="Times New Roman"/>
              </a:defRPr>
            </a:pPr>
            <a:r>
              <a:t>Precision / Recall</a:t>
            </a:r>
          </a:p>
          <a:p>
            <a:pPr>
              <a:defRPr sz="2600" b="1">
                <a:solidFill>
                  <a:srgbClr val="FBBF24"/>
                </a:solidFill>
                <a:latin typeface="Times New Roman"/>
              </a:defRPr>
            </a:pPr>
            <a:r>
              <a:t>38.9% / 36.2%</a:t>
            </a:r>
          </a:p>
          <a:p>
            <a:pPr>
              <a:defRPr sz="1000">
                <a:solidFill>
                  <a:srgbClr val="9CA3AF"/>
                </a:solidFill>
                <a:latin typeface="Times New Roman"/>
              </a:defRPr>
            </a:pPr>
            <a:r>
              <a:t>Balanced operational trade-off</a:t>
            </a:r>
          </a:p>
        </p:txBody>
      </p:sp>
      <p:sp>
        <p:nvSpPr>
          <p:cNvPr id="16" name="Rectangle 15"/>
          <p:cNvSpPr/>
          <p:nvPr/>
        </p:nvSpPr>
        <p:spPr>
          <a:xfrm>
            <a:off x="731520" y="3474720"/>
            <a:ext cx="5120640" cy="25603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611880"/>
            <a:ext cx="4754880" cy="2286000"/>
          </a:xfrm>
          <a:prstGeom prst="rect">
            <a:avLst/>
          </a:prstGeom>
          <a:noFill/>
        </p:spPr>
        <p:txBody>
          <a:bodyPr wrap="none">
            <a:spAutoFit/>
          </a:bodyPr>
          <a:lstStyle/>
          <a:p>
            <a:pPr>
              <a:defRPr sz="1200" b="1">
                <a:solidFill>
                  <a:srgbClr val="22D3EE"/>
                </a:solidFill>
                <a:latin typeface="Times New Roman"/>
              </a:defRPr>
            </a:pPr>
            <a:r>
              <a:t>UNBIASED TEST CONFUSION MATRIX (6,356 CONSUMERS)</a:t>
            </a:r>
          </a:p>
        </p:txBody>
      </p:sp>
      <p:graphicFrame>
        <p:nvGraphicFramePr>
          <p:cNvPr id="18" name="Table 17"/>
          <p:cNvGraphicFramePr>
            <a:graphicFrameLocks noGrp="1"/>
          </p:cNvGraphicFramePr>
          <p:nvPr/>
        </p:nvGraphicFramePr>
        <p:xfrm>
          <a:off x="914400" y="3977639"/>
          <a:ext cx="4754880" cy="1280160"/>
        </p:xfrm>
        <a:graphic>
          <a:graphicData uri="http://schemas.openxmlformats.org/drawingml/2006/table">
            <a:tbl>
              <a:tblPr firstRow="1" bandRow="1">
                <a:tableStyleId>{5C22544A-7EE6-4342-B048-85BDC9FD1C3A}</a:tableStyleId>
              </a:tblPr>
              <a:tblGrid>
                <a:gridCol w="1584960"/>
                <a:gridCol w="1584960"/>
                <a:gridCol w="1584960"/>
              </a:tblGrid>
              <a:tr h="426720">
                <a:tc>
                  <a:txBody>
                    <a:bodyPr/>
                    <a:lstStyle/>
                    <a:p>
                      <a:pPr>
                        <a:defRPr sz="1050">
                          <a:solidFill>
                            <a:srgbClr val="22D3EE"/>
                          </a:solidFill>
                          <a:latin typeface="Times New Roman"/>
                        </a:defRPr>
                      </a:pPr>
                    </a:p>
                  </a:txBody>
                  <a:tcPr>
                    <a:solidFill>
                      <a:srgbClr val="2D3748"/>
                    </a:solidFill>
                  </a:tcPr>
                </a:tc>
                <a:tc>
                  <a:txBody>
                    <a:bodyPr/>
                    <a:lstStyle/>
                    <a:p>
                      <a:pPr>
                        <a:defRPr sz="1050">
                          <a:solidFill>
                            <a:srgbClr val="22D3EE"/>
                          </a:solidFill>
                          <a:latin typeface="Times New Roman"/>
                        </a:defRPr>
                      </a:pPr>
                      <a:r>
                        <a:t>Pred. Normal</a:t>
                      </a:r>
                    </a:p>
                  </a:txBody>
                  <a:tcPr>
                    <a:solidFill>
                      <a:srgbClr val="2D3748"/>
                    </a:solidFill>
                  </a:tcPr>
                </a:tc>
                <a:tc>
                  <a:txBody>
                    <a:bodyPr/>
                    <a:lstStyle/>
                    <a:p>
                      <a:pPr>
                        <a:defRPr sz="1050">
                          <a:solidFill>
                            <a:srgbClr val="22D3EE"/>
                          </a:solidFill>
                          <a:latin typeface="Times New Roman"/>
                        </a:defRPr>
                      </a:pPr>
                      <a:r>
                        <a:t>Pred. Theft</a:t>
                      </a:r>
                    </a:p>
                  </a:txBody>
                  <a:tcPr>
                    <a:solidFill>
                      <a:srgbClr val="2D3748"/>
                    </a:solidFill>
                  </a:tcPr>
                </a:tc>
              </a:tr>
              <a:tr h="426720">
                <a:tc>
                  <a:txBody>
                    <a:bodyPr/>
                    <a:lstStyle/>
                    <a:p>
                      <a:pPr>
                        <a:defRPr sz="1050">
                          <a:solidFill>
                            <a:srgbClr val="22D3EE"/>
                          </a:solidFill>
                          <a:latin typeface="Times New Roman"/>
                        </a:defRPr>
                      </a:pPr>
                      <a:r>
                        <a:t>Actual Normal</a:t>
                      </a:r>
                    </a:p>
                  </a:txBody>
                  <a:tcPr>
                    <a:solidFill>
                      <a:srgbClr val="2D3748"/>
                    </a:solidFill>
                  </a:tcPr>
                </a:tc>
                <a:tc>
                  <a:txBody>
                    <a:bodyPr/>
                    <a:lstStyle/>
                    <a:p>
                      <a:pPr>
                        <a:defRPr sz="1050">
                          <a:solidFill>
                            <a:srgbClr val="F0F2F5"/>
                          </a:solidFill>
                          <a:latin typeface="Times New Roman"/>
                        </a:defRPr>
                      </a:pPr>
                      <a:r>
                        <a:t>5,506 (TN)</a:t>
                      </a:r>
                    </a:p>
                  </a:txBody>
                  <a:tcPr>
                    <a:solidFill>
                      <a:srgbClr val="101216"/>
                    </a:solidFill>
                  </a:tcPr>
                </a:tc>
                <a:tc>
                  <a:txBody>
                    <a:bodyPr/>
                    <a:lstStyle/>
                    <a:p>
                      <a:pPr>
                        <a:defRPr sz="1050">
                          <a:solidFill>
                            <a:srgbClr val="F0F2F5"/>
                          </a:solidFill>
                          <a:latin typeface="Times New Roman"/>
                        </a:defRPr>
                      </a:pPr>
                      <a:r>
                        <a:t>308 (FP - 5.3% FPR)</a:t>
                      </a:r>
                    </a:p>
                  </a:txBody>
                  <a:tcPr>
                    <a:solidFill>
                      <a:srgbClr val="101216"/>
                    </a:solidFill>
                  </a:tcPr>
                </a:tc>
              </a:tr>
              <a:tr h="426720">
                <a:tc>
                  <a:txBody>
                    <a:bodyPr/>
                    <a:lstStyle/>
                    <a:p>
                      <a:pPr>
                        <a:defRPr sz="1050">
                          <a:solidFill>
                            <a:srgbClr val="22D3EE"/>
                          </a:solidFill>
                          <a:latin typeface="Times New Roman"/>
                        </a:defRPr>
                      </a:pPr>
                      <a:r>
                        <a:t>Actual Theft</a:t>
                      </a:r>
                    </a:p>
                  </a:txBody>
                  <a:tcPr>
                    <a:solidFill>
                      <a:srgbClr val="2D3748"/>
                    </a:solidFill>
                  </a:tcPr>
                </a:tc>
                <a:tc>
                  <a:txBody>
                    <a:bodyPr/>
                    <a:lstStyle/>
                    <a:p>
                      <a:pPr>
                        <a:defRPr sz="1050">
                          <a:solidFill>
                            <a:srgbClr val="F0F2F5"/>
                          </a:solidFill>
                          <a:latin typeface="Times New Roman"/>
                        </a:defRPr>
                      </a:pPr>
                      <a:r>
                        <a:t>346 (FN)</a:t>
                      </a:r>
                    </a:p>
                  </a:txBody>
                  <a:tcPr>
                    <a:solidFill>
                      <a:srgbClr val="101216"/>
                    </a:solidFill>
                  </a:tcPr>
                </a:tc>
                <a:tc>
                  <a:txBody>
                    <a:bodyPr/>
                    <a:lstStyle/>
                    <a:p>
                      <a:pPr>
                        <a:defRPr sz="1050">
                          <a:solidFill>
                            <a:srgbClr val="F0F2F5"/>
                          </a:solidFill>
                          <a:latin typeface="Times New Roman"/>
                        </a:defRPr>
                      </a:pPr>
                      <a:r>
                        <a:t>196 (TP - 36.2% Recall)</a:t>
                      </a:r>
                    </a:p>
                  </a:txBody>
                  <a:tcPr>
                    <a:solidFill>
                      <a:srgbClr val="101216"/>
                    </a:solidFill>
                  </a:tcPr>
                </a:tc>
              </a:tr>
            </a:tbl>
          </a:graphicData>
        </a:graphic>
      </p:graphicFrame>
      <p:sp>
        <p:nvSpPr>
          <p:cNvPr id="19" name="Rectangle 18"/>
          <p:cNvSpPr/>
          <p:nvPr/>
        </p:nvSpPr>
        <p:spPr>
          <a:xfrm>
            <a:off x="6217920" y="3474720"/>
            <a:ext cx="5242255" cy="25603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611880"/>
            <a:ext cx="4693615" cy="2286000"/>
          </a:xfrm>
          <a:prstGeom prst="rect">
            <a:avLst/>
          </a:prstGeom>
          <a:noFill/>
        </p:spPr>
        <p:txBody>
          <a:bodyPr wrap="square">
            <a:spAutoFit/>
          </a:bodyPr>
          <a:lstStyle/>
          <a:p>
            <a:pPr>
              <a:defRPr sz="1200" b="1">
                <a:solidFill>
                  <a:srgbClr val="34D399"/>
                </a:solidFill>
                <a:latin typeface="Times New Roman"/>
              </a:defRPr>
            </a:pPr>
            <a:r>
              <a:t>FIELD EFFICIENCY MULTIPLIER (TOP 500 CAPACITY)</a:t>
            </a:r>
          </a:p>
          <a:p>
            <a:pPr>
              <a:spcAft>
                <a:spcPts val="800"/>
              </a:spcAft>
              <a:defRPr sz="1250">
                <a:solidFill>
                  <a:srgbClr val="9CA3AF"/>
                </a:solidFill>
                <a:latin typeface="Times New Roman"/>
              </a:defRPr>
            </a:pPr>
            <a:r>
              <a:t>• Strategy 1 (Random Audit): 8.00% hit rate (40 confirmed thefts)</a:t>
            </a:r>
            <a:br/>
            <a:r>
              <a:t>• Strategy 2 (Operational Priority): 37.20% hit rate (186 confirmed thefts)</a:t>
            </a:r>
            <a:br/>
            <a:r>
              <a:t>• Strategy 3 (Highest ML Risk): 39.00% hit rate (195 confirmed thefts)</a:t>
            </a:r>
          </a:p>
          <a:p>
            <a:pPr algn="just">
              <a:defRPr sz="1200" b="1">
                <a:solidFill>
                  <a:srgbClr val="F0F2F5"/>
                </a:solidFill>
                <a:latin typeface="Times New Roman"/>
              </a:defRPr>
            </a:pPr>
            <a:r>
              <a:t>Impact: The ML prioritization engine delivers a 4.9x efficiency multiplier over status-quo manual auditing, discovering 155 additional theft cases per 500 field dispatches.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04 | METHODOLOGY &amp; MACHINE LEARNING PIPELINE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Explainability Framework Using SHAP TreeExplainer</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10 of 38</a:t>
            </a:r>
          </a:p>
        </p:txBody>
      </p:sp>
      <p:sp>
        <p:nvSpPr>
          <p:cNvPr id="8" name="Rectangle 7"/>
          <p:cNvSpPr/>
          <p:nvPr/>
        </p:nvSpPr>
        <p:spPr>
          <a:xfrm>
            <a:off x="731520" y="1645920"/>
            <a:ext cx="5120640"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828800"/>
            <a:ext cx="4572000" cy="4023360"/>
          </a:xfrm>
          <a:prstGeom prst="rect">
            <a:avLst/>
          </a:prstGeom>
          <a:noFill/>
        </p:spPr>
        <p:txBody>
          <a:bodyPr wrap="square">
            <a:spAutoFit/>
          </a:bodyPr>
          <a:lstStyle/>
          <a:p>
            <a:pPr>
              <a:defRPr sz="1200" b="1">
                <a:solidFill>
                  <a:srgbClr val="22D3EE"/>
                </a:solidFill>
                <a:latin typeface="Times New Roman"/>
              </a:defRPr>
            </a:pPr>
            <a:r>
              <a:t>OPERATIONAL DECISION SUPPORT</a:t>
            </a:r>
          </a:p>
          <a:p>
            <a:pPr>
              <a:spcAft>
                <a:spcPts val="1000"/>
              </a:spcAft>
              <a:defRPr sz="1900" b="1">
                <a:solidFill>
                  <a:srgbClr val="F0F2F5"/>
                </a:solidFill>
                <a:latin typeface="Times New Roman"/>
              </a:defRPr>
            </a:pPr>
            <a:r>
              <a:t>Bridging Machine Learning &amp; Field Law</a:t>
            </a:r>
          </a:p>
          <a:p>
            <a:pPr algn="just">
              <a:lnSpc>
                <a:spcPct val="130000"/>
              </a:lnSpc>
              <a:spcAft>
                <a:spcPts val="1000"/>
              </a:spcAft>
              <a:defRPr sz="1300">
                <a:solidFill>
                  <a:srgbClr val="9CA3AF"/>
                </a:solidFill>
                <a:latin typeface="Times New Roman"/>
              </a:defRPr>
            </a:pPr>
            <a:r>
              <a:t>A black-box prediction is unacceptable for utility enforcement. Utility officers cannot obtain physical audit authorization without demonstrable cause. SHAP (SHapley Additive exPlanations) provides mathematically sound, game-theoretic local feature attributions.</a:t>
            </a:r>
          </a:p>
          <a:p>
            <a:pPr algn="just">
              <a:lnSpc>
                <a:spcPct val="130000"/>
              </a:lnSpc>
              <a:defRPr sz="1300">
                <a:solidFill>
                  <a:srgbClr val="9CA3AF"/>
                </a:solidFill>
                <a:latin typeface="Times New Roman"/>
              </a:defRPr>
            </a:pPr>
            <a:r>
              <a:t>In the inspection portal, each flagged candidate includes an interactive SHAP waterfall breakdown showing exactly which temporal drop, zero-reading anomaly, or quarterly volatility drove their theft probability above the 0.65 threshold.</a:t>
            </a:r>
          </a:p>
        </p:txBody>
      </p:sp>
      <p:sp>
        <p:nvSpPr>
          <p:cNvPr id="10" name="Rectangle 9"/>
          <p:cNvSpPr/>
          <p:nvPr/>
        </p:nvSpPr>
        <p:spPr>
          <a:xfrm>
            <a:off x="6217920" y="1645920"/>
            <a:ext cx="52422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693615" cy="4023360"/>
          </a:xfrm>
          <a:prstGeom prst="rect">
            <a:avLst/>
          </a:prstGeom>
          <a:noFill/>
        </p:spPr>
        <p:txBody>
          <a:bodyPr wrap="square">
            <a:spAutoFit/>
          </a:bodyPr>
          <a:lstStyle/>
          <a:p>
            <a:pPr>
              <a:defRPr sz="1200" b="1">
                <a:solidFill>
                  <a:srgbClr val="34D399"/>
                </a:solidFill>
                <a:latin typeface="Times New Roman"/>
              </a:defRPr>
            </a:pPr>
            <a:r>
              <a:t>GLOBAL SHAP FEATURE IMPORTANCE (VERIFIED)</a:t>
            </a:r>
          </a:p>
        </p:txBody>
      </p:sp>
      <p:graphicFrame>
        <p:nvGraphicFramePr>
          <p:cNvPr id="12" name="Table 11"/>
          <p:cNvGraphicFramePr>
            <a:graphicFrameLocks noGrp="1"/>
          </p:cNvGraphicFramePr>
          <p:nvPr/>
        </p:nvGraphicFramePr>
        <p:xfrm>
          <a:off x="6492240" y="2148840"/>
          <a:ext cx="4693615" cy="2560320"/>
        </p:xfrm>
        <a:graphic>
          <a:graphicData uri="http://schemas.openxmlformats.org/drawingml/2006/table">
            <a:tbl>
              <a:tblPr firstRow="1" bandRow="1">
                <a:tableStyleId>{5C22544A-7EE6-4342-B048-85BDC9FD1C3A}</a:tableStyleId>
              </a:tblPr>
              <a:tblGrid>
                <a:gridCol w="1564538"/>
                <a:gridCol w="1564538"/>
                <a:gridCol w="1564539"/>
              </a:tblGrid>
              <a:tr h="426720">
                <a:tc>
                  <a:txBody>
                    <a:bodyPr/>
                    <a:lstStyle/>
                    <a:p>
                      <a:pPr>
                        <a:defRPr sz="1050">
                          <a:solidFill>
                            <a:srgbClr val="22D3EE"/>
                          </a:solidFill>
                          <a:latin typeface="Times New Roman"/>
                        </a:defRPr>
                      </a:pPr>
                      <a:r>
                        <a:t>Feature Name</a:t>
                      </a:r>
                    </a:p>
                  </a:txBody>
                  <a:tcPr>
                    <a:solidFill>
                      <a:srgbClr val="2D3748"/>
                    </a:solidFill>
                  </a:tcPr>
                </a:tc>
                <a:tc>
                  <a:txBody>
                    <a:bodyPr/>
                    <a:lstStyle/>
                    <a:p>
                      <a:pPr>
                        <a:defRPr sz="1050">
                          <a:solidFill>
                            <a:srgbClr val="22D3EE"/>
                          </a:solidFill>
                          <a:latin typeface="Times New Roman"/>
                        </a:defRPr>
                      </a:pPr>
                      <a:r>
                        <a:t>Mean |SHAP|</a:t>
                      </a:r>
                    </a:p>
                  </a:txBody>
                  <a:tcPr>
                    <a:solidFill>
                      <a:srgbClr val="2D3748"/>
                    </a:solidFill>
                  </a:tcPr>
                </a:tc>
                <a:tc>
                  <a:txBody>
                    <a:bodyPr/>
                    <a:lstStyle/>
                    <a:p>
                      <a:pPr>
                        <a:defRPr sz="1050">
                          <a:solidFill>
                            <a:srgbClr val="22D3EE"/>
                          </a:solidFill>
                          <a:latin typeface="Times New Roman"/>
                        </a:defRPr>
                      </a:pPr>
                      <a:r>
                        <a:t>Operational Significance</a:t>
                      </a:r>
                    </a:p>
                  </a:txBody>
                  <a:tcPr>
                    <a:solidFill>
                      <a:srgbClr val="2D3748"/>
                    </a:solidFill>
                  </a:tcPr>
                </a:tc>
              </a:tr>
              <a:tr h="426720">
                <a:tc>
                  <a:txBody>
                    <a:bodyPr/>
                    <a:lstStyle/>
                    <a:p>
                      <a:pPr>
                        <a:defRPr sz="1050">
                          <a:solidFill>
                            <a:srgbClr val="F0F2F5"/>
                          </a:solidFill>
                          <a:latin typeface="Times New Roman"/>
                        </a:defRPr>
                      </a:pPr>
                      <a:r>
                        <a:t>quarterly_variance_ratio</a:t>
                      </a:r>
                    </a:p>
                  </a:txBody>
                  <a:tcPr>
                    <a:solidFill>
                      <a:srgbClr val="101216"/>
                    </a:solidFill>
                  </a:tcPr>
                </a:tc>
                <a:tc>
                  <a:txBody>
                    <a:bodyPr/>
                    <a:lstStyle/>
                    <a:p>
                      <a:pPr>
                        <a:defRPr sz="1050">
                          <a:solidFill>
                            <a:srgbClr val="F0F2F5"/>
                          </a:solidFill>
                          <a:latin typeface="Times New Roman"/>
                        </a:defRPr>
                      </a:pPr>
                      <a:r>
                        <a:t>0.4553</a:t>
                      </a:r>
                    </a:p>
                  </a:txBody>
                  <a:tcPr>
                    <a:solidFill>
                      <a:srgbClr val="101216"/>
                    </a:solidFill>
                  </a:tcPr>
                </a:tc>
                <a:tc>
                  <a:txBody>
                    <a:bodyPr/>
                    <a:lstStyle/>
                    <a:p>
                      <a:pPr>
                        <a:defRPr sz="1050">
                          <a:solidFill>
                            <a:srgbClr val="F0F2F5"/>
                          </a:solidFill>
                          <a:latin typeface="Times New Roman"/>
                        </a:defRPr>
                      </a:pPr>
                      <a:r>
                        <a:t>Quarter-over-quarter abrupt drop</a:t>
                      </a:r>
                    </a:p>
                  </a:txBody>
                  <a:tcPr>
                    <a:solidFill>
                      <a:srgbClr val="101216"/>
                    </a:solidFill>
                  </a:tcPr>
                </a:tc>
              </a:tr>
              <a:tr h="426720">
                <a:tc>
                  <a:txBody>
                    <a:bodyPr/>
                    <a:lstStyle/>
                    <a:p>
                      <a:pPr>
                        <a:defRPr sz="1050">
                          <a:solidFill>
                            <a:srgbClr val="F0F2F5"/>
                          </a:solidFill>
                          <a:latin typeface="Times New Roman"/>
                        </a:defRPr>
                      </a:pPr>
                      <a:r>
                        <a:t>missing_reading_ratio</a:t>
                      </a:r>
                    </a:p>
                  </a:txBody>
                  <a:tcPr>
                    <a:solidFill>
                      <a:srgbClr val="101216"/>
                    </a:solidFill>
                  </a:tcPr>
                </a:tc>
                <a:tc>
                  <a:txBody>
                    <a:bodyPr/>
                    <a:lstStyle/>
                    <a:p>
                      <a:pPr>
                        <a:defRPr sz="1050">
                          <a:solidFill>
                            <a:srgbClr val="F0F2F5"/>
                          </a:solidFill>
                          <a:latin typeface="Times New Roman"/>
                        </a:defRPr>
                      </a:pPr>
                      <a:r>
                        <a:t>0.2433</a:t>
                      </a:r>
                    </a:p>
                  </a:txBody>
                  <a:tcPr>
                    <a:solidFill>
                      <a:srgbClr val="101216"/>
                    </a:solidFill>
                  </a:tcPr>
                </a:tc>
                <a:tc>
                  <a:txBody>
                    <a:bodyPr/>
                    <a:lstStyle/>
                    <a:p>
                      <a:pPr>
                        <a:defRPr sz="1050">
                          <a:solidFill>
                            <a:srgbClr val="F0F2F5"/>
                          </a:solidFill>
                          <a:latin typeface="Times New Roman"/>
                        </a:defRPr>
                      </a:pPr>
                      <a:r>
                        <a:t>Meter communication dropouts</a:t>
                      </a:r>
                    </a:p>
                  </a:txBody>
                  <a:tcPr>
                    <a:solidFill>
                      <a:srgbClr val="101216"/>
                    </a:solidFill>
                  </a:tcPr>
                </a:tc>
              </a:tr>
              <a:tr h="426720">
                <a:tc>
                  <a:txBody>
                    <a:bodyPr/>
                    <a:lstStyle/>
                    <a:p>
                      <a:pPr>
                        <a:defRPr sz="1050">
                          <a:solidFill>
                            <a:srgbClr val="F0F2F5"/>
                          </a:solidFill>
                          <a:latin typeface="Times New Roman"/>
                        </a:defRPr>
                      </a:pPr>
                      <a:r>
                        <a:t>autocorr_lag1</a:t>
                      </a:r>
                    </a:p>
                  </a:txBody>
                  <a:tcPr>
                    <a:solidFill>
                      <a:srgbClr val="101216"/>
                    </a:solidFill>
                  </a:tcPr>
                </a:tc>
                <a:tc>
                  <a:txBody>
                    <a:bodyPr/>
                    <a:lstStyle/>
                    <a:p>
                      <a:pPr>
                        <a:defRPr sz="1050">
                          <a:solidFill>
                            <a:srgbClr val="F0F2F5"/>
                          </a:solidFill>
                          <a:latin typeface="Times New Roman"/>
                        </a:defRPr>
                      </a:pPr>
                      <a:r>
                        <a:t>0.2225</a:t>
                      </a:r>
                    </a:p>
                  </a:txBody>
                  <a:tcPr>
                    <a:solidFill>
                      <a:srgbClr val="101216"/>
                    </a:solidFill>
                  </a:tcPr>
                </a:tc>
                <a:tc>
                  <a:txBody>
                    <a:bodyPr/>
                    <a:lstStyle/>
                    <a:p>
                      <a:pPr>
                        <a:defRPr sz="1050">
                          <a:solidFill>
                            <a:srgbClr val="F0F2F5"/>
                          </a:solidFill>
                          <a:latin typeface="Times New Roman"/>
                        </a:defRPr>
                      </a:pPr>
                      <a:r>
                        <a:t>Disrupted day-to-day rhythm</a:t>
                      </a:r>
                    </a:p>
                  </a:txBody>
                  <a:tcPr>
                    <a:solidFill>
                      <a:srgbClr val="101216"/>
                    </a:solidFill>
                  </a:tcPr>
                </a:tc>
              </a:tr>
              <a:tr h="426720">
                <a:tc>
                  <a:txBody>
                    <a:bodyPr/>
                    <a:lstStyle/>
                    <a:p>
                      <a:pPr>
                        <a:defRPr sz="1050">
                          <a:solidFill>
                            <a:srgbClr val="F0F2F5"/>
                          </a:solidFill>
                          <a:latin typeface="Times New Roman"/>
                        </a:defRPr>
                      </a:pPr>
                      <a:r>
                        <a:t>data_quality_score</a:t>
                      </a:r>
                    </a:p>
                  </a:txBody>
                  <a:tcPr>
                    <a:solidFill>
                      <a:srgbClr val="101216"/>
                    </a:solidFill>
                  </a:tcPr>
                </a:tc>
                <a:tc>
                  <a:txBody>
                    <a:bodyPr/>
                    <a:lstStyle/>
                    <a:p>
                      <a:pPr>
                        <a:defRPr sz="1050">
                          <a:solidFill>
                            <a:srgbClr val="F0F2F5"/>
                          </a:solidFill>
                          <a:latin typeface="Times New Roman"/>
                        </a:defRPr>
                      </a:pPr>
                      <a:r>
                        <a:t>0.2014</a:t>
                      </a:r>
                    </a:p>
                  </a:txBody>
                  <a:tcPr>
                    <a:solidFill>
                      <a:srgbClr val="101216"/>
                    </a:solidFill>
                  </a:tcPr>
                </a:tc>
                <a:tc>
                  <a:txBody>
                    <a:bodyPr/>
                    <a:lstStyle/>
                    <a:p>
                      <a:pPr>
                        <a:defRPr sz="1050">
                          <a:solidFill>
                            <a:srgbClr val="F0F2F5"/>
                          </a:solidFill>
                          <a:latin typeface="Times New Roman"/>
                        </a:defRPr>
                      </a:pPr>
                      <a:r>
                        <a:t>Telemetry packet reliability</a:t>
                      </a:r>
                    </a:p>
                  </a:txBody>
                  <a:tcPr>
                    <a:solidFill>
                      <a:srgbClr val="101216"/>
                    </a:solidFill>
                  </a:tcPr>
                </a:tc>
              </a:tr>
              <a:tr h="426720">
                <a:tc>
                  <a:txBody>
                    <a:bodyPr/>
                    <a:lstStyle/>
                    <a:p>
                      <a:pPr>
                        <a:defRPr sz="1050">
                          <a:solidFill>
                            <a:srgbClr val="F0F2F5"/>
                          </a:solidFill>
                          <a:latin typeface="Times New Roman"/>
                        </a:defRPr>
                      </a:pPr>
                      <a:r>
                        <a:t>trend_slope</a:t>
                      </a:r>
                    </a:p>
                  </a:txBody>
                  <a:tcPr>
                    <a:solidFill>
                      <a:srgbClr val="101216"/>
                    </a:solidFill>
                  </a:tcPr>
                </a:tc>
                <a:tc>
                  <a:txBody>
                    <a:bodyPr/>
                    <a:lstStyle/>
                    <a:p>
                      <a:pPr>
                        <a:defRPr sz="1050">
                          <a:solidFill>
                            <a:srgbClr val="F0F2F5"/>
                          </a:solidFill>
                          <a:latin typeface="Times New Roman"/>
                        </a:defRPr>
                      </a:pPr>
                      <a:r>
                        <a:t>0.1864</a:t>
                      </a:r>
                    </a:p>
                  </a:txBody>
                  <a:tcPr>
                    <a:solidFill>
                      <a:srgbClr val="101216"/>
                    </a:solidFill>
                  </a:tcPr>
                </a:tc>
                <a:tc>
                  <a:txBody>
                    <a:bodyPr/>
                    <a:lstStyle/>
                    <a:p>
                      <a:pPr>
                        <a:defRPr sz="1050">
                          <a:solidFill>
                            <a:srgbClr val="F0F2F5"/>
                          </a:solidFill>
                          <a:latin typeface="Times New Roman"/>
                        </a:defRPr>
                      </a:pPr>
                      <a:r>
                        <a:t>Downward consumption slope</a:t>
                      </a:r>
                    </a:p>
                  </a:txBody>
                  <a:tcPr>
                    <a:solidFill>
                      <a:srgbClr val="101216"/>
                    </a:solidFill>
                  </a:tcPr>
                </a:tc>
              </a:tr>
            </a:tbl>
          </a:graphicData>
        </a:graphic>
      </p:graphicFrame>
      <p:sp>
        <p:nvSpPr>
          <p:cNvPr id="13" name="TextBox 12"/>
          <p:cNvSpPr txBox="1"/>
          <p:nvPr/>
        </p:nvSpPr>
        <p:spPr>
          <a:xfrm>
            <a:off x="6492240" y="4846320"/>
            <a:ext cx="4693615" cy="1005840"/>
          </a:xfrm>
          <a:prstGeom prst="rect">
            <a:avLst/>
          </a:prstGeom>
          <a:noFill/>
        </p:spPr>
        <p:txBody>
          <a:bodyPr wrap="square">
            <a:spAutoFit/>
          </a:bodyPr>
          <a:lstStyle/>
          <a:p>
            <a:pPr algn="just">
              <a:defRPr sz="1150">
                <a:solidFill>
                  <a:srgbClr val="9CA3AF"/>
                </a:solidFill>
                <a:latin typeface="Times New Roman"/>
              </a:defRPr>
            </a:pPr>
            <a:r>
              <a:t>Physical Interpretation: Legitimate consumers exhibit stable cyclical auto-correlation. Theft suspects exhibit artificial zero-load bursts and severe quarterly variance collapse.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05 | PROPOSED SYSTEM &amp; NOVELTY</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Four Core Architectural Differentiators</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11 of 38</a:t>
            </a:r>
          </a:p>
        </p:txBody>
      </p:sp>
      <p:sp>
        <p:nvSpPr>
          <p:cNvPr id="8" name="Rectangle 7"/>
          <p:cNvSpPr/>
          <p:nvPr/>
        </p:nvSpPr>
        <p:spPr>
          <a:xfrm>
            <a:off x="731520" y="1645920"/>
            <a:ext cx="52422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874520"/>
            <a:ext cx="4693615" cy="1645920"/>
          </a:xfrm>
          <a:prstGeom prst="rect">
            <a:avLst/>
          </a:prstGeom>
          <a:noFill/>
        </p:spPr>
        <p:txBody>
          <a:bodyPr wrap="square">
            <a:spAutoFit/>
          </a:bodyPr>
          <a:lstStyle/>
          <a:p>
            <a:pPr>
              <a:spcAft>
                <a:spcPts val="800"/>
              </a:spcAft>
              <a:defRPr sz="1600" b="1">
                <a:solidFill>
                  <a:srgbClr val="22D3EE"/>
                </a:solidFill>
                <a:latin typeface="Times New Roman"/>
              </a:defRPr>
            </a:pPr>
            <a:r>
              <a:t>01 | Risk-Based Prioritization</a:t>
            </a:r>
          </a:p>
          <a:p>
            <a:pPr algn="just">
              <a:lnSpc>
                <a:spcPct val="130000"/>
              </a:lnSpc>
              <a:defRPr sz="1300">
                <a:solidFill>
                  <a:srgbClr val="9CA3AF"/>
                </a:solidFill>
                <a:latin typeface="Times New Roman"/>
              </a:defRPr>
            </a:pPr>
            <a:r>
              <a:t>Rather than treating all consumers as equal or relying on sporadic complaints, the system continuously ranks the entire consumer population using XGBoost theft probability combined with historical consumption volume, generating daily actionable flying squad queues.</a:t>
            </a:r>
          </a:p>
        </p:txBody>
      </p:sp>
      <p:sp>
        <p:nvSpPr>
          <p:cNvPr id="10" name="Rectangle 9"/>
          <p:cNvSpPr/>
          <p:nvPr/>
        </p:nvSpPr>
        <p:spPr>
          <a:xfrm>
            <a:off x="6217920" y="1645920"/>
            <a:ext cx="52422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74520"/>
            <a:ext cx="4693615" cy="1645920"/>
          </a:xfrm>
          <a:prstGeom prst="rect">
            <a:avLst/>
          </a:prstGeom>
          <a:noFill/>
        </p:spPr>
        <p:txBody>
          <a:bodyPr wrap="square">
            <a:spAutoFit/>
          </a:bodyPr>
          <a:lstStyle/>
          <a:p>
            <a:pPr>
              <a:spcAft>
                <a:spcPts val="800"/>
              </a:spcAft>
              <a:defRPr sz="1600" b="1">
                <a:solidFill>
                  <a:srgbClr val="22D3EE"/>
                </a:solidFill>
                <a:latin typeface="Times New Roman"/>
              </a:defRPr>
            </a:pPr>
            <a:r>
              <a:t>02 | Explainable Evidentiary Support</a:t>
            </a:r>
          </a:p>
          <a:p>
            <a:pPr algn="just">
              <a:lnSpc>
                <a:spcPct val="130000"/>
              </a:lnSpc>
              <a:defRPr sz="1300">
                <a:solidFill>
                  <a:srgbClr val="9CA3AF"/>
                </a:solidFill>
                <a:latin typeface="Times New Roman"/>
              </a:defRPr>
            </a:pPr>
            <a:r>
              <a:t>Every candidate case is accompanied by a transparent SHAP factor breakdown and 60-day historical consumption visualization. Inspectors review tamper indicators before field dispatch, converting abstract ML probabilities into actionable audit leads.</a:t>
            </a:r>
          </a:p>
        </p:txBody>
      </p:sp>
      <p:sp>
        <p:nvSpPr>
          <p:cNvPr id="12" name="Rectangle 11"/>
          <p:cNvSpPr/>
          <p:nvPr/>
        </p:nvSpPr>
        <p:spPr>
          <a:xfrm>
            <a:off x="731520" y="3931920"/>
            <a:ext cx="52422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160520"/>
            <a:ext cx="4693615" cy="1645920"/>
          </a:xfrm>
          <a:prstGeom prst="rect">
            <a:avLst/>
          </a:prstGeom>
          <a:noFill/>
        </p:spPr>
        <p:txBody>
          <a:bodyPr wrap="square">
            <a:spAutoFit/>
          </a:bodyPr>
          <a:lstStyle/>
          <a:p>
            <a:pPr>
              <a:spcAft>
                <a:spcPts val="800"/>
              </a:spcAft>
              <a:defRPr sz="1600" b="1">
                <a:solidFill>
                  <a:srgbClr val="22D3EE"/>
                </a:solidFill>
                <a:latin typeface="Times New Roman"/>
              </a:defRPr>
            </a:pPr>
            <a:r>
              <a:t>03 | Operational Inspection Lifecycle</a:t>
            </a:r>
          </a:p>
          <a:p>
            <a:pPr algn="just">
              <a:lnSpc>
                <a:spcPct val="130000"/>
              </a:lnSpc>
              <a:defRPr sz="1300">
                <a:solidFill>
                  <a:srgbClr val="9CA3AF"/>
                </a:solidFill>
                <a:latin typeface="Times New Roman"/>
              </a:defRPr>
            </a:pPr>
            <a:r>
              <a:t>The platform manages the complete operational lifecycle: supervisor case review, squad officer assignment, scheduled calendar routing, mobile-compatible field outcome recording, penalty calculation, and audit trail maintenance.</a:t>
            </a:r>
          </a:p>
        </p:txBody>
      </p:sp>
      <p:sp>
        <p:nvSpPr>
          <p:cNvPr id="14" name="Rectangle 13"/>
          <p:cNvSpPr/>
          <p:nvPr/>
        </p:nvSpPr>
        <p:spPr>
          <a:xfrm>
            <a:off x="6217920" y="3931920"/>
            <a:ext cx="52422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160520"/>
            <a:ext cx="4693615" cy="1645920"/>
          </a:xfrm>
          <a:prstGeom prst="rect">
            <a:avLst/>
          </a:prstGeom>
          <a:noFill/>
        </p:spPr>
        <p:txBody>
          <a:bodyPr wrap="square">
            <a:spAutoFit/>
          </a:bodyPr>
          <a:lstStyle/>
          <a:p>
            <a:pPr>
              <a:spcAft>
                <a:spcPts val="800"/>
              </a:spcAft>
              <a:defRPr sz="1600" b="1">
                <a:solidFill>
                  <a:srgbClr val="22D3EE"/>
                </a:solidFill>
                <a:latin typeface="Times New Roman"/>
              </a:defRPr>
            </a:pPr>
            <a:r>
              <a:t>04 | Unified Multi-Portal Architecture</a:t>
            </a:r>
          </a:p>
          <a:p>
            <a:pPr algn="just">
              <a:lnSpc>
                <a:spcPct val="130000"/>
              </a:lnSpc>
              <a:defRPr sz="1300">
                <a:solidFill>
                  <a:srgbClr val="9CA3AF"/>
                </a:solidFill>
                <a:latin typeface="Times New Roman"/>
              </a:defRPr>
            </a:pPr>
            <a:r>
              <a:t>The system extends beyond internal vigilance squads to incorporate a planned Consumer Portal (transparency, usage optimization, billing dispute reporting) and Board Portal (policy circular broadcasts, macroscopic loss analytics).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05 | PROPOSED SYSTEM &amp; NOVELTY</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Layered System Architecture &amp; Implementation Boundaries</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12 of 38</a:t>
            </a:r>
          </a:p>
        </p:txBody>
      </p:sp>
      <p:sp>
        <p:nvSpPr>
          <p:cNvPr id="8" name="Rectangle 7"/>
          <p:cNvSpPr/>
          <p:nvPr/>
        </p:nvSpPr>
        <p:spPr>
          <a:xfrm>
            <a:off x="731520" y="1645920"/>
            <a:ext cx="52422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828800"/>
            <a:ext cx="4693615" cy="1737360"/>
          </a:xfrm>
          <a:prstGeom prst="rect">
            <a:avLst/>
          </a:prstGeom>
          <a:noFill/>
        </p:spPr>
        <p:txBody>
          <a:bodyPr wrap="square">
            <a:spAutoFit/>
          </a:bodyPr>
          <a:lstStyle/>
          <a:p>
            <a:pPr>
              <a:defRPr sz="1400" b="1">
                <a:solidFill>
                  <a:srgbClr val="F0F2F5"/>
                </a:solidFill>
                <a:latin typeface="Times New Roman"/>
              </a:defRPr>
            </a:pPr>
            <a:r>
              <a:t>Layer 1: Data &amp; Machine Learning Layer</a:t>
            </a:r>
          </a:p>
          <a:p>
            <a:pPr>
              <a:spcAft>
                <a:spcPts val="600"/>
              </a:spcAft>
              <a:defRPr sz="1100" b="1">
                <a:solidFill>
                  <a:srgbClr val="34D399"/>
                </a:solidFill>
                <a:latin typeface="Times New Roman"/>
              </a:defRPr>
            </a:pPr>
            <a:r>
              <a:t>Status: IMPLEMENTED</a:t>
            </a:r>
          </a:p>
          <a:p>
            <a:pPr>
              <a:lnSpc>
                <a:spcPct val="125000"/>
              </a:lnSpc>
              <a:defRPr sz="1150">
                <a:solidFill>
                  <a:srgbClr val="9CA3AF"/>
                </a:solidFill>
                <a:latin typeface="Times New Roman"/>
              </a:defRPr>
            </a:pPr>
            <a:r>
              <a:t>• SGCC Dataset ingestion (42k consumers)</a:t>
            </a:r>
            <a:br/>
            <a:r>
              <a:t>• Automated data cleaning &amp; chronological sorting</a:t>
            </a:r>
            <a:br/>
            <a:r>
              <a:t>• 15 engineered volatility/temporal features</a:t>
            </a:r>
            <a:br/>
            <a:r>
              <a:t>• Class-weighted XGBoost inference engine</a:t>
            </a:r>
            <a:br/>
            <a:r>
              <a:t>• SHAP TreeExplainer feature attribution generator</a:t>
            </a:r>
          </a:p>
        </p:txBody>
      </p:sp>
      <p:sp>
        <p:nvSpPr>
          <p:cNvPr id="10" name="Rectangle 9"/>
          <p:cNvSpPr/>
          <p:nvPr/>
        </p:nvSpPr>
        <p:spPr>
          <a:xfrm>
            <a:off x="6217920" y="1645920"/>
            <a:ext cx="52422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693615" cy="1737360"/>
          </a:xfrm>
          <a:prstGeom prst="rect">
            <a:avLst/>
          </a:prstGeom>
          <a:noFill/>
        </p:spPr>
        <p:txBody>
          <a:bodyPr wrap="square">
            <a:spAutoFit/>
          </a:bodyPr>
          <a:lstStyle/>
          <a:p>
            <a:pPr>
              <a:defRPr sz="1400" b="1">
                <a:solidFill>
                  <a:srgbClr val="F0F2F5"/>
                </a:solidFill>
                <a:latin typeface="Times New Roman"/>
              </a:defRPr>
            </a:pPr>
            <a:r>
              <a:t>Layer 2: Backend &amp; Security Layer</a:t>
            </a:r>
          </a:p>
          <a:p>
            <a:pPr>
              <a:spcAft>
                <a:spcPts val="600"/>
              </a:spcAft>
              <a:defRPr sz="1100" b="1">
                <a:solidFill>
                  <a:srgbClr val="34D399"/>
                </a:solidFill>
                <a:latin typeface="Times New Roman"/>
              </a:defRPr>
            </a:pPr>
            <a:r>
              <a:t>Status: IMPLEMENTED</a:t>
            </a:r>
          </a:p>
          <a:p>
            <a:pPr>
              <a:lnSpc>
                <a:spcPct val="125000"/>
              </a:lnSpc>
              <a:defRPr sz="1150">
                <a:solidFill>
                  <a:srgbClr val="9CA3AF"/>
                </a:solidFill>
                <a:latin typeface="Times New Roman"/>
              </a:defRPr>
            </a:pPr>
            <a:r>
              <a:t>• FastAPI RESTful service framework (Python 3.13)</a:t>
            </a:r>
            <a:br/>
            <a:r>
              <a:t>• JWT token authentication &amp; Bcrypt password hashing</a:t>
            </a:r>
            <a:br/>
            <a:r>
              <a:t>• Server-side Role-Based Access Control (RBAC)</a:t>
            </a:r>
            <a:br/>
            <a:r>
              <a:t>• MySQL 8.0 relational schema (16 normalized tables)</a:t>
            </a:r>
            <a:br/>
            <a:r>
              <a:t>• Idempotent inspection, audit log &amp; feedback APIs</a:t>
            </a:r>
          </a:p>
        </p:txBody>
      </p:sp>
      <p:sp>
        <p:nvSpPr>
          <p:cNvPr id="12" name="Rectangle 11"/>
          <p:cNvSpPr/>
          <p:nvPr/>
        </p:nvSpPr>
        <p:spPr>
          <a:xfrm>
            <a:off x="731520" y="3931920"/>
            <a:ext cx="52422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114800"/>
            <a:ext cx="4693615" cy="1737360"/>
          </a:xfrm>
          <a:prstGeom prst="rect">
            <a:avLst/>
          </a:prstGeom>
          <a:noFill/>
        </p:spPr>
        <p:txBody>
          <a:bodyPr wrap="square">
            <a:spAutoFit/>
          </a:bodyPr>
          <a:lstStyle/>
          <a:p>
            <a:pPr>
              <a:defRPr sz="1400" b="1">
                <a:solidFill>
                  <a:srgbClr val="F0F2F5"/>
                </a:solidFill>
                <a:latin typeface="Times New Roman"/>
              </a:defRPr>
            </a:pPr>
            <a:r>
              <a:t>Layer 3: User Application Layer</a:t>
            </a:r>
          </a:p>
          <a:p>
            <a:pPr>
              <a:spcAft>
                <a:spcPts val="600"/>
              </a:spcAft>
              <a:defRPr sz="1100" b="1">
                <a:solidFill>
                  <a:srgbClr val="FBBF24"/>
                </a:solidFill>
                <a:latin typeface="Times New Roman"/>
              </a:defRPr>
            </a:pPr>
            <a:r>
              <a:t>Status: PHASED DELIVERY</a:t>
            </a:r>
          </a:p>
          <a:p>
            <a:pPr>
              <a:lnSpc>
                <a:spcPct val="125000"/>
              </a:lnSpc>
              <a:defRPr sz="1150">
                <a:solidFill>
                  <a:srgbClr val="9CA3AF"/>
                </a:solidFill>
                <a:latin typeface="Times New Roman"/>
              </a:defRPr>
            </a:pPr>
            <a:r>
              <a:t>• Inspection / Flying Squad Portal [IMPLEMENTED — Phase 4]</a:t>
            </a:r>
            <a:br/>
            <a:r>
              <a:t>  (Operational dashboard, priority queue, case detail, GIS map, outcome modal, reports)</a:t>
            </a:r>
            <a:br/>
            <a:r>
              <a:t>• Consumer Self-Service Portal [UNDERWAY — Phase 5]</a:t>
            </a:r>
            <a:br/>
            <a:r>
              <a:t>• Board Communication &amp; Executive Portal [UNDERWAY — Phase 5]</a:t>
            </a:r>
          </a:p>
        </p:txBody>
      </p:sp>
      <p:sp>
        <p:nvSpPr>
          <p:cNvPr id="14" name="Rectangle 13"/>
          <p:cNvSpPr/>
          <p:nvPr/>
        </p:nvSpPr>
        <p:spPr>
          <a:xfrm>
            <a:off x="6217920" y="3931920"/>
            <a:ext cx="52422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114800"/>
            <a:ext cx="4693615" cy="1737360"/>
          </a:xfrm>
          <a:prstGeom prst="rect">
            <a:avLst/>
          </a:prstGeom>
          <a:noFill/>
        </p:spPr>
        <p:txBody>
          <a:bodyPr wrap="square">
            <a:spAutoFit/>
          </a:bodyPr>
          <a:lstStyle/>
          <a:p>
            <a:pPr>
              <a:defRPr sz="1400" b="1">
                <a:solidFill>
                  <a:srgbClr val="F0F2F5"/>
                </a:solidFill>
                <a:latin typeface="Times New Roman"/>
              </a:defRPr>
            </a:pPr>
            <a:r>
              <a:t>Layer 4: Feedback &amp; Model Governance Layer</a:t>
            </a:r>
          </a:p>
          <a:p>
            <a:pPr>
              <a:spcAft>
                <a:spcPts val="600"/>
              </a:spcAft>
              <a:defRPr sz="1100" b="1">
                <a:solidFill>
                  <a:srgbClr val="22D3EE"/>
                </a:solidFill>
                <a:latin typeface="Times New Roman"/>
              </a:defRPr>
            </a:pPr>
            <a:r>
              <a:t>Status: INTEGRATED</a:t>
            </a:r>
          </a:p>
          <a:p>
            <a:pPr>
              <a:lnSpc>
                <a:spcPct val="125000"/>
              </a:lnSpc>
              <a:defRPr sz="1150">
                <a:solidFill>
                  <a:srgbClr val="9CA3AF"/>
                </a:solidFill>
                <a:latin typeface="Times New Roman"/>
              </a:defRPr>
            </a:pPr>
            <a:r>
              <a:t>• Verified field audit recording (Theft Confirmed, Verified Clean, Inconclusive)</a:t>
            </a:r>
            <a:br/>
            <a:r>
              <a:t>• Traceable evidence storage (meter seal status, drop wire tampering, penalty INR)</a:t>
            </a:r>
            <a:br/>
            <a:r>
              <a:t>• Model feedback log linking physical outcomes to original model predictions</a:t>
            </a:r>
            <a:br/>
            <a:r>
              <a:t>• Foundation for future governed model calibration and drift detection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06 | SDLC: INCREMENTAL MODEL</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SDLC Model Selection and Engineering Justification</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13 of 38</a:t>
            </a:r>
          </a:p>
        </p:txBody>
      </p:sp>
      <p:sp>
        <p:nvSpPr>
          <p:cNvPr id="8" name="Rectangle 7"/>
          <p:cNvSpPr/>
          <p:nvPr/>
        </p:nvSpPr>
        <p:spPr>
          <a:xfrm>
            <a:off x="7315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20240"/>
            <a:ext cx="2864815" cy="3840480"/>
          </a:xfrm>
          <a:prstGeom prst="rect">
            <a:avLst/>
          </a:prstGeom>
          <a:noFill/>
        </p:spPr>
        <p:txBody>
          <a:bodyPr wrap="square">
            <a:spAutoFit/>
          </a:bodyPr>
          <a:lstStyle/>
          <a:p>
            <a:pPr>
              <a:defRPr sz="1200" b="1">
                <a:solidFill>
                  <a:srgbClr val="22D3EE"/>
                </a:solidFill>
                <a:latin typeface="Times New Roman"/>
              </a:defRPr>
            </a:pPr>
            <a:r>
              <a:t>ARGUMENT 01</a:t>
            </a:r>
          </a:p>
          <a:p>
            <a:pPr>
              <a:spcAft>
                <a:spcPts val="1200"/>
              </a:spcAft>
              <a:defRPr sz="1800" b="1">
                <a:solidFill>
                  <a:srgbClr val="F0F2F5"/>
                </a:solidFill>
                <a:latin typeface="Times New Roman"/>
              </a:defRPr>
            </a:pPr>
            <a:r>
              <a:t>Modular Decoupling</a:t>
            </a:r>
          </a:p>
          <a:p>
            <a:pPr algn="just">
              <a:lnSpc>
                <a:spcPct val="130000"/>
              </a:lnSpc>
              <a:defRPr sz="1300">
                <a:solidFill>
                  <a:srgbClr val="9CA3AF"/>
                </a:solidFill>
                <a:latin typeface="Times New Roman"/>
              </a:defRPr>
            </a:pPr>
            <a:r>
              <a:t>The platform contains fundamentally distinct sub-systems: an offline machine-learning engine, a high-throughput relational backend, an operational field inspection portal, and external consumer portals. The Incremental Model allows each functional subsystem to be architected, implemented, and refined independently without blocking cross-functional progress.</a:t>
            </a:r>
          </a:p>
        </p:txBody>
      </p:sp>
      <p:sp>
        <p:nvSpPr>
          <p:cNvPr id="10" name="Rectangle 9"/>
          <p:cNvSpPr/>
          <p:nvPr/>
        </p:nvSpPr>
        <p:spPr>
          <a:xfrm>
            <a:off x="43891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920240"/>
            <a:ext cx="2864815" cy="3840480"/>
          </a:xfrm>
          <a:prstGeom prst="rect">
            <a:avLst/>
          </a:prstGeom>
          <a:noFill/>
        </p:spPr>
        <p:txBody>
          <a:bodyPr wrap="square">
            <a:spAutoFit/>
          </a:bodyPr>
          <a:lstStyle/>
          <a:p>
            <a:pPr>
              <a:defRPr sz="1200" b="1">
                <a:solidFill>
                  <a:srgbClr val="22D3EE"/>
                </a:solidFill>
                <a:latin typeface="Times New Roman"/>
              </a:defRPr>
            </a:pPr>
            <a:r>
              <a:t>ARGUMENT 02</a:t>
            </a:r>
          </a:p>
          <a:p>
            <a:pPr>
              <a:spcAft>
                <a:spcPts val="1200"/>
              </a:spcAft>
              <a:defRPr sz="1800" b="1">
                <a:solidFill>
                  <a:srgbClr val="F0F2F5"/>
                </a:solidFill>
                <a:latin typeface="Times New Roman"/>
              </a:defRPr>
            </a:pPr>
            <a:r>
              <a:t>Iterative Verification &amp; QA</a:t>
            </a:r>
          </a:p>
          <a:p>
            <a:pPr algn="just">
              <a:lnSpc>
                <a:spcPct val="130000"/>
              </a:lnSpc>
              <a:defRPr sz="1300">
                <a:solidFill>
                  <a:srgbClr val="9CA3AF"/>
                </a:solidFill>
                <a:latin typeface="Times New Roman"/>
              </a:defRPr>
            </a:pPr>
            <a:r>
              <a:t>Each development increment concludes with automated verification (unit tests, integration test suites, schema validation, and production build checks). For example, the backend and database (Phase 3) were validated with 10 integration tests before Phase 4 frontend engineering began, preventing downstream architectural refactoring.</a:t>
            </a:r>
          </a:p>
        </p:txBody>
      </p:sp>
      <p:sp>
        <p:nvSpPr>
          <p:cNvPr id="12" name="Rectangle 11"/>
          <p:cNvSpPr/>
          <p:nvPr/>
        </p:nvSpPr>
        <p:spPr>
          <a:xfrm>
            <a:off x="80467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920240"/>
            <a:ext cx="2864815" cy="3840480"/>
          </a:xfrm>
          <a:prstGeom prst="rect">
            <a:avLst/>
          </a:prstGeom>
          <a:noFill/>
        </p:spPr>
        <p:txBody>
          <a:bodyPr wrap="square">
            <a:spAutoFit/>
          </a:bodyPr>
          <a:lstStyle/>
          <a:p>
            <a:pPr>
              <a:defRPr sz="1200" b="1">
                <a:solidFill>
                  <a:srgbClr val="22D3EE"/>
                </a:solidFill>
                <a:latin typeface="Times New Roman"/>
              </a:defRPr>
            </a:pPr>
            <a:r>
              <a:t>ARGUMENT 03</a:t>
            </a:r>
          </a:p>
          <a:p>
            <a:pPr>
              <a:spcAft>
                <a:spcPts val="1200"/>
              </a:spcAft>
              <a:defRPr sz="1800" b="1">
                <a:solidFill>
                  <a:srgbClr val="F0F2F5"/>
                </a:solidFill>
                <a:latin typeface="Times New Roman"/>
              </a:defRPr>
            </a:pPr>
            <a:r>
              <a:t>Operational Risk Mitigation</a:t>
            </a:r>
          </a:p>
          <a:p>
            <a:pPr algn="just">
              <a:lnSpc>
                <a:spcPct val="130000"/>
              </a:lnSpc>
              <a:defRPr sz="1300">
                <a:solidFill>
                  <a:srgbClr val="9CA3AF"/>
                </a:solidFill>
                <a:latin typeface="Times New Roman"/>
              </a:defRPr>
            </a:pPr>
            <a:r>
              <a:t>Electricity distribution operations carry high compliance and legal standards. Staging the release—first proving field inspection capabilities before opening consumer and board communication interfaces—ensures vigilance workflows, data security, and RBAC boundaries are hardened before broader exposure.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06 | SDLC: INCREMENTAL MODEL</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8-Phase Development Roadmap &amp; Status Matrix</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14 of 38</a:t>
            </a:r>
          </a:p>
        </p:txBody>
      </p:sp>
      <p:graphicFrame>
        <p:nvGraphicFramePr>
          <p:cNvPr id="8" name="Table 7"/>
          <p:cNvGraphicFramePr>
            <a:graphicFrameLocks noGrp="1"/>
          </p:cNvGraphicFramePr>
          <p:nvPr/>
        </p:nvGraphicFramePr>
        <p:xfrm>
          <a:off x="731520" y="1600200"/>
          <a:ext cx="10728655" cy="4389120"/>
        </p:xfrm>
        <a:graphic>
          <a:graphicData uri="http://schemas.openxmlformats.org/drawingml/2006/table">
            <a:tbl>
              <a:tblPr firstRow="1" bandRow="1">
                <a:tableStyleId>{5C22544A-7EE6-4342-B048-85BDC9FD1C3A}</a:tableStyleId>
              </a:tblPr>
              <a:tblGrid>
                <a:gridCol w="2682163"/>
                <a:gridCol w="2682163"/>
                <a:gridCol w="2682163"/>
                <a:gridCol w="2682166"/>
              </a:tblGrid>
              <a:tr h="487680">
                <a:tc>
                  <a:txBody>
                    <a:bodyPr/>
                    <a:lstStyle/>
                    <a:p>
                      <a:pPr>
                        <a:defRPr sz="1200" b="1">
                          <a:solidFill>
                            <a:srgbClr val="22D3EE"/>
                          </a:solidFill>
                          <a:latin typeface="Times New Roman"/>
                        </a:defRPr>
                      </a:pPr>
                      <a:r>
                        <a:t>Phase</a:t>
                      </a:r>
                    </a:p>
                  </a:txBody>
                  <a:tcPr>
                    <a:solidFill>
                      <a:srgbClr val="2D3748"/>
                    </a:solidFill>
                  </a:tcPr>
                </a:tc>
                <a:tc>
                  <a:txBody>
                    <a:bodyPr/>
                    <a:lstStyle/>
                    <a:p>
                      <a:pPr>
                        <a:defRPr sz="1200" b="1">
                          <a:solidFill>
                            <a:srgbClr val="22D3EE"/>
                          </a:solidFill>
                          <a:latin typeface="Times New Roman"/>
                        </a:defRPr>
                      </a:pPr>
                      <a:r>
                        <a:t>Functional Scope</a:t>
                      </a:r>
                    </a:p>
                  </a:txBody>
                  <a:tcPr>
                    <a:solidFill>
                      <a:srgbClr val="2D3748"/>
                    </a:solidFill>
                  </a:tcPr>
                </a:tc>
                <a:tc>
                  <a:txBody>
                    <a:bodyPr/>
                    <a:lstStyle/>
                    <a:p>
                      <a:pPr>
                        <a:defRPr sz="1200" b="1">
                          <a:solidFill>
                            <a:srgbClr val="22D3EE"/>
                          </a:solidFill>
                          <a:latin typeface="Times New Roman"/>
                        </a:defRPr>
                      </a:pPr>
                      <a:r>
                        <a:t>Key Deliverables &amp; Technology</a:t>
                      </a:r>
                    </a:p>
                  </a:txBody>
                  <a:tcPr>
                    <a:solidFill>
                      <a:srgbClr val="2D3748"/>
                    </a:solidFill>
                  </a:tcPr>
                </a:tc>
                <a:tc>
                  <a:txBody>
                    <a:bodyPr/>
                    <a:lstStyle/>
                    <a:p>
                      <a:pPr>
                        <a:defRPr sz="1200" b="1">
                          <a:solidFill>
                            <a:srgbClr val="22D3EE"/>
                          </a:solidFill>
                          <a:latin typeface="Times New Roman"/>
                        </a:defRPr>
                      </a:pPr>
                      <a:r>
                        <a:t>Execution Status</a:t>
                      </a:r>
                    </a:p>
                  </a:txBody>
                  <a:tcPr>
                    <a:solidFill>
                      <a:srgbClr val="2D3748"/>
                    </a:solidFill>
                  </a:tcPr>
                </a:tc>
              </a:tr>
              <a:tr h="487680">
                <a:tc>
                  <a:txBody>
                    <a:bodyPr/>
                    <a:lstStyle/>
                    <a:p>
                      <a:pPr>
                        <a:defRPr sz="1150" b="1">
                          <a:solidFill>
                            <a:srgbClr val="F0F2F5"/>
                          </a:solidFill>
                          <a:latin typeface="Times New Roman"/>
                        </a:defRPr>
                      </a:pPr>
                      <a:r>
                        <a:t>Phase 1</a:t>
                      </a:r>
                    </a:p>
                  </a:txBody>
                  <a:tcPr>
                    <a:solidFill>
                      <a:srgbClr val="181C24"/>
                    </a:solidFill>
                  </a:tcPr>
                </a:tc>
                <a:tc>
                  <a:txBody>
                    <a:bodyPr/>
                    <a:lstStyle/>
                    <a:p>
                      <a:pPr>
                        <a:defRPr sz="1150">
                          <a:solidFill>
                            <a:srgbClr val="9CA3AF"/>
                          </a:solidFill>
                          <a:latin typeface="Times New Roman"/>
                        </a:defRPr>
                      </a:pPr>
                      <a:r>
                        <a:t>Requirements Analysis &amp; Dataset Audit</a:t>
                      </a:r>
                    </a:p>
                  </a:txBody>
                  <a:tcPr>
                    <a:solidFill>
                      <a:srgbClr val="181C24"/>
                    </a:solidFill>
                  </a:tcPr>
                </a:tc>
                <a:tc>
                  <a:txBody>
                    <a:bodyPr/>
                    <a:lstStyle/>
                    <a:p>
                      <a:pPr>
                        <a:defRPr sz="1150">
                          <a:solidFill>
                            <a:srgbClr val="9CA3AF"/>
                          </a:solidFill>
                          <a:latin typeface="Times New Roman"/>
                        </a:defRPr>
                      </a:pPr>
                      <a:r>
                        <a:t>SGCC audit, missingness strategy, zero-leakage protocol</a:t>
                      </a:r>
                    </a:p>
                  </a:txBody>
                  <a:tcPr>
                    <a:solidFill>
                      <a:srgbClr val="181C24"/>
                    </a:solidFill>
                  </a:tcPr>
                </a:tc>
                <a:tc>
                  <a:txBody>
                    <a:bodyPr/>
                    <a:lstStyle/>
                    <a:p>
                      <a:pPr>
                        <a:defRPr sz="1150" b="1">
                          <a:solidFill>
                            <a:srgbClr val="34D399"/>
                          </a:solidFill>
                          <a:latin typeface="Times New Roman"/>
                        </a:defRPr>
                      </a:pPr>
                      <a:r>
                        <a:t>COMPLETE</a:t>
                      </a:r>
                    </a:p>
                  </a:txBody>
                  <a:tcPr>
                    <a:solidFill>
                      <a:srgbClr val="181C24"/>
                    </a:solidFill>
                  </a:tcPr>
                </a:tc>
              </a:tr>
              <a:tr h="487680">
                <a:tc>
                  <a:txBody>
                    <a:bodyPr/>
                    <a:lstStyle/>
                    <a:p>
                      <a:pPr>
                        <a:defRPr sz="1150" b="1">
                          <a:solidFill>
                            <a:srgbClr val="F0F2F5"/>
                          </a:solidFill>
                          <a:latin typeface="Times New Roman"/>
                        </a:defRPr>
                      </a:pPr>
                      <a:r>
                        <a:t>Phase 2</a:t>
                      </a:r>
                    </a:p>
                  </a:txBody>
                  <a:tcPr>
                    <a:solidFill>
                      <a:srgbClr val="101216"/>
                    </a:solidFill>
                  </a:tcPr>
                </a:tc>
                <a:tc>
                  <a:txBody>
                    <a:bodyPr/>
                    <a:lstStyle/>
                    <a:p>
                      <a:pPr>
                        <a:defRPr sz="1150">
                          <a:solidFill>
                            <a:srgbClr val="9CA3AF"/>
                          </a:solidFill>
                          <a:latin typeface="Times New Roman"/>
                        </a:defRPr>
                      </a:pPr>
                      <a:r>
                        <a:t>Data Preprocessing &amp; ML Engine</a:t>
                      </a:r>
                    </a:p>
                  </a:txBody>
                  <a:tcPr>
                    <a:solidFill>
                      <a:srgbClr val="101216"/>
                    </a:solidFill>
                  </a:tcPr>
                </a:tc>
                <a:tc>
                  <a:txBody>
                    <a:bodyPr/>
                    <a:lstStyle/>
                    <a:p>
                      <a:pPr>
                        <a:defRPr sz="1150">
                          <a:solidFill>
                            <a:srgbClr val="9CA3AF"/>
                          </a:solidFill>
                          <a:latin typeface="Times New Roman"/>
                        </a:defRPr>
                      </a:pPr>
                      <a:r>
                        <a:t>15 engineered features, XGBoost training, SHAP explanations</a:t>
                      </a:r>
                    </a:p>
                  </a:txBody>
                  <a:tcPr>
                    <a:solidFill>
                      <a:srgbClr val="101216"/>
                    </a:solidFill>
                  </a:tcPr>
                </a:tc>
                <a:tc>
                  <a:txBody>
                    <a:bodyPr/>
                    <a:lstStyle/>
                    <a:p>
                      <a:pPr>
                        <a:defRPr sz="1150" b="1">
                          <a:solidFill>
                            <a:srgbClr val="34D399"/>
                          </a:solidFill>
                          <a:latin typeface="Times New Roman"/>
                        </a:defRPr>
                      </a:pPr>
                      <a:r>
                        <a:t>COMPLETE</a:t>
                      </a:r>
                    </a:p>
                  </a:txBody>
                  <a:tcPr>
                    <a:solidFill>
                      <a:srgbClr val="101216"/>
                    </a:solidFill>
                  </a:tcPr>
                </a:tc>
              </a:tr>
              <a:tr h="487680">
                <a:tc>
                  <a:txBody>
                    <a:bodyPr/>
                    <a:lstStyle/>
                    <a:p>
                      <a:pPr>
                        <a:defRPr sz="1150" b="1">
                          <a:solidFill>
                            <a:srgbClr val="F0F2F5"/>
                          </a:solidFill>
                          <a:latin typeface="Times New Roman"/>
                        </a:defRPr>
                      </a:pPr>
                      <a:r>
                        <a:t>Phase 3</a:t>
                      </a:r>
                    </a:p>
                  </a:txBody>
                  <a:tcPr>
                    <a:solidFill>
                      <a:srgbClr val="181C24"/>
                    </a:solidFill>
                  </a:tcPr>
                </a:tc>
                <a:tc>
                  <a:txBody>
                    <a:bodyPr/>
                    <a:lstStyle/>
                    <a:p>
                      <a:pPr>
                        <a:defRPr sz="1150">
                          <a:solidFill>
                            <a:srgbClr val="9CA3AF"/>
                          </a:solidFill>
                          <a:latin typeface="Times New Roman"/>
                        </a:defRPr>
                      </a:pPr>
                      <a:r>
                        <a:t>Database &amp; Backend API Foundation</a:t>
                      </a:r>
                    </a:p>
                  </a:txBody>
                  <a:tcPr>
                    <a:solidFill>
                      <a:srgbClr val="181C24"/>
                    </a:solidFill>
                  </a:tcPr>
                </a:tc>
                <a:tc>
                  <a:txBody>
                    <a:bodyPr/>
                    <a:lstStyle/>
                    <a:p>
                      <a:pPr>
                        <a:defRPr sz="1150">
                          <a:solidFill>
                            <a:srgbClr val="9CA3AF"/>
                          </a:solidFill>
                          <a:latin typeface="Times New Roman"/>
                        </a:defRPr>
                      </a:pPr>
                      <a:r>
                        <a:t>FastAPI, MySQL 8.0 (16 tables), JWT Auth, RBAC middleware</a:t>
                      </a:r>
                    </a:p>
                  </a:txBody>
                  <a:tcPr>
                    <a:solidFill>
                      <a:srgbClr val="181C24"/>
                    </a:solidFill>
                  </a:tcPr>
                </a:tc>
                <a:tc>
                  <a:txBody>
                    <a:bodyPr/>
                    <a:lstStyle/>
                    <a:p>
                      <a:pPr>
                        <a:defRPr sz="1150" b="1">
                          <a:solidFill>
                            <a:srgbClr val="34D399"/>
                          </a:solidFill>
                          <a:latin typeface="Times New Roman"/>
                        </a:defRPr>
                      </a:pPr>
                      <a:r>
                        <a:t>COMPLETE</a:t>
                      </a:r>
                    </a:p>
                  </a:txBody>
                  <a:tcPr>
                    <a:solidFill>
                      <a:srgbClr val="181C24"/>
                    </a:solidFill>
                  </a:tcPr>
                </a:tc>
              </a:tr>
              <a:tr h="487680">
                <a:tc>
                  <a:txBody>
                    <a:bodyPr/>
                    <a:lstStyle/>
                    <a:p>
                      <a:pPr>
                        <a:defRPr sz="1150" b="1">
                          <a:solidFill>
                            <a:srgbClr val="F0F2F5"/>
                          </a:solidFill>
                          <a:latin typeface="Times New Roman"/>
                        </a:defRPr>
                      </a:pPr>
                      <a:r>
                        <a:t>Phase 4</a:t>
                      </a:r>
                    </a:p>
                  </a:txBody>
                  <a:tcPr>
                    <a:solidFill>
                      <a:srgbClr val="101216"/>
                    </a:solidFill>
                  </a:tcPr>
                </a:tc>
                <a:tc>
                  <a:txBody>
                    <a:bodyPr/>
                    <a:lstStyle/>
                    <a:p>
                      <a:pPr>
                        <a:defRPr sz="1150">
                          <a:solidFill>
                            <a:srgbClr val="9CA3AF"/>
                          </a:solidFill>
                          <a:latin typeface="Times New Roman"/>
                        </a:defRPr>
                      </a:pPr>
                      <a:r>
                        <a:t>Inspection Intelligence Portal</a:t>
                      </a:r>
                    </a:p>
                  </a:txBody>
                  <a:tcPr>
                    <a:solidFill>
                      <a:srgbClr val="101216"/>
                    </a:solidFill>
                  </a:tcPr>
                </a:tc>
                <a:tc>
                  <a:txBody>
                    <a:bodyPr/>
                    <a:lstStyle/>
                    <a:p>
                      <a:pPr>
                        <a:defRPr sz="1150">
                          <a:solidFill>
                            <a:srgbClr val="9CA3AF"/>
                          </a:solidFill>
                          <a:latin typeface="Times New Roman"/>
                        </a:defRPr>
                      </a:pPr>
                      <a:r>
                        <a:t>Employee dashboard, priority queue, details, map, reports</a:t>
                      </a:r>
                    </a:p>
                  </a:txBody>
                  <a:tcPr>
                    <a:solidFill>
                      <a:srgbClr val="101216"/>
                    </a:solidFill>
                  </a:tcPr>
                </a:tc>
                <a:tc>
                  <a:txBody>
                    <a:bodyPr/>
                    <a:lstStyle/>
                    <a:p>
                      <a:pPr>
                        <a:defRPr sz="1150" b="1">
                          <a:solidFill>
                            <a:srgbClr val="34D399"/>
                          </a:solidFill>
                          <a:latin typeface="Times New Roman"/>
                        </a:defRPr>
                      </a:pPr>
                      <a:r>
                        <a:t>COMPLETE</a:t>
                      </a:r>
                    </a:p>
                  </a:txBody>
                  <a:tcPr>
                    <a:solidFill>
                      <a:srgbClr val="101216"/>
                    </a:solidFill>
                  </a:tcPr>
                </a:tc>
              </a:tr>
              <a:tr h="487680">
                <a:tc>
                  <a:txBody>
                    <a:bodyPr/>
                    <a:lstStyle/>
                    <a:p>
                      <a:pPr>
                        <a:defRPr sz="1150" b="1">
                          <a:solidFill>
                            <a:srgbClr val="F0F2F5"/>
                          </a:solidFill>
                          <a:latin typeface="Times New Roman"/>
                        </a:defRPr>
                      </a:pPr>
                      <a:r>
                        <a:t>Phase 5</a:t>
                      </a:r>
                    </a:p>
                  </a:txBody>
                  <a:tcPr>
                    <a:solidFill>
                      <a:srgbClr val="181C24"/>
                    </a:solidFill>
                  </a:tcPr>
                </a:tc>
                <a:tc>
                  <a:txBody>
                    <a:bodyPr/>
                    <a:lstStyle/>
                    <a:p>
                      <a:pPr>
                        <a:defRPr sz="1150">
                          <a:solidFill>
                            <a:srgbClr val="9CA3AF"/>
                          </a:solidFill>
                          <a:latin typeface="Times New Roman"/>
                        </a:defRPr>
                      </a:pPr>
                      <a:r>
                        <a:t>Consumer &amp; Board Portals</a:t>
                      </a:r>
                    </a:p>
                  </a:txBody>
                  <a:tcPr>
                    <a:solidFill>
                      <a:srgbClr val="181C24"/>
                    </a:solidFill>
                  </a:tcPr>
                </a:tc>
                <a:tc>
                  <a:txBody>
                    <a:bodyPr/>
                    <a:lstStyle/>
                    <a:p>
                      <a:pPr>
                        <a:defRPr sz="1150">
                          <a:solidFill>
                            <a:srgbClr val="9CA3AF"/>
                          </a:solidFill>
                          <a:latin typeface="Times New Roman"/>
                        </a:defRPr>
                      </a:pPr>
                      <a:r>
                        <a:t>Consumer usage, bill dispute UI, board circulars &amp; macros</a:t>
                      </a:r>
                    </a:p>
                  </a:txBody>
                  <a:tcPr>
                    <a:solidFill>
                      <a:srgbClr val="181C24"/>
                    </a:solidFill>
                  </a:tcPr>
                </a:tc>
                <a:tc>
                  <a:txBody>
                    <a:bodyPr/>
                    <a:lstStyle/>
                    <a:p>
                      <a:pPr>
                        <a:defRPr sz="1150" b="1">
                          <a:solidFill>
                            <a:srgbClr val="FBBF24"/>
                          </a:solidFill>
                          <a:latin typeface="Times New Roman"/>
                        </a:defRPr>
                      </a:pPr>
                      <a:r>
                        <a:t>UNDERWAY</a:t>
                      </a:r>
                    </a:p>
                  </a:txBody>
                  <a:tcPr>
                    <a:solidFill>
                      <a:srgbClr val="181C24"/>
                    </a:solidFill>
                  </a:tcPr>
                </a:tc>
              </a:tr>
              <a:tr h="487680">
                <a:tc>
                  <a:txBody>
                    <a:bodyPr/>
                    <a:lstStyle/>
                    <a:p>
                      <a:pPr>
                        <a:defRPr sz="1150" b="1">
                          <a:solidFill>
                            <a:srgbClr val="F0F2F5"/>
                          </a:solidFill>
                          <a:latin typeface="Times New Roman"/>
                        </a:defRPr>
                      </a:pPr>
                      <a:r>
                        <a:t>Phase 6</a:t>
                      </a:r>
                    </a:p>
                  </a:txBody>
                  <a:tcPr>
                    <a:solidFill>
                      <a:srgbClr val="101216"/>
                    </a:solidFill>
                  </a:tcPr>
                </a:tc>
                <a:tc>
                  <a:txBody>
                    <a:bodyPr/>
                    <a:lstStyle/>
                    <a:p>
                      <a:pPr>
                        <a:defRPr sz="1150">
                          <a:solidFill>
                            <a:srgbClr val="9CA3AF"/>
                          </a:solidFill>
                          <a:latin typeface="Times New Roman"/>
                        </a:defRPr>
                      </a:pPr>
                      <a:r>
                        <a:t>Closed-Loop Model Governance</a:t>
                      </a:r>
                    </a:p>
                  </a:txBody>
                  <a:tcPr>
                    <a:solidFill>
                      <a:srgbClr val="101216"/>
                    </a:solidFill>
                  </a:tcPr>
                </a:tc>
                <a:tc>
                  <a:txBody>
                    <a:bodyPr/>
                    <a:lstStyle/>
                    <a:p>
                      <a:pPr>
                        <a:defRPr sz="1150">
                          <a:solidFill>
                            <a:srgbClr val="9CA3AF"/>
                          </a:solidFill>
                          <a:latin typeface="Times New Roman"/>
                        </a:defRPr>
                      </a:pPr>
                      <a:r>
                        <a:t>Verified outcome calibration, drift tracking, model lifecycle</a:t>
                      </a:r>
                    </a:p>
                  </a:txBody>
                  <a:tcPr>
                    <a:solidFill>
                      <a:srgbClr val="101216"/>
                    </a:solidFill>
                  </a:tcPr>
                </a:tc>
                <a:tc>
                  <a:txBody>
                    <a:bodyPr/>
                    <a:lstStyle/>
                    <a:p>
                      <a:pPr>
                        <a:defRPr sz="1150" b="1">
                          <a:solidFill>
                            <a:srgbClr val="9CA3AF"/>
                          </a:solidFill>
                          <a:latin typeface="Times New Roman"/>
                        </a:defRPr>
                      </a:pPr>
                      <a:r>
                        <a:t>PENDING</a:t>
                      </a:r>
                    </a:p>
                  </a:txBody>
                  <a:tcPr>
                    <a:solidFill>
                      <a:srgbClr val="101216"/>
                    </a:solidFill>
                  </a:tcPr>
                </a:tc>
              </a:tr>
              <a:tr h="487680">
                <a:tc>
                  <a:txBody>
                    <a:bodyPr/>
                    <a:lstStyle/>
                    <a:p>
                      <a:pPr>
                        <a:defRPr sz="1150" b="1">
                          <a:solidFill>
                            <a:srgbClr val="F0F2F5"/>
                          </a:solidFill>
                          <a:latin typeface="Times New Roman"/>
                        </a:defRPr>
                      </a:pPr>
                      <a:r>
                        <a:t>Phase 7</a:t>
                      </a:r>
                    </a:p>
                  </a:txBody>
                  <a:tcPr>
                    <a:solidFill>
                      <a:srgbClr val="181C24"/>
                    </a:solidFill>
                  </a:tcPr>
                </a:tc>
                <a:tc>
                  <a:txBody>
                    <a:bodyPr/>
                    <a:lstStyle/>
                    <a:p>
                      <a:pPr>
                        <a:defRPr sz="1150">
                          <a:solidFill>
                            <a:srgbClr val="9CA3AF"/>
                          </a:solidFill>
                          <a:latin typeface="Times New Roman"/>
                        </a:defRPr>
                      </a:pPr>
                      <a:r>
                        <a:t>Hardening &amp; Deployment Preparation</a:t>
                      </a:r>
                    </a:p>
                  </a:txBody>
                  <a:tcPr>
                    <a:solidFill>
                      <a:srgbClr val="181C24"/>
                    </a:solidFill>
                  </a:tcPr>
                </a:tc>
                <a:tc>
                  <a:txBody>
                    <a:bodyPr/>
                    <a:lstStyle/>
                    <a:p>
                      <a:pPr>
                        <a:defRPr sz="1150">
                          <a:solidFill>
                            <a:srgbClr val="9CA3AF"/>
                          </a:solidFill>
                          <a:latin typeface="Times New Roman"/>
                        </a:defRPr>
                      </a:pPr>
                      <a:r>
                        <a:t>Docker containerization, security audit, API documentation</a:t>
                      </a:r>
                    </a:p>
                  </a:txBody>
                  <a:tcPr>
                    <a:solidFill>
                      <a:srgbClr val="181C24"/>
                    </a:solidFill>
                  </a:tcPr>
                </a:tc>
                <a:tc>
                  <a:txBody>
                    <a:bodyPr/>
                    <a:lstStyle/>
                    <a:p>
                      <a:pPr>
                        <a:defRPr sz="1150" b="1">
                          <a:solidFill>
                            <a:srgbClr val="9CA3AF"/>
                          </a:solidFill>
                          <a:latin typeface="Times New Roman"/>
                        </a:defRPr>
                      </a:pPr>
                      <a:r>
                        <a:t>PENDING</a:t>
                      </a:r>
                    </a:p>
                  </a:txBody>
                  <a:tcPr>
                    <a:solidFill>
                      <a:srgbClr val="181C24"/>
                    </a:solidFill>
                  </a:tcPr>
                </a:tc>
              </a:tr>
              <a:tr h="487680">
                <a:tc>
                  <a:txBody>
                    <a:bodyPr/>
                    <a:lstStyle/>
                    <a:p>
                      <a:pPr>
                        <a:defRPr sz="1150" b="1">
                          <a:solidFill>
                            <a:srgbClr val="F0F2F5"/>
                          </a:solidFill>
                          <a:latin typeface="Times New Roman"/>
                        </a:defRPr>
                      </a:pPr>
                      <a:r>
                        <a:t>Phase 8</a:t>
                      </a:r>
                    </a:p>
                  </a:txBody>
                  <a:tcPr>
                    <a:solidFill>
                      <a:srgbClr val="101216"/>
                    </a:solidFill>
                  </a:tcPr>
                </a:tc>
                <a:tc>
                  <a:txBody>
                    <a:bodyPr/>
                    <a:lstStyle/>
                    <a:p>
                      <a:pPr>
                        <a:defRPr sz="1150">
                          <a:solidFill>
                            <a:srgbClr val="9CA3AF"/>
                          </a:solidFill>
                          <a:latin typeface="Times New Roman"/>
                        </a:defRPr>
                      </a:pPr>
                      <a:r>
                        <a:t>System-Wide Validation &amp; Testing</a:t>
                      </a:r>
                    </a:p>
                  </a:txBody>
                  <a:tcPr>
                    <a:solidFill>
                      <a:srgbClr val="101216"/>
                    </a:solidFill>
                  </a:tcPr>
                </a:tc>
                <a:tc>
                  <a:txBody>
                    <a:bodyPr/>
                    <a:lstStyle/>
                    <a:p>
                      <a:pPr>
                        <a:defRPr sz="1150">
                          <a:solidFill>
                            <a:srgbClr val="9CA3AF"/>
                          </a:solidFill>
                          <a:latin typeface="Times New Roman"/>
                        </a:defRPr>
                      </a:pPr>
                      <a:r>
                        <a:t>Cross-role acceptance testing, final university submission</a:t>
                      </a:r>
                    </a:p>
                  </a:txBody>
                  <a:tcPr>
                    <a:solidFill>
                      <a:srgbClr val="101216"/>
                    </a:solidFill>
                  </a:tcPr>
                </a:tc>
                <a:tc>
                  <a:txBody>
                    <a:bodyPr/>
                    <a:lstStyle/>
                    <a:p>
                      <a:pPr>
                        <a:defRPr sz="1150" b="1">
                          <a:solidFill>
                            <a:srgbClr val="9CA3AF"/>
                          </a:solidFill>
                          <a:latin typeface="Times New Roman"/>
                        </a:defRPr>
                      </a:pPr>
                      <a:r>
                        <a:t>PENDING</a:t>
                      </a:r>
                    </a:p>
                  </a:txBody>
                  <a:tcPr>
                    <a:solidFill>
                      <a:srgbClr val="101216"/>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07 | SOFTWARE ENGINEERING PROCESS</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Requirements Analysis and RBAC Boundaries</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15 of 38</a:t>
            </a:r>
          </a:p>
        </p:txBody>
      </p:sp>
      <p:sp>
        <p:nvSpPr>
          <p:cNvPr id="8" name="Rectangle 7"/>
          <p:cNvSpPr/>
          <p:nvPr/>
        </p:nvSpPr>
        <p:spPr>
          <a:xfrm>
            <a:off x="7315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20240"/>
            <a:ext cx="2864815" cy="3840480"/>
          </a:xfrm>
          <a:prstGeom prst="rect">
            <a:avLst/>
          </a:prstGeom>
          <a:noFill/>
        </p:spPr>
        <p:txBody>
          <a:bodyPr wrap="square">
            <a:spAutoFit/>
          </a:bodyPr>
          <a:lstStyle/>
          <a:p>
            <a:pPr>
              <a:defRPr sz="1400" b="1">
                <a:solidFill>
                  <a:srgbClr val="22D3EE"/>
                </a:solidFill>
                <a:latin typeface="Times New Roman"/>
              </a:defRPr>
            </a:pPr>
            <a:r>
              <a:t>INSPECTION_EMPLOYEE</a:t>
            </a:r>
          </a:p>
          <a:p>
            <a:pPr>
              <a:spcAft>
                <a:spcPts val="1200"/>
              </a:spcAft>
              <a:defRPr sz="1100">
                <a:solidFill>
                  <a:srgbClr val="9CA3AF"/>
                </a:solidFill>
                <a:latin typeface="Times New Roman"/>
              </a:defRPr>
            </a:pPr>
            <a:r>
              <a:t>Field &amp; Vigilance Flying Squads</a:t>
            </a:r>
          </a:p>
          <a:p>
            <a:pPr>
              <a:lnSpc>
                <a:spcPct val="135000"/>
              </a:lnSpc>
              <a:defRPr sz="1250">
                <a:solidFill>
                  <a:srgbClr val="F0F2F5"/>
                </a:solidFill>
                <a:latin typeface="Times New Roman"/>
              </a:defRPr>
            </a:pPr>
            <a:r>
              <a:t>• Operational dashboard with high-urgency action cards</a:t>
            </a:r>
            <a:br/>
            <a:r>
              <a:t>• Prioritized candidate inspection queue</a:t>
            </a:r>
            <a:br/>
            <a:r>
              <a:t>• Case details with SHAP waterfall explanations</a:t>
            </a:r>
            <a:br/>
            <a:r>
              <a:t>• Daily kWh consumption series &amp; anomaly charts</a:t>
            </a:r>
            <a:br/>
            <a:r>
              <a:t>• GIS spatial mapping with zone clusters</a:t>
            </a:r>
            <a:br/>
            <a:r>
              <a:t>• Field audit outcome recording &amp; penalty calculation</a:t>
            </a:r>
          </a:p>
        </p:txBody>
      </p:sp>
      <p:sp>
        <p:nvSpPr>
          <p:cNvPr id="10" name="Rectangle 9"/>
          <p:cNvSpPr/>
          <p:nvPr/>
        </p:nvSpPr>
        <p:spPr>
          <a:xfrm>
            <a:off x="43891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920240"/>
            <a:ext cx="2864815" cy="3840480"/>
          </a:xfrm>
          <a:prstGeom prst="rect">
            <a:avLst/>
          </a:prstGeom>
          <a:noFill/>
        </p:spPr>
        <p:txBody>
          <a:bodyPr wrap="square">
            <a:spAutoFit/>
          </a:bodyPr>
          <a:lstStyle/>
          <a:p>
            <a:pPr>
              <a:defRPr sz="1400" b="1">
                <a:solidFill>
                  <a:srgbClr val="FBBF24"/>
                </a:solidFill>
                <a:latin typeface="Times New Roman"/>
              </a:defRPr>
            </a:pPr>
            <a:r>
              <a:t>CONSUMER</a:t>
            </a:r>
          </a:p>
          <a:p>
            <a:pPr>
              <a:spcAft>
                <a:spcPts val="1200"/>
              </a:spcAft>
              <a:defRPr sz="1100">
                <a:solidFill>
                  <a:srgbClr val="9CA3AF"/>
                </a:solidFill>
                <a:latin typeface="Times New Roman"/>
              </a:defRPr>
            </a:pPr>
            <a:r>
              <a:t>Electricity End-Users (Phase 5)</a:t>
            </a:r>
          </a:p>
          <a:p>
            <a:pPr>
              <a:lnSpc>
                <a:spcPct val="135000"/>
              </a:lnSpc>
              <a:defRPr sz="1250">
                <a:solidFill>
                  <a:srgbClr val="F0F2F5"/>
                </a:solidFill>
                <a:latin typeface="Times New Roman"/>
              </a:defRPr>
            </a:pPr>
            <a:r>
              <a:t>• Strict isolation: Cannot access inspection queues or other consumers' data</a:t>
            </a:r>
            <a:br/>
            <a:r>
              <a:t>• Personal historical daily consumption telemetry</a:t>
            </a:r>
            <a:br/>
            <a:r>
              <a:t>• Billing transparency and tariff tier breakdowns</a:t>
            </a:r>
            <a:br/>
            <a:r>
              <a:t>• Proactive consumption surge alerts</a:t>
            </a:r>
            <a:br/>
            <a:r>
              <a:t>• Formal dispute filing for faulty metering</a:t>
            </a:r>
          </a:p>
        </p:txBody>
      </p:sp>
      <p:sp>
        <p:nvSpPr>
          <p:cNvPr id="12" name="Rectangle 11"/>
          <p:cNvSpPr/>
          <p:nvPr/>
        </p:nvSpPr>
        <p:spPr>
          <a:xfrm>
            <a:off x="80467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920240"/>
            <a:ext cx="2864815" cy="3840480"/>
          </a:xfrm>
          <a:prstGeom prst="rect">
            <a:avLst/>
          </a:prstGeom>
          <a:noFill/>
        </p:spPr>
        <p:txBody>
          <a:bodyPr wrap="square">
            <a:spAutoFit/>
          </a:bodyPr>
          <a:lstStyle/>
          <a:p>
            <a:pPr>
              <a:defRPr sz="1400" b="1">
                <a:solidFill>
                  <a:srgbClr val="34D399"/>
                </a:solidFill>
                <a:latin typeface="Times New Roman"/>
              </a:defRPr>
            </a:pPr>
            <a:r>
              <a:t>BOARD_COMMUNICATION_ADMIN</a:t>
            </a:r>
          </a:p>
          <a:p>
            <a:pPr>
              <a:spcAft>
                <a:spcPts val="1200"/>
              </a:spcAft>
              <a:defRPr sz="1100">
                <a:solidFill>
                  <a:srgbClr val="9CA3AF"/>
                </a:solidFill>
                <a:latin typeface="Times New Roman"/>
              </a:defRPr>
            </a:pPr>
            <a:r>
              <a:t>Utility Executive Leadership (Phase 5)</a:t>
            </a:r>
          </a:p>
          <a:p>
            <a:pPr>
              <a:lnSpc>
                <a:spcPct val="135000"/>
              </a:lnSpc>
              <a:defRPr sz="1250">
                <a:solidFill>
                  <a:srgbClr val="F0F2F5"/>
                </a:solidFill>
                <a:latin typeface="Times New Roman"/>
              </a:defRPr>
            </a:pPr>
            <a:r>
              <a:t>• Macro non-technical loss analytics across distribution zones</a:t>
            </a:r>
            <a:br/>
            <a:r>
              <a:t>• Enforcement outcome summaries &amp; penalty recovery reports</a:t>
            </a:r>
            <a:br/>
            <a:r>
              <a:t>• Official circular broadcasting to consumers &amp; employees</a:t>
            </a:r>
            <a:br/>
            <a:r>
              <a:t>• Model governance and verification oversight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07 | SOFTWARE ENGINEERING PROCESS</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System Modelling and Relational Database Architecture</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16 of 38</a:t>
            </a:r>
          </a:p>
        </p:txBody>
      </p:sp>
      <p:sp>
        <p:nvSpPr>
          <p:cNvPr id="8" name="Rectangle 7"/>
          <p:cNvSpPr/>
          <p:nvPr/>
        </p:nvSpPr>
        <p:spPr>
          <a:xfrm>
            <a:off x="731520" y="1645920"/>
            <a:ext cx="5120640"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828800"/>
            <a:ext cx="4572000" cy="4023360"/>
          </a:xfrm>
          <a:prstGeom prst="rect">
            <a:avLst/>
          </a:prstGeom>
          <a:noFill/>
        </p:spPr>
        <p:txBody>
          <a:bodyPr wrap="square">
            <a:spAutoFit/>
          </a:bodyPr>
          <a:lstStyle/>
          <a:p>
            <a:pPr>
              <a:defRPr sz="1200" b="1">
                <a:solidFill>
                  <a:srgbClr val="22D3EE"/>
                </a:solidFill>
                <a:latin typeface="Times New Roman"/>
              </a:defRPr>
            </a:pPr>
            <a:r>
              <a:t>RELATIONAL SCHEMA DESIGN</a:t>
            </a:r>
          </a:p>
          <a:p>
            <a:pPr>
              <a:spcAft>
                <a:spcPts val="1000"/>
              </a:spcAft>
              <a:defRPr sz="1900" b="1">
                <a:solidFill>
                  <a:srgbClr val="F0F2F5"/>
                </a:solidFill>
                <a:latin typeface="Times New Roman"/>
              </a:defRPr>
            </a:pPr>
            <a:r>
              <a:t>MySQL 8.0 Normalized Schema (16 Tables)</a:t>
            </a:r>
          </a:p>
          <a:p>
            <a:pPr>
              <a:spcAft>
                <a:spcPts val="400"/>
              </a:spcAft>
              <a:defRPr sz="1250">
                <a:solidFill>
                  <a:srgbClr val="9CA3AF"/>
                </a:solidFill>
                <a:latin typeface="Times New Roman"/>
              </a:defRPr>
            </a:pPr>
            <a:r>
              <a:t>• Authentication &amp; Users: users, user_roles, audit_logs</a:t>
            </a:r>
          </a:p>
          <a:p>
            <a:pPr>
              <a:spcAft>
                <a:spcPts val="400"/>
              </a:spcAft>
              <a:defRPr sz="1250">
                <a:solidFill>
                  <a:srgbClr val="9CA3AF"/>
                </a:solidFill>
                <a:latin typeface="Times New Roman"/>
              </a:defRPr>
            </a:pPr>
            <a:r>
              <a:t>• Consumer &amp; Metering: consumers, meters, daily_readings (time-series)</a:t>
            </a:r>
          </a:p>
          <a:p>
            <a:pPr>
              <a:spcAft>
                <a:spcPts val="400"/>
              </a:spcAft>
              <a:defRPr sz="1250">
                <a:solidFill>
                  <a:srgbClr val="9CA3AF"/>
                </a:solidFill>
                <a:latin typeface="Times New Roman"/>
              </a:defRPr>
            </a:pPr>
            <a:r>
              <a:t>• Intelligence &amp; ML: model_registry, predictions, shap_factors</a:t>
            </a:r>
          </a:p>
          <a:p>
            <a:pPr>
              <a:spcAft>
                <a:spcPts val="400"/>
              </a:spcAft>
              <a:defRPr sz="1250">
                <a:solidFill>
                  <a:srgbClr val="9CA3AF"/>
                </a:solidFill>
                <a:latin typeface="Times New Roman"/>
              </a:defRPr>
            </a:pPr>
            <a:r>
              <a:t>• Operational Inspection: inspection_cases, case_assignments, inspection_results</a:t>
            </a:r>
          </a:p>
          <a:p>
            <a:pPr>
              <a:spcAft>
                <a:spcPts val="400"/>
              </a:spcAft>
              <a:defRPr sz="1250">
                <a:solidFill>
                  <a:srgbClr val="9CA3AF"/>
                </a:solidFill>
                <a:latin typeface="Times New Roman"/>
              </a:defRPr>
            </a:pPr>
            <a:r>
              <a:t>• Feedback &amp; Governance: model_feedback, model_evaluations</a:t>
            </a:r>
          </a:p>
          <a:p>
            <a:pPr>
              <a:spcAft>
                <a:spcPts val="400"/>
              </a:spcAft>
              <a:defRPr sz="1250">
                <a:solidFill>
                  <a:srgbClr val="9CA3AF"/>
                </a:solidFill>
                <a:latin typeface="Times New Roman"/>
              </a:defRPr>
            </a:pPr>
            <a:r>
              <a:t>• Portals &amp; Alerts: billing_records, consumer_issues, board_posts, notifications</a:t>
            </a:r>
          </a:p>
        </p:txBody>
      </p:sp>
      <p:sp>
        <p:nvSpPr>
          <p:cNvPr id="10" name="Rectangle 9"/>
          <p:cNvSpPr/>
          <p:nvPr/>
        </p:nvSpPr>
        <p:spPr>
          <a:xfrm>
            <a:off x="6217920" y="1645920"/>
            <a:ext cx="52422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693615" cy="4023360"/>
          </a:xfrm>
          <a:prstGeom prst="rect">
            <a:avLst/>
          </a:prstGeom>
          <a:noFill/>
        </p:spPr>
        <p:txBody>
          <a:bodyPr wrap="square">
            <a:spAutoFit/>
          </a:bodyPr>
          <a:lstStyle/>
          <a:p>
            <a:pPr>
              <a:defRPr sz="1200" b="1">
                <a:solidFill>
                  <a:srgbClr val="FBBF24"/>
                </a:solidFill>
                <a:latin typeface="Times New Roman"/>
              </a:defRPr>
            </a:pPr>
            <a:r>
              <a:t>STRUCTURED SYSTEM MODELLING</a:t>
            </a:r>
          </a:p>
          <a:p>
            <a:pPr>
              <a:spcAft>
                <a:spcPts val="1000"/>
              </a:spcAft>
              <a:defRPr sz="1900" b="1">
                <a:solidFill>
                  <a:srgbClr val="F0F2F5"/>
                </a:solidFill>
                <a:latin typeface="Times New Roman"/>
              </a:defRPr>
            </a:pPr>
            <a:r>
              <a:t>UML &amp; Data Flow Models Prepared</a:t>
            </a:r>
          </a:p>
          <a:p>
            <a:pPr algn="just">
              <a:lnSpc>
                <a:spcPct val="130000"/>
              </a:lnSpc>
              <a:defRPr sz="1300">
                <a:solidFill>
                  <a:srgbClr val="9CA3AF"/>
                </a:solidFill>
                <a:latin typeface="Times New Roman"/>
              </a:defRPr>
            </a:pPr>
            <a:r>
              <a:t>To ensure rigorous software engineering specification, the platform was modeled using standard UML and structured analysis artifacts:</a:t>
            </a:r>
            <a:br/>
            <a:br/>
            <a:r>
              <a:t>• Use Case Diagram: Actor boundaries across 3 distinct user roles.</a:t>
            </a:r>
            <a:br/>
            <a:r>
              <a:t>• Structural Models: Class Diagram &amp; Entity-Relationship Diagram.</a:t>
            </a:r>
            <a:br/>
            <a:r>
              <a:t>• Behavioural Models: Sequence Diagram &amp; Activity Diagram for case lifecycle.</a:t>
            </a:r>
            <a:br/>
            <a:r>
              <a:t>• Process Models: DFD Level 0 (Context), Level 1, and Level 2 decompositions.</a:t>
            </a:r>
            <a:br/>
            <a:br/>
            <a:r>
              <a:t>All diagrams are formatted in dedicated presentation placeholders following this slide.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07 | SOFTWARE ENGINEERING PROCESS</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Testing, Verification and System Quality Assurance</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17 of 38</a:t>
            </a:r>
          </a:p>
        </p:txBody>
      </p:sp>
      <p:sp>
        <p:nvSpPr>
          <p:cNvPr id="8" name="Rectangle 7"/>
          <p:cNvSpPr/>
          <p:nvPr/>
        </p:nvSpPr>
        <p:spPr>
          <a:xfrm>
            <a:off x="7315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20240"/>
            <a:ext cx="2864815" cy="3840480"/>
          </a:xfrm>
          <a:prstGeom prst="rect">
            <a:avLst/>
          </a:prstGeom>
          <a:noFill/>
        </p:spPr>
        <p:txBody>
          <a:bodyPr wrap="square">
            <a:spAutoFit/>
          </a:bodyPr>
          <a:lstStyle/>
          <a:p>
            <a:pPr>
              <a:defRPr sz="1600" b="1">
                <a:solidFill>
                  <a:srgbClr val="F0F2F5"/>
                </a:solidFill>
                <a:latin typeface="Times New Roman"/>
              </a:defRPr>
            </a:pPr>
            <a:r>
              <a:t>Backend Automated Test Suite</a:t>
            </a:r>
          </a:p>
          <a:p>
            <a:pPr>
              <a:spcAft>
                <a:spcPts val="1200"/>
              </a:spcAft>
              <a:defRPr sz="1100" b="1">
                <a:solidFill>
                  <a:srgbClr val="34D399"/>
                </a:solidFill>
                <a:latin typeface="Times New Roman"/>
              </a:defRPr>
            </a:pPr>
            <a:r>
              <a:t>21 Automated Integration Tests (100% Passing)</a:t>
            </a:r>
          </a:p>
          <a:p>
            <a:pPr>
              <a:lnSpc>
                <a:spcPct val="130000"/>
              </a:lnSpc>
              <a:defRPr sz="1250">
                <a:solidFill>
                  <a:srgbClr val="9CA3AF"/>
                </a:solidFill>
                <a:latin typeface="Times New Roman"/>
              </a:defRPr>
            </a:pPr>
            <a:r>
              <a:t>• Executed using pytest against live MySQL 8.0 instance (23.37s).</a:t>
            </a:r>
            <a:br/>
            <a:r>
              <a:t>• Validates database schema integrity and foreign keys.</a:t>
            </a:r>
            <a:br/>
            <a:r>
              <a:t>• Verifies authentication, JWT expiration, and password hashing.</a:t>
            </a:r>
            <a:br/>
            <a:r>
              <a:t>• Confirms strict role authorization: consumers blocked from vigilance APIs.</a:t>
            </a:r>
            <a:br/>
            <a:r>
              <a:t>• Validates XGBoost inference, threshold calculation, and SHAP factors.</a:t>
            </a:r>
            <a:br/>
            <a:r>
              <a:t>• Confirms full case lifecycle: creation → assignment → outcome recording.</a:t>
            </a:r>
          </a:p>
        </p:txBody>
      </p:sp>
      <p:sp>
        <p:nvSpPr>
          <p:cNvPr id="10" name="Rectangle 9"/>
          <p:cNvSpPr/>
          <p:nvPr/>
        </p:nvSpPr>
        <p:spPr>
          <a:xfrm>
            <a:off x="43891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920240"/>
            <a:ext cx="2864815" cy="3840480"/>
          </a:xfrm>
          <a:prstGeom prst="rect">
            <a:avLst/>
          </a:prstGeom>
          <a:noFill/>
        </p:spPr>
        <p:txBody>
          <a:bodyPr wrap="square">
            <a:spAutoFit/>
          </a:bodyPr>
          <a:lstStyle/>
          <a:p>
            <a:pPr>
              <a:defRPr sz="1600" b="1">
                <a:solidFill>
                  <a:srgbClr val="F0F2F5"/>
                </a:solidFill>
                <a:latin typeface="Times New Roman"/>
              </a:defRPr>
            </a:pPr>
            <a:r>
              <a:t>Frontend Production Verification</a:t>
            </a:r>
          </a:p>
          <a:p>
            <a:pPr>
              <a:spcAft>
                <a:spcPts val="1200"/>
              </a:spcAft>
              <a:defRPr sz="1100" b="1">
                <a:solidFill>
                  <a:srgbClr val="22D3EE"/>
                </a:solidFill>
                <a:latin typeface="Times New Roman"/>
              </a:defRPr>
            </a:pPr>
            <a:r>
              <a:t>0 TypeScript Errors | Vite Production Bundle</a:t>
            </a:r>
          </a:p>
          <a:p>
            <a:pPr>
              <a:lnSpc>
                <a:spcPct val="130000"/>
              </a:lnSpc>
              <a:defRPr sz="1250">
                <a:solidFill>
                  <a:srgbClr val="9CA3AF"/>
                </a:solidFill>
                <a:latin typeface="Times New Roman"/>
              </a:defRPr>
            </a:pPr>
            <a:r>
              <a:t>• Compiled with strict TypeScript configuration (tsc -b &amp;&amp; vite build in 1.43s).</a:t>
            </a:r>
            <a:br/>
            <a:r>
              <a:t>• Zero compilation errors, zero broken imports, and zero typing bypasses.</a:t>
            </a:r>
            <a:br/>
            <a:r>
              <a:t>• CSS optimized with Tailwind CSS and Inter typography.</a:t>
            </a:r>
            <a:br/>
            <a:r>
              <a:t>• Single-row responsive header with integrated workspace navigation.</a:t>
            </a:r>
            <a:br/>
            <a:r>
              <a:t>• Production bundle: 60.05 kB CSS, 881.50 kB JS (minified + gzip compatible).</a:t>
            </a:r>
          </a:p>
        </p:txBody>
      </p:sp>
      <p:sp>
        <p:nvSpPr>
          <p:cNvPr id="12" name="Rectangle 11"/>
          <p:cNvSpPr/>
          <p:nvPr/>
        </p:nvSpPr>
        <p:spPr>
          <a:xfrm>
            <a:off x="8046720" y="1645920"/>
            <a:ext cx="34134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920240"/>
            <a:ext cx="2864815" cy="3840480"/>
          </a:xfrm>
          <a:prstGeom prst="rect">
            <a:avLst/>
          </a:prstGeom>
          <a:noFill/>
        </p:spPr>
        <p:txBody>
          <a:bodyPr wrap="square">
            <a:spAutoFit/>
          </a:bodyPr>
          <a:lstStyle/>
          <a:p>
            <a:pPr>
              <a:defRPr sz="1600" b="1">
                <a:solidFill>
                  <a:srgbClr val="F0F2F5"/>
                </a:solidFill>
                <a:latin typeface="Times New Roman"/>
              </a:defRPr>
            </a:pPr>
            <a:r>
              <a:t>Automated Testing Audit &amp; Boundary Note</a:t>
            </a:r>
          </a:p>
          <a:p>
            <a:pPr>
              <a:spcAft>
                <a:spcPts val="1200"/>
              </a:spcAft>
              <a:defRPr sz="1100" b="1">
                <a:solidFill>
                  <a:srgbClr val="FBBF24"/>
                </a:solidFill>
                <a:latin typeface="Times New Roman"/>
              </a:defRPr>
            </a:pPr>
            <a:r>
              <a:t>Documented QA Environment Assessment</a:t>
            </a:r>
          </a:p>
          <a:p>
            <a:pPr>
              <a:lnSpc>
                <a:spcPct val="130000"/>
              </a:lnSpc>
              <a:defRPr sz="1250">
                <a:solidFill>
                  <a:srgbClr val="9CA3AF"/>
                </a:solidFill>
                <a:latin typeface="Times New Roman"/>
              </a:defRPr>
            </a:pPr>
            <a:r>
              <a:t>• Automated HTTP &amp; API integration tests have 100% passing coverage.</a:t>
            </a:r>
            <a:br/>
            <a:r>
              <a:t>• Browser-level automated driver execution (Playwright) encountered an external upstream CDN 404 response for win32_x64 driver binaries.</a:t>
            </a:r>
            <a:br/>
            <a:r>
              <a:t>• Verified through manual interactive testing and automated API contract testing.</a:t>
            </a:r>
            <a:br/>
            <a:r>
              <a:t>• Local production build succeeds cleanly without requiring remote driver dependencies.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07 | SYSTEM MODELLING &amp; DESIGN ARTIFACTS</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System Use Case Diagram</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18 of 38</a:t>
            </a:r>
          </a:p>
        </p:txBody>
      </p:sp>
      <p:sp>
        <p:nvSpPr>
          <p:cNvPr id="8" name="Rectangle 7"/>
          <p:cNvSpPr/>
          <p:nvPr/>
        </p:nvSpPr>
        <p:spPr>
          <a:xfrm>
            <a:off x="731520" y="1508760"/>
            <a:ext cx="10728655" cy="429768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377440"/>
            <a:ext cx="9448495" cy="2560320"/>
          </a:xfrm>
          <a:prstGeom prst="rect">
            <a:avLst/>
          </a:prstGeom>
          <a:noFill/>
        </p:spPr>
        <p:txBody>
          <a:bodyPr wrap="square">
            <a:spAutoFit/>
          </a:bodyPr>
          <a:lstStyle/>
          <a:p>
            <a:pPr algn="ctr">
              <a:spcAft>
                <a:spcPts val="1000"/>
              </a:spcAft>
              <a:defRPr sz="1800" b="1">
                <a:solidFill>
                  <a:srgbClr val="22D3EE"/>
                </a:solidFill>
                <a:latin typeface="Times New Roman"/>
              </a:defRPr>
            </a:pPr>
            <a:r>
              <a:t>[SYSTEM USE CASE DIAGRAM — INSERTION PLACEHOLDER]</a:t>
            </a:r>
          </a:p>
          <a:p>
            <a:pPr algn="ctr">
              <a:spcAft>
                <a:spcPts val="1400"/>
              </a:spcAft>
              <a:defRPr sz="1300">
                <a:solidFill>
                  <a:srgbClr val="F0F2F5"/>
                </a:solidFill>
                <a:latin typeface="Times New Roman"/>
              </a:defRPr>
            </a:pPr>
            <a:r>
              <a:t>Scope: Elicits functional boundaries and primary interactions between Inspection Officers, Consumers, and Utility Board Administrators with system subroutines.</a:t>
            </a:r>
          </a:p>
          <a:p>
            <a:pPr algn="ctr">
              <a:defRPr sz="1150">
                <a:solidFill>
                  <a:srgbClr val="9CA3AF"/>
                </a:solidFill>
                <a:latin typeface="Times New Roman"/>
              </a:defRPr>
            </a:pPr>
            <a:r>
              <a:t>Paste high-resolution System Use Case diagram here. Ensure actor stick-figures, use case ovals, and include/extend dependencies remain cleanly readable.</a:t>
            </a:r>
          </a:p>
        </p:txBody>
      </p:sp>
      <p:sp>
        <p:nvSpPr>
          <p:cNvPr id="10" name="TextBox 9"/>
          <p:cNvSpPr txBox="1"/>
          <p:nvPr/>
        </p:nvSpPr>
        <p:spPr>
          <a:xfrm>
            <a:off x="731520" y="5897880"/>
            <a:ext cx="10728655" cy="411480"/>
          </a:xfrm>
          <a:prstGeom prst="rect">
            <a:avLst/>
          </a:prstGeom>
          <a:noFill/>
        </p:spPr>
        <p:txBody>
          <a:bodyPr wrap="none">
            <a:spAutoFit/>
          </a:bodyPr>
          <a:lstStyle/>
          <a:p>
            <a:pPr>
              <a:defRPr sz="1100">
                <a:solidFill>
                  <a:srgbClr val="9CA3AF"/>
                </a:solidFill>
                <a:latin typeface="Times New Roman"/>
              </a:defRPr>
            </a:pPr>
            <a:r>
              <a:t>Technical Artifact: System Use Case Diagram | Formatted for Academic Review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07 | SYSTEM MODELLING &amp; DESIGN ARTIFACTS</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Class Diagram</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19 of 38</a:t>
            </a:r>
          </a:p>
        </p:txBody>
      </p:sp>
      <p:sp>
        <p:nvSpPr>
          <p:cNvPr id="8" name="Rectangle 7"/>
          <p:cNvSpPr/>
          <p:nvPr/>
        </p:nvSpPr>
        <p:spPr>
          <a:xfrm>
            <a:off x="731520" y="1508760"/>
            <a:ext cx="10728655" cy="429768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377440"/>
            <a:ext cx="9448495" cy="2560320"/>
          </a:xfrm>
          <a:prstGeom prst="rect">
            <a:avLst/>
          </a:prstGeom>
          <a:noFill/>
        </p:spPr>
        <p:txBody>
          <a:bodyPr wrap="square">
            <a:spAutoFit/>
          </a:bodyPr>
          <a:lstStyle/>
          <a:p>
            <a:pPr algn="ctr">
              <a:spcAft>
                <a:spcPts val="1000"/>
              </a:spcAft>
              <a:defRPr sz="1800" b="1">
                <a:solidFill>
                  <a:srgbClr val="22D3EE"/>
                </a:solidFill>
                <a:latin typeface="Times New Roman"/>
              </a:defRPr>
            </a:pPr>
            <a:r>
              <a:t>[CLASS DIAGRAM — INSERTION PLACEHOLDER]</a:t>
            </a:r>
          </a:p>
          <a:p>
            <a:pPr algn="ctr">
              <a:spcAft>
                <a:spcPts val="1400"/>
              </a:spcAft>
              <a:defRPr sz="1300">
                <a:solidFill>
                  <a:srgbClr val="F0F2F5"/>
                </a:solidFill>
                <a:latin typeface="Times New Roman"/>
              </a:defRPr>
            </a:pPr>
            <a:r>
              <a:t>Scope: Documents static object-oriented structure including Consumer, Meter, PredictionModel, InspectionCase, FlyingSquadOfficer, and ModelFeedback entities.</a:t>
            </a:r>
          </a:p>
          <a:p>
            <a:pPr algn="ctr">
              <a:defRPr sz="1150">
                <a:solidFill>
                  <a:srgbClr val="9CA3AF"/>
                </a:solidFill>
                <a:latin typeface="Times New Roman"/>
              </a:defRPr>
            </a:pPr>
            <a:r>
              <a:t>Paste high-resolution Class Diagram here. Entity attributes, methods, visibility indicators (+/-/#), and multiplicity associations (1..*, 0..1) should be visible.</a:t>
            </a:r>
          </a:p>
        </p:txBody>
      </p:sp>
      <p:sp>
        <p:nvSpPr>
          <p:cNvPr id="10" name="TextBox 9"/>
          <p:cNvSpPr txBox="1"/>
          <p:nvPr/>
        </p:nvSpPr>
        <p:spPr>
          <a:xfrm>
            <a:off x="731520" y="5897880"/>
            <a:ext cx="10728655" cy="411480"/>
          </a:xfrm>
          <a:prstGeom prst="rect">
            <a:avLst/>
          </a:prstGeom>
          <a:noFill/>
        </p:spPr>
        <p:txBody>
          <a:bodyPr wrap="none">
            <a:spAutoFit/>
          </a:bodyPr>
          <a:lstStyle/>
          <a:p>
            <a:pPr>
              <a:defRPr sz="1100">
                <a:solidFill>
                  <a:srgbClr val="9CA3AF"/>
                </a:solidFill>
                <a:latin typeface="Times New Roman"/>
              </a:defRPr>
            </a:pPr>
            <a:r>
              <a:t>Technical Artifact: Class Diagram | Formatted for Academic Review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07 | SYSTEM MODELLING &amp; DESIGN ARTIFACTS</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Sequence Diagram</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20 of 38</a:t>
            </a:r>
          </a:p>
        </p:txBody>
      </p:sp>
      <p:sp>
        <p:nvSpPr>
          <p:cNvPr id="8" name="Rectangle 7"/>
          <p:cNvSpPr/>
          <p:nvPr/>
        </p:nvSpPr>
        <p:spPr>
          <a:xfrm>
            <a:off x="731520" y="1508760"/>
            <a:ext cx="10728655" cy="429768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377440"/>
            <a:ext cx="9448495" cy="2560320"/>
          </a:xfrm>
          <a:prstGeom prst="rect">
            <a:avLst/>
          </a:prstGeom>
          <a:noFill/>
        </p:spPr>
        <p:txBody>
          <a:bodyPr wrap="square">
            <a:spAutoFit/>
          </a:bodyPr>
          <a:lstStyle/>
          <a:p>
            <a:pPr algn="ctr">
              <a:spcAft>
                <a:spcPts val="1000"/>
              </a:spcAft>
              <a:defRPr sz="1800" b="1">
                <a:solidFill>
                  <a:srgbClr val="22D3EE"/>
                </a:solidFill>
                <a:latin typeface="Times New Roman"/>
              </a:defRPr>
            </a:pPr>
            <a:r>
              <a:t>[SEQUENCE DIAGRAM — INSERTION PLACEHOLDER]</a:t>
            </a:r>
          </a:p>
          <a:p>
            <a:pPr algn="ctr">
              <a:spcAft>
                <a:spcPts val="1400"/>
              </a:spcAft>
              <a:defRPr sz="1300">
                <a:solidFill>
                  <a:srgbClr val="F0F2F5"/>
                </a:solidFill>
                <a:latin typeface="Times New Roman"/>
              </a:defRPr>
            </a:pPr>
            <a:r>
              <a:t>Scope: Models dynamic message exchange during the core workflow: Ingestion → Prediction → Priority Queue → Squad Assignment → Field Verification → Model Feedback.</a:t>
            </a:r>
          </a:p>
          <a:p>
            <a:pPr algn="ctr">
              <a:defRPr sz="1150">
                <a:solidFill>
                  <a:srgbClr val="9CA3AF"/>
                </a:solidFill>
                <a:latin typeface="Times New Roman"/>
              </a:defRPr>
            </a:pPr>
            <a:r>
              <a:t>Paste high-resolution Sequence Diagram here. Lifelines, synchronous/asynchronous messages, activation bars, and return values should be legible.</a:t>
            </a:r>
          </a:p>
        </p:txBody>
      </p:sp>
      <p:sp>
        <p:nvSpPr>
          <p:cNvPr id="10" name="TextBox 9"/>
          <p:cNvSpPr txBox="1"/>
          <p:nvPr/>
        </p:nvSpPr>
        <p:spPr>
          <a:xfrm>
            <a:off x="731520" y="5897880"/>
            <a:ext cx="10728655" cy="411480"/>
          </a:xfrm>
          <a:prstGeom prst="rect">
            <a:avLst/>
          </a:prstGeom>
          <a:noFill/>
        </p:spPr>
        <p:txBody>
          <a:bodyPr wrap="none">
            <a:spAutoFit/>
          </a:bodyPr>
          <a:lstStyle/>
          <a:p>
            <a:pPr>
              <a:defRPr sz="1100">
                <a:solidFill>
                  <a:srgbClr val="9CA3AF"/>
                </a:solidFill>
                <a:latin typeface="Times New Roman"/>
              </a:defRPr>
            </a:pPr>
            <a:r>
              <a:t>Technical Artifact: Sequence Diagram | Formatted for Academic Review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07 | SYSTEM MODELLING &amp; DESIGN ARTIFACTS</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Activity Diagram</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21 of 38</a:t>
            </a:r>
          </a:p>
        </p:txBody>
      </p:sp>
      <p:sp>
        <p:nvSpPr>
          <p:cNvPr id="8" name="Rectangle 7"/>
          <p:cNvSpPr/>
          <p:nvPr/>
        </p:nvSpPr>
        <p:spPr>
          <a:xfrm>
            <a:off x="731520" y="1508760"/>
            <a:ext cx="10728655" cy="429768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377440"/>
            <a:ext cx="9448495" cy="2560320"/>
          </a:xfrm>
          <a:prstGeom prst="rect">
            <a:avLst/>
          </a:prstGeom>
          <a:noFill/>
        </p:spPr>
        <p:txBody>
          <a:bodyPr wrap="square">
            <a:spAutoFit/>
          </a:bodyPr>
          <a:lstStyle/>
          <a:p>
            <a:pPr algn="ctr">
              <a:spcAft>
                <a:spcPts val="1000"/>
              </a:spcAft>
              <a:defRPr sz="1800" b="1">
                <a:solidFill>
                  <a:srgbClr val="22D3EE"/>
                </a:solidFill>
                <a:latin typeface="Times New Roman"/>
              </a:defRPr>
            </a:pPr>
            <a:r>
              <a:t>[ACTIVITY DIAGRAM — INSERTION PLACEHOLDER]</a:t>
            </a:r>
          </a:p>
          <a:p>
            <a:pPr algn="ctr">
              <a:spcAft>
                <a:spcPts val="1400"/>
              </a:spcAft>
              <a:defRPr sz="1300">
                <a:solidFill>
                  <a:srgbClr val="F0F2F5"/>
                </a:solidFill>
                <a:latin typeface="Times New Roman"/>
              </a:defRPr>
            </a:pPr>
            <a:r>
              <a:t>Scope: Captures operational control flow of the physical inspection decision process, including decision diamonds, parallel branches, and outcome recording paths.</a:t>
            </a:r>
          </a:p>
          <a:p>
            <a:pPr algn="ctr">
              <a:defRPr sz="1150">
                <a:solidFill>
                  <a:srgbClr val="9CA3AF"/>
                </a:solidFill>
                <a:latin typeface="Times New Roman"/>
              </a:defRPr>
            </a:pPr>
            <a:r>
              <a:t>Paste high-resolution Activity Diagram here. Swimlanes (System, Supervisor, Field Squad), fork/join nodes, and decision paths should be displayed.</a:t>
            </a:r>
          </a:p>
        </p:txBody>
      </p:sp>
      <p:sp>
        <p:nvSpPr>
          <p:cNvPr id="10" name="TextBox 9"/>
          <p:cNvSpPr txBox="1"/>
          <p:nvPr/>
        </p:nvSpPr>
        <p:spPr>
          <a:xfrm>
            <a:off x="731520" y="5897880"/>
            <a:ext cx="10728655" cy="411480"/>
          </a:xfrm>
          <a:prstGeom prst="rect">
            <a:avLst/>
          </a:prstGeom>
          <a:noFill/>
        </p:spPr>
        <p:txBody>
          <a:bodyPr wrap="none">
            <a:spAutoFit/>
          </a:bodyPr>
          <a:lstStyle/>
          <a:p>
            <a:pPr>
              <a:defRPr sz="1100">
                <a:solidFill>
                  <a:srgbClr val="9CA3AF"/>
                </a:solidFill>
                <a:latin typeface="Times New Roman"/>
              </a:defRPr>
            </a:pPr>
            <a:r>
              <a:t>Technical Artifact: Activity Diagram | Formatted for Academic Review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07 | SYSTEM MODELLING &amp; DESIGN ARTIFACTS</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Entity Relationship Diagram (ERD)</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22 of 38</a:t>
            </a:r>
          </a:p>
        </p:txBody>
      </p:sp>
      <p:sp>
        <p:nvSpPr>
          <p:cNvPr id="8" name="Rectangle 7"/>
          <p:cNvSpPr/>
          <p:nvPr/>
        </p:nvSpPr>
        <p:spPr>
          <a:xfrm>
            <a:off x="731520" y="1508760"/>
            <a:ext cx="10728655" cy="429768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377440"/>
            <a:ext cx="9448495" cy="2560320"/>
          </a:xfrm>
          <a:prstGeom prst="rect">
            <a:avLst/>
          </a:prstGeom>
          <a:noFill/>
        </p:spPr>
        <p:txBody>
          <a:bodyPr wrap="square">
            <a:spAutoFit/>
          </a:bodyPr>
          <a:lstStyle/>
          <a:p>
            <a:pPr algn="ctr">
              <a:spcAft>
                <a:spcPts val="1000"/>
              </a:spcAft>
              <a:defRPr sz="1800" b="1">
                <a:solidFill>
                  <a:srgbClr val="22D3EE"/>
                </a:solidFill>
                <a:latin typeface="Times New Roman"/>
              </a:defRPr>
            </a:pPr>
            <a:r>
              <a:t>[ENTITY RELATIONSHIP DIAGRAM (ERD) — INSERTION PLACEHOLDER]</a:t>
            </a:r>
          </a:p>
          <a:p>
            <a:pPr algn="ctr">
              <a:spcAft>
                <a:spcPts val="1400"/>
              </a:spcAft>
              <a:defRPr sz="1300">
                <a:solidFill>
                  <a:srgbClr val="F0F2F5"/>
                </a:solidFill>
                <a:latin typeface="Times New Roman"/>
              </a:defRPr>
            </a:pPr>
            <a:r>
              <a:t>Scope: Represents the 16 normalized relational tables in MySQL 8.0 with primary keys, foreign key constraints, and 1:N cardinality relationships.</a:t>
            </a:r>
          </a:p>
          <a:p>
            <a:pPr algn="ctr">
              <a:defRPr sz="1150">
                <a:solidFill>
                  <a:srgbClr val="9CA3AF"/>
                </a:solidFill>
                <a:latin typeface="Times New Roman"/>
              </a:defRPr>
            </a:pPr>
            <a:r>
              <a:t>Paste high-resolution ER Diagram here. Tables, column datatypes, primary keys (PK), foreign keys (FK), and Crow's Foot cardinality notations should be legible.</a:t>
            </a:r>
          </a:p>
        </p:txBody>
      </p:sp>
      <p:sp>
        <p:nvSpPr>
          <p:cNvPr id="10" name="TextBox 9"/>
          <p:cNvSpPr txBox="1"/>
          <p:nvPr/>
        </p:nvSpPr>
        <p:spPr>
          <a:xfrm>
            <a:off x="731520" y="5897880"/>
            <a:ext cx="10728655" cy="411480"/>
          </a:xfrm>
          <a:prstGeom prst="rect">
            <a:avLst/>
          </a:prstGeom>
          <a:noFill/>
        </p:spPr>
        <p:txBody>
          <a:bodyPr wrap="none">
            <a:spAutoFit/>
          </a:bodyPr>
          <a:lstStyle/>
          <a:p>
            <a:pPr>
              <a:defRPr sz="1100">
                <a:solidFill>
                  <a:srgbClr val="9CA3AF"/>
                </a:solidFill>
                <a:latin typeface="Times New Roman"/>
              </a:defRPr>
            </a:pPr>
            <a:r>
              <a:t>Technical Artifact: Entity Relationship Diagram (ERD) | Formatted for Academic Review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07 | SYSTEM MODELLING &amp; DESIGN ARTIFACTS</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Data Flow Diagram — Level 0 (Context Diagram)</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23 of 38</a:t>
            </a:r>
          </a:p>
        </p:txBody>
      </p:sp>
      <p:sp>
        <p:nvSpPr>
          <p:cNvPr id="8" name="Rectangle 7"/>
          <p:cNvSpPr/>
          <p:nvPr/>
        </p:nvSpPr>
        <p:spPr>
          <a:xfrm>
            <a:off x="731520" y="1508760"/>
            <a:ext cx="10728655" cy="429768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377440"/>
            <a:ext cx="9448495" cy="2560320"/>
          </a:xfrm>
          <a:prstGeom prst="rect">
            <a:avLst/>
          </a:prstGeom>
          <a:noFill/>
        </p:spPr>
        <p:txBody>
          <a:bodyPr wrap="square">
            <a:spAutoFit/>
          </a:bodyPr>
          <a:lstStyle/>
          <a:p>
            <a:pPr algn="ctr">
              <a:spcAft>
                <a:spcPts val="1000"/>
              </a:spcAft>
              <a:defRPr sz="1800" b="1">
                <a:solidFill>
                  <a:srgbClr val="22D3EE"/>
                </a:solidFill>
                <a:latin typeface="Times New Roman"/>
              </a:defRPr>
            </a:pPr>
            <a:r>
              <a:t>[DATA FLOW DIAGRAM — LEVEL 0 (CONTEXT DIAGRAM) — INSERTION PLACEHOLDER]</a:t>
            </a:r>
          </a:p>
          <a:p>
            <a:pPr algn="ctr">
              <a:spcAft>
                <a:spcPts val="1400"/>
              </a:spcAft>
              <a:defRPr sz="1300">
                <a:solidFill>
                  <a:srgbClr val="F0F2F5"/>
                </a:solidFill>
                <a:latin typeface="Times New Roman"/>
              </a:defRPr>
            </a:pPr>
            <a:r>
              <a:t>Scope: High-level context diagram modeling external entity boundaries (Consumers, Smart Meters, Flying Squad Officers, Utility Board) around the central system.</a:t>
            </a:r>
          </a:p>
          <a:p>
            <a:pPr algn="ctr">
              <a:defRPr sz="1150">
                <a:solidFill>
                  <a:srgbClr val="9CA3AF"/>
                </a:solidFill>
                <a:latin typeface="Times New Roman"/>
              </a:defRPr>
            </a:pPr>
            <a:r>
              <a:t>Paste high-resolution Level-0 DFD here. Context process bubble, external entities, and primary input/output data flows should be clearly distinguishable.</a:t>
            </a:r>
          </a:p>
        </p:txBody>
      </p:sp>
      <p:sp>
        <p:nvSpPr>
          <p:cNvPr id="10" name="TextBox 9"/>
          <p:cNvSpPr txBox="1"/>
          <p:nvPr/>
        </p:nvSpPr>
        <p:spPr>
          <a:xfrm>
            <a:off x="731520" y="5897880"/>
            <a:ext cx="10728655" cy="411480"/>
          </a:xfrm>
          <a:prstGeom prst="rect">
            <a:avLst/>
          </a:prstGeom>
          <a:noFill/>
        </p:spPr>
        <p:txBody>
          <a:bodyPr wrap="none">
            <a:spAutoFit/>
          </a:bodyPr>
          <a:lstStyle/>
          <a:p>
            <a:pPr>
              <a:defRPr sz="1100">
                <a:solidFill>
                  <a:srgbClr val="9CA3AF"/>
                </a:solidFill>
                <a:latin typeface="Times New Roman"/>
              </a:defRPr>
            </a:pPr>
            <a:r>
              <a:t>Technical Artifact: Data Flow Diagram — Level 0 (Context Diagram) | Formatted for Academic Review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07 | SYSTEM MODELLING &amp; DESIGN ARTIFACTS</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Data Flow Diagram — Level 1</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24 of 38</a:t>
            </a:r>
          </a:p>
        </p:txBody>
      </p:sp>
      <p:sp>
        <p:nvSpPr>
          <p:cNvPr id="8" name="Rectangle 7"/>
          <p:cNvSpPr/>
          <p:nvPr/>
        </p:nvSpPr>
        <p:spPr>
          <a:xfrm>
            <a:off x="731520" y="1508760"/>
            <a:ext cx="10728655" cy="429768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377440"/>
            <a:ext cx="9448495" cy="2560320"/>
          </a:xfrm>
          <a:prstGeom prst="rect">
            <a:avLst/>
          </a:prstGeom>
          <a:noFill/>
        </p:spPr>
        <p:txBody>
          <a:bodyPr wrap="square">
            <a:spAutoFit/>
          </a:bodyPr>
          <a:lstStyle/>
          <a:p>
            <a:pPr algn="ctr">
              <a:spcAft>
                <a:spcPts val="1000"/>
              </a:spcAft>
              <a:defRPr sz="1800" b="1">
                <a:solidFill>
                  <a:srgbClr val="22D3EE"/>
                </a:solidFill>
                <a:latin typeface="Times New Roman"/>
              </a:defRPr>
            </a:pPr>
            <a:r>
              <a:t>[DATA FLOW DIAGRAM — LEVEL 1 — INSERTION PLACEHOLDER]</a:t>
            </a:r>
          </a:p>
          <a:p>
            <a:pPr algn="ctr">
              <a:spcAft>
                <a:spcPts val="1400"/>
              </a:spcAft>
              <a:defRPr sz="1300">
                <a:solidFill>
                  <a:srgbClr val="F0F2F5"/>
                </a:solidFill>
                <a:latin typeface="Times New Roman"/>
              </a:defRPr>
            </a:pPr>
            <a:r>
              <a:t>Scope: Decomposes central system into primary sub-processes: 1.0 Telemetry Ingestion, 2.0 ML Risk Inference, 3.0 Inspection Management, 4.0 Closed-Loop Feedback.</a:t>
            </a:r>
          </a:p>
          <a:p>
            <a:pPr algn="ctr">
              <a:defRPr sz="1150">
                <a:solidFill>
                  <a:srgbClr val="9CA3AF"/>
                </a:solidFill>
                <a:latin typeface="Times New Roman"/>
              </a:defRPr>
            </a:pPr>
            <a:r>
              <a:t>Paste high-resolution Level-1 DFD here. Sub-process circles, data stores (D1 Consumers, D2 Predictions, D3 Inspections), and data flows should be visible.</a:t>
            </a:r>
          </a:p>
        </p:txBody>
      </p:sp>
      <p:sp>
        <p:nvSpPr>
          <p:cNvPr id="10" name="TextBox 9"/>
          <p:cNvSpPr txBox="1"/>
          <p:nvPr/>
        </p:nvSpPr>
        <p:spPr>
          <a:xfrm>
            <a:off x="731520" y="5897880"/>
            <a:ext cx="10728655" cy="411480"/>
          </a:xfrm>
          <a:prstGeom prst="rect">
            <a:avLst/>
          </a:prstGeom>
          <a:noFill/>
        </p:spPr>
        <p:txBody>
          <a:bodyPr wrap="none">
            <a:spAutoFit/>
          </a:bodyPr>
          <a:lstStyle/>
          <a:p>
            <a:pPr>
              <a:defRPr sz="1100">
                <a:solidFill>
                  <a:srgbClr val="9CA3AF"/>
                </a:solidFill>
                <a:latin typeface="Times New Roman"/>
              </a:defRPr>
            </a:pPr>
            <a:r>
              <a:t>Technical Artifact: Data Flow Diagram — Level 1 | Formatted for Academic Review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07 | SYSTEM MODELLING &amp; DESIGN ARTIFACTS</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Data Flow Diagram — Level 2</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25 of 38</a:t>
            </a:r>
          </a:p>
        </p:txBody>
      </p:sp>
      <p:sp>
        <p:nvSpPr>
          <p:cNvPr id="8" name="Rectangle 7"/>
          <p:cNvSpPr/>
          <p:nvPr/>
        </p:nvSpPr>
        <p:spPr>
          <a:xfrm>
            <a:off x="731520" y="1508760"/>
            <a:ext cx="10728655" cy="429768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377440"/>
            <a:ext cx="9448495" cy="2560320"/>
          </a:xfrm>
          <a:prstGeom prst="rect">
            <a:avLst/>
          </a:prstGeom>
          <a:noFill/>
        </p:spPr>
        <p:txBody>
          <a:bodyPr wrap="square">
            <a:spAutoFit/>
          </a:bodyPr>
          <a:lstStyle/>
          <a:p>
            <a:pPr algn="ctr">
              <a:spcAft>
                <a:spcPts val="1000"/>
              </a:spcAft>
              <a:defRPr sz="1800" b="1">
                <a:solidFill>
                  <a:srgbClr val="22D3EE"/>
                </a:solidFill>
                <a:latin typeface="Times New Roman"/>
              </a:defRPr>
            </a:pPr>
            <a:r>
              <a:t>[DATA FLOW DIAGRAM — LEVEL 2 — INSERTION PLACEHOLDER]</a:t>
            </a:r>
          </a:p>
          <a:p>
            <a:pPr algn="ctr">
              <a:spcAft>
                <a:spcPts val="1400"/>
              </a:spcAft>
              <a:defRPr sz="1300">
                <a:solidFill>
                  <a:srgbClr val="F0F2F5"/>
                </a:solidFill>
                <a:latin typeface="Times New Roman"/>
              </a:defRPr>
            </a:pPr>
            <a:r>
              <a:t>Scope: Detailed operational decomposition of Process 3.0 (Inspection Management): 3.1 Case Prioritization, 3.2 Officer Assignment, 3.3 Field Verification Recording.</a:t>
            </a:r>
          </a:p>
          <a:p>
            <a:pPr algn="ctr">
              <a:defRPr sz="1150">
                <a:solidFill>
                  <a:srgbClr val="9CA3AF"/>
                </a:solidFill>
                <a:latin typeface="Times New Roman"/>
              </a:defRPr>
            </a:pPr>
            <a:r>
              <a:t>Paste high-resolution Level-2 DFD here. Fine-grained subprocesses, input validation checks, and data store read/write flows should be legibly presented.</a:t>
            </a:r>
          </a:p>
        </p:txBody>
      </p:sp>
      <p:sp>
        <p:nvSpPr>
          <p:cNvPr id="10" name="TextBox 9"/>
          <p:cNvSpPr txBox="1"/>
          <p:nvPr/>
        </p:nvSpPr>
        <p:spPr>
          <a:xfrm>
            <a:off x="731520" y="5897880"/>
            <a:ext cx="10728655" cy="411480"/>
          </a:xfrm>
          <a:prstGeom prst="rect">
            <a:avLst/>
          </a:prstGeom>
          <a:noFill/>
        </p:spPr>
        <p:txBody>
          <a:bodyPr wrap="none">
            <a:spAutoFit/>
          </a:bodyPr>
          <a:lstStyle/>
          <a:p>
            <a:pPr>
              <a:defRPr sz="1100">
                <a:solidFill>
                  <a:srgbClr val="9CA3AF"/>
                </a:solidFill>
                <a:latin typeface="Times New Roman"/>
              </a:defRPr>
            </a:pPr>
            <a:r>
              <a:t>Technical Artifact: Data Flow Diagram — Level 2 | Formatted for Academic Review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08 | IMPLEMENTATION ARTIFACTS &amp; INTERFACE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Implementation Status Across Project Modules</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26 of 38</a:t>
            </a:r>
          </a:p>
        </p:txBody>
      </p:sp>
      <p:sp>
        <p:nvSpPr>
          <p:cNvPr id="8" name="Rectangle 7"/>
          <p:cNvSpPr/>
          <p:nvPr/>
        </p:nvSpPr>
        <p:spPr>
          <a:xfrm>
            <a:off x="731520" y="1645920"/>
            <a:ext cx="10728655" cy="77724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755648"/>
            <a:ext cx="10180015" cy="548640"/>
          </a:xfrm>
          <a:prstGeom prst="rect">
            <a:avLst/>
          </a:prstGeom>
          <a:noFill/>
        </p:spPr>
        <p:txBody>
          <a:bodyPr wrap="square">
            <a:spAutoFit/>
          </a:bodyPr>
          <a:lstStyle/>
          <a:p>
            <a:pPr>
              <a:defRPr sz="1300" b="1">
                <a:solidFill>
                  <a:srgbClr val="F0F2F5"/>
                </a:solidFill>
                <a:latin typeface="Times New Roman"/>
              </a:defRPr>
            </a:pPr>
            <a:r>
              <a:t>Phase 1: Dataset Audit &amp; Ingestion  —  </a:t>
            </a:r>
            <a:r>
              <a:rPr b="1">
                <a:solidFill>
                  <a:srgbClr val="34D399"/>
                </a:solidFill>
              </a:rPr>
              <a:t>[COMPLETE &amp; VERIFIED]</a:t>
            </a:r>
          </a:p>
          <a:p>
            <a:pPr>
              <a:defRPr sz="1100">
                <a:solidFill>
                  <a:srgbClr val="9CA3AF"/>
                </a:solidFill>
                <a:latin typeface="Times New Roman"/>
              </a:defRPr>
            </a:pPr>
            <a:r>
              <a:t>100% completed. Audited 42,372 SGCC consumers, implemented missingness handling, chronological sorting, and zero-leakage splitting.</a:t>
            </a:r>
          </a:p>
        </p:txBody>
      </p:sp>
      <p:sp>
        <p:nvSpPr>
          <p:cNvPr id="10" name="Rectangle 9"/>
          <p:cNvSpPr/>
          <p:nvPr/>
        </p:nvSpPr>
        <p:spPr>
          <a:xfrm>
            <a:off x="731520" y="2542032"/>
            <a:ext cx="10728655" cy="77724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651760"/>
            <a:ext cx="10180015" cy="548640"/>
          </a:xfrm>
          <a:prstGeom prst="rect">
            <a:avLst/>
          </a:prstGeom>
          <a:noFill/>
        </p:spPr>
        <p:txBody>
          <a:bodyPr wrap="square">
            <a:spAutoFit/>
          </a:bodyPr>
          <a:lstStyle/>
          <a:p>
            <a:pPr>
              <a:defRPr sz="1300" b="1">
                <a:solidFill>
                  <a:srgbClr val="F0F2F5"/>
                </a:solidFill>
                <a:latin typeface="Times New Roman"/>
              </a:defRPr>
            </a:pPr>
            <a:r>
              <a:t>Phase 2: Feature &amp; ML Pipeline  —  </a:t>
            </a:r>
            <a:r>
              <a:rPr b="1">
                <a:solidFill>
                  <a:srgbClr val="34D399"/>
                </a:solidFill>
              </a:rPr>
              <a:t>[COMPLETE &amp; VERIFIED]</a:t>
            </a:r>
          </a:p>
          <a:p>
            <a:pPr>
              <a:defRPr sz="1100">
                <a:solidFill>
                  <a:srgbClr val="9CA3AF"/>
                </a:solidFill>
                <a:latin typeface="Times New Roman"/>
              </a:defRPr>
            </a:pPr>
            <a:r>
              <a:t>100% completed. Extracted 15 engineered features, trained class-weighted XGBoost champion model, tuned 0.65 threshold, generated SHAP explanations.</a:t>
            </a:r>
          </a:p>
        </p:txBody>
      </p:sp>
      <p:sp>
        <p:nvSpPr>
          <p:cNvPr id="12" name="Rectangle 11"/>
          <p:cNvSpPr/>
          <p:nvPr/>
        </p:nvSpPr>
        <p:spPr>
          <a:xfrm>
            <a:off x="731520" y="3438144"/>
            <a:ext cx="10728655" cy="77724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47872"/>
            <a:ext cx="10180015" cy="548640"/>
          </a:xfrm>
          <a:prstGeom prst="rect">
            <a:avLst/>
          </a:prstGeom>
          <a:noFill/>
        </p:spPr>
        <p:txBody>
          <a:bodyPr wrap="square">
            <a:spAutoFit/>
          </a:bodyPr>
          <a:lstStyle/>
          <a:p>
            <a:pPr>
              <a:defRPr sz="1300" b="1">
                <a:solidFill>
                  <a:srgbClr val="F0F2F5"/>
                </a:solidFill>
                <a:latin typeface="Times New Roman"/>
              </a:defRPr>
            </a:pPr>
            <a:r>
              <a:t>Phase 3: Database &amp; Backend APIs  —  </a:t>
            </a:r>
            <a:r>
              <a:rPr b="1">
                <a:solidFill>
                  <a:srgbClr val="34D399"/>
                </a:solidFill>
              </a:rPr>
              <a:t>[COMPLETE &amp; VERIFIED]</a:t>
            </a:r>
          </a:p>
          <a:p>
            <a:pPr>
              <a:defRPr sz="1100">
                <a:solidFill>
                  <a:srgbClr val="9CA3AF"/>
                </a:solidFill>
                <a:latin typeface="Times New Roman"/>
              </a:defRPr>
            </a:pPr>
            <a:r>
              <a:t>100% completed. Normalized 16 MySQL tables, built FastAPI REST endpoints, implemented JWT auth, server-side RBAC, and 21 passing automated tests.</a:t>
            </a:r>
          </a:p>
        </p:txBody>
      </p:sp>
      <p:sp>
        <p:nvSpPr>
          <p:cNvPr id="14" name="Rectangle 13"/>
          <p:cNvSpPr/>
          <p:nvPr/>
        </p:nvSpPr>
        <p:spPr>
          <a:xfrm>
            <a:off x="731520" y="4334256"/>
            <a:ext cx="10728655" cy="77724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43984"/>
            <a:ext cx="10180015" cy="548640"/>
          </a:xfrm>
          <a:prstGeom prst="rect">
            <a:avLst/>
          </a:prstGeom>
          <a:noFill/>
        </p:spPr>
        <p:txBody>
          <a:bodyPr wrap="square">
            <a:spAutoFit/>
          </a:bodyPr>
          <a:lstStyle/>
          <a:p>
            <a:pPr>
              <a:defRPr sz="1300" b="1">
                <a:solidFill>
                  <a:srgbClr val="F0F2F5"/>
                </a:solidFill>
                <a:latin typeface="Times New Roman"/>
              </a:defRPr>
            </a:pPr>
            <a:r>
              <a:t>Phase 4: Inspection Intelligence Portal  —  </a:t>
            </a:r>
            <a:r>
              <a:rPr b="1">
                <a:solidFill>
                  <a:srgbClr val="34D399"/>
                </a:solidFill>
              </a:rPr>
              <a:t>[COMPLETE &amp; VERIFIED]</a:t>
            </a:r>
          </a:p>
          <a:p>
            <a:pPr>
              <a:defRPr sz="1100">
                <a:solidFill>
                  <a:srgbClr val="9CA3AF"/>
                </a:solidFill>
                <a:latin typeface="Times New Roman"/>
              </a:defRPr>
            </a:pPr>
            <a:r>
              <a:t>100% completed. Single-row unified header, dominant Action Required card, 2x2 symmetrical grid, Leaflet GIS map, case detail, and outcome recording.</a:t>
            </a:r>
          </a:p>
        </p:txBody>
      </p:sp>
      <p:sp>
        <p:nvSpPr>
          <p:cNvPr id="16" name="Rectangle 15"/>
          <p:cNvSpPr/>
          <p:nvPr/>
        </p:nvSpPr>
        <p:spPr>
          <a:xfrm>
            <a:off x="731520" y="5230368"/>
            <a:ext cx="10728655" cy="77724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340096"/>
            <a:ext cx="10180015" cy="548640"/>
          </a:xfrm>
          <a:prstGeom prst="rect">
            <a:avLst/>
          </a:prstGeom>
          <a:noFill/>
        </p:spPr>
        <p:txBody>
          <a:bodyPr wrap="square">
            <a:spAutoFit/>
          </a:bodyPr>
          <a:lstStyle/>
          <a:p>
            <a:pPr>
              <a:defRPr sz="1300" b="1">
                <a:solidFill>
                  <a:srgbClr val="F0F2F5"/>
                </a:solidFill>
                <a:latin typeface="Times New Roman"/>
              </a:defRPr>
            </a:pPr>
            <a:r>
              <a:t>Phase 5: Consumer &amp; Board Portals  —  </a:t>
            </a:r>
            <a:r>
              <a:rPr b="1">
                <a:solidFill>
                  <a:srgbClr val="FBBF24"/>
                </a:solidFill>
              </a:rPr>
              <a:t>[UNDERWAY (IN PROGRESS)]</a:t>
            </a:r>
          </a:p>
          <a:p>
            <a:pPr>
              <a:defRPr sz="1100">
                <a:solidFill>
                  <a:srgbClr val="9CA3AF"/>
                </a:solidFill>
                <a:latin typeface="Times New Roman"/>
              </a:defRPr>
            </a:pPr>
            <a:r>
              <a:t>Backend foundations and database schemas established. User-facing frontend workflows and portal screens are currently in active development.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08 | IMPLEMENTATION ARTIFACTS &amp; INTERFACE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Employee Inspection Dashboard</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27 of 38</a:t>
            </a:r>
          </a:p>
        </p:txBody>
      </p:sp>
      <p:sp>
        <p:nvSpPr>
          <p:cNvPr id="8" name="TextBox 7"/>
          <p:cNvSpPr txBox="1"/>
          <p:nvPr/>
        </p:nvSpPr>
        <p:spPr>
          <a:xfrm>
            <a:off x="731520" y="1389888"/>
            <a:ext cx="10728655" cy="274320"/>
          </a:xfrm>
          <a:prstGeom prst="rect">
            <a:avLst/>
          </a:prstGeom>
          <a:noFill/>
        </p:spPr>
        <p:txBody>
          <a:bodyPr wrap="none">
            <a:spAutoFit/>
          </a:bodyPr>
          <a:lstStyle/>
          <a:p>
            <a:pPr>
              <a:defRPr sz="1100" b="1">
                <a:solidFill>
                  <a:srgbClr val="34D399"/>
                </a:solidFill>
                <a:latin typeface="Times New Roman"/>
              </a:defRPr>
            </a:pPr>
            <a:r>
              <a:t>MODULE STATUS: PHASE 4 COMPLETE</a:t>
            </a:r>
          </a:p>
        </p:txBody>
      </p:sp>
      <p:sp>
        <p:nvSpPr>
          <p:cNvPr id="9" name="Rectangle 8"/>
          <p:cNvSpPr/>
          <p:nvPr/>
        </p:nvSpPr>
        <p:spPr>
          <a:xfrm>
            <a:off x="731520" y="1691640"/>
            <a:ext cx="10728655" cy="411480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926080"/>
            <a:ext cx="9448495" cy="1645920"/>
          </a:xfrm>
          <a:prstGeom prst="rect">
            <a:avLst/>
          </a:prstGeom>
          <a:noFill/>
        </p:spPr>
        <p:txBody>
          <a:bodyPr wrap="square">
            <a:spAutoFit/>
          </a:bodyPr>
          <a:lstStyle/>
          <a:p>
            <a:pPr algn="ctr">
              <a:spcAft>
                <a:spcPts val="800"/>
              </a:spcAft>
              <a:defRPr sz="1700" b="1">
                <a:solidFill>
                  <a:srgbClr val="22D3EE"/>
                </a:solidFill>
                <a:latin typeface="Times New Roman"/>
              </a:defRPr>
            </a:pPr>
            <a:r>
              <a:t>[USER INTERFACE SCREENSHOT — EMPLOYEE INSPECTION DASHBOARD]</a:t>
            </a:r>
          </a:p>
          <a:p>
            <a:pPr algn="ctr">
              <a:defRPr sz="1200">
                <a:solidFill>
                  <a:srgbClr val="9CA3AF"/>
                </a:solidFill>
                <a:latin typeface="Times New Roman"/>
              </a:defRPr>
            </a:pPr>
            <a:r>
              <a:t>Paste active application screenshot into this bordered frame. Native aspect ratio fits widescreen 16:9 standard.</a:t>
            </a:r>
          </a:p>
        </p:txBody>
      </p:sp>
      <p:sp>
        <p:nvSpPr>
          <p:cNvPr id="11" name="TextBox 10"/>
          <p:cNvSpPr txBox="1"/>
          <p:nvPr/>
        </p:nvSpPr>
        <p:spPr>
          <a:xfrm>
            <a:off x="731520" y="5897880"/>
            <a:ext cx="10728655" cy="411480"/>
          </a:xfrm>
          <a:prstGeom prst="rect">
            <a:avLst/>
          </a:prstGeom>
          <a:noFill/>
        </p:spPr>
        <p:txBody>
          <a:bodyPr wrap="square">
            <a:spAutoFit/>
          </a:bodyPr>
          <a:lstStyle/>
          <a:p>
            <a:pPr>
              <a:defRPr sz="1100">
                <a:solidFill>
                  <a:srgbClr val="9CA3AF"/>
                </a:solidFill>
                <a:latin typeface="Times New Roman"/>
              </a:defRPr>
            </a:pPr>
            <a:r>
              <a:t>Figure Demonstration: Displays the single-row command header, visually dominant Action Required card (Murugan Textiles, 74.9% risk), 4 compact KPI indicators, and balanced 2x2 operational grid.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08 | IMPLEMENTATION ARTIFACTS &amp; INTERFACE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Prioritized Inspection Queue</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28 of 38</a:t>
            </a:r>
          </a:p>
        </p:txBody>
      </p:sp>
      <p:sp>
        <p:nvSpPr>
          <p:cNvPr id="8" name="TextBox 7"/>
          <p:cNvSpPr txBox="1"/>
          <p:nvPr/>
        </p:nvSpPr>
        <p:spPr>
          <a:xfrm>
            <a:off x="731520" y="1389888"/>
            <a:ext cx="10728655" cy="274320"/>
          </a:xfrm>
          <a:prstGeom prst="rect">
            <a:avLst/>
          </a:prstGeom>
          <a:noFill/>
        </p:spPr>
        <p:txBody>
          <a:bodyPr wrap="none">
            <a:spAutoFit/>
          </a:bodyPr>
          <a:lstStyle/>
          <a:p>
            <a:pPr>
              <a:defRPr sz="1100" b="1">
                <a:solidFill>
                  <a:srgbClr val="34D399"/>
                </a:solidFill>
                <a:latin typeface="Times New Roman"/>
              </a:defRPr>
            </a:pPr>
            <a:r>
              <a:t>MODULE STATUS: PHASE 4 COMPLETE</a:t>
            </a:r>
          </a:p>
        </p:txBody>
      </p:sp>
      <p:sp>
        <p:nvSpPr>
          <p:cNvPr id="9" name="Rectangle 8"/>
          <p:cNvSpPr/>
          <p:nvPr/>
        </p:nvSpPr>
        <p:spPr>
          <a:xfrm>
            <a:off x="731520" y="1691640"/>
            <a:ext cx="10728655" cy="411480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926080"/>
            <a:ext cx="9448495" cy="1645920"/>
          </a:xfrm>
          <a:prstGeom prst="rect">
            <a:avLst/>
          </a:prstGeom>
          <a:noFill/>
        </p:spPr>
        <p:txBody>
          <a:bodyPr wrap="square">
            <a:spAutoFit/>
          </a:bodyPr>
          <a:lstStyle/>
          <a:p>
            <a:pPr algn="ctr">
              <a:spcAft>
                <a:spcPts val="800"/>
              </a:spcAft>
              <a:defRPr sz="1700" b="1">
                <a:solidFill>
                  <a:srgbClr val="22D3EE"/>
                </a:solidFill>
                <a:latin typeface="Times New Roman"/>
              </a:defRPr>
            </a:pPr>
            <a:r>
              <a:t>[USER INTERFACE SCREENSHOT — PRIORITIZED INSPECTION QUEUE]</a:t>
            </a:r>
          </a:p>
          <a:p>
            <a:pPr algn="ctr">
              <a:defRPr sz="1200">
                <a:solidFill>
                  <a:srgbClr val="9CA3AF"/>
                </a:solidFill>
                <a:latin typeface="Times New Roman"/>
              </a:defRPr>
            </a:pPr>
            <a:r>
              <a:t>Paste active application screenshot into this bordered frame. Native aspect ratio fits widescreen 16:9 standard.</a:t>
            </a:r>
          </a:p>
        </p:txBody>
      </p:sp>
      <p:sp>
        <p:nvSpPr>
          <p:cNvPr id="11" name="TextBox 10"/>
          <p:cNvSpPr txBox="1"/>
          <p:nvPr/>
        </p:nvSpPr>
        <p:spPr>
          <a:xfrm>
            <a:off x="731520" y="5897880"/>
            <a:ext cx="10728655" cy="411480"/>
          </a:xfrm>
          <a:prstGeom prst="rect">
            <a:avLst/>
          </a:prstGeom>
          <a:noFill/>
        </p:spPr>
        <p:txBody>
          <a:bodyPr wrap="square">
            <a:spAutoFit/>
          </a:bodyPr>
          <a:lstStyle/>
          <a:p>
            <a:pPr>
              <a:defRPr sz="1100">
                <a:solidFill>
                  <a:srgbClr val="9CA3AF"/>
                </a:solidFill>
                <a:latin typeface="Times New Roman"/>
              </a:defRPr>
            </a:pPr>
            <a:r>
              <a:t>Figure Demonstration: Demonstrates the operational candidate queue ranked by XGBoost theft risk and priority score, with risk pills, status badges, and direct review navigation.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08 | IMPLEMENTATION ARTIFACTS &amp; INTERFACE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Case Details and SHAP Explanations</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29 of 38</a:t>
            </a:r>
          </a:p>
        </p:txBody>
      </p:sp>
      <p:sp>
        <p:nvSpPr>
          <p:cNvPr id="8" name="TextBox 7"/>
          <p:cNvSpPr txBox="1"/>
          <p:nvPr/>
        </p:nvSpPr>
        <p:spPr>
          <a:xfrm>
            <a:off x="731520" y="1389888"/>
            <a:ext cx="10728655" cy="274320"/>
          </a:xfrm>
          <a:prstGeom prst="rect">
            <a:avLst/>
          </a:prstGeom>
          <a:noFill/>
        </p:spPr>
        <p:txBody>
          <a:bodyPr wrap="none">
            <a:spAutoFit/>
          </a:bodyPr>
          <a:lstStyle/>
          <a:p>
            <a:pPr>
              <a:defRPr sz="1100" b="1">
                <a:solidFill>
                  <a:srgbClr val="34D399"/>
                </a:solidFill>
                <a:latin typeface="Times New Roman"/>
              </a:defRPr>
            </a:pPr>
            <a:r>
              <a:t>MODULE STATUS: PHASE 4 COMPLETE</a:t>
            </a:r>
          </a:p>
        </p:txBody>
      </p:sp>
      <p:sp>
        <p:nvSpPr>
          <p:cNvPr id="9" name="Rectangle 8"/>
          <p:cNvSpPr/>
          <p:nvPr/>
        </p:nvSpPr>
        <p:spPr>
          <a:xfrm>
            <a:off x="731520" y="1691640"/>
            <a:ext cx="10728655" cy="411480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926080"/>
            <a:ext cx="9448495" cy="1645920"/>
          </a:xfrm>
          <a:prstGeom prst="rect">
            <a:avLst/>
          </a:prstGeom>
          <a:noFill/>
        </p:spPr>
        <p:txBody>
          <a:bodyPr wrap="square">
            <a:spAutoFit/>
          </a:bodyPr>
          <a:lstStyle/>
          <a:p>
            <a:pPr algn="ctr">
              <a:spcAft>
                <a:spcPts val="800"/>
              </a:spcAft>
              <a:defRPr sz="1700" b="1">
                <a:solidFill>
                  <a:srgbClr val="22D3EE"/>
                </a:solidFill>
                <a:latin typeface="Times New Roman"/>
              </a:defRPr>
            </a:pPr>
            <a:r>
              <a:t>[USER INTERFACE SCREENSHOT — CASE DETAILS AND SHAP EXPLANATIONS]</a:t>
            </a:r>
          </a:p>
          <a:p>
            <a:pPr algn="ctr">
              <a:defRPr sz="1200">
                <a:solidFill>
                  <a:srgbClr val="9CA3AF"/>
                </a:solidFill>
                <a:latin typeface="Times New Roman"/>
              </a:defRPr>
            </a:pPr>
            <a:r>
              <a:t>Paste active application screenshot into this bordered frame. Native aspect ratio fits widescreen 16:9 standard.</a:t>
            </a:r>
          </a:p>
        </p:txBody>
      </p:sp>
      <p:sp>
        <p:nvSpPr>
          <p:cNvPr id="11" name="TextBox 10"/>
          <p:cNvSpPr txBox="1"/>
          <p:nvPr/>
        </p:nvSpPr>
        <p:spPr>
          <a:xfrm>
            <a:off x="731520" y="5897880"/>
            <a:ext cx="10728655" cy="411480"/>
          </a:xfrm>
          <a:prstGeom prst="rect">
            <a:avLst/>
          </a:prstGeom>
          <a:noFill/>
        </p:spPr>
        <p:txBody>
          <a:bodyPr wrap="square">
            <a:spAutoFit/>
          </a:bodyPr>
          <a:lstStyle/>
          <a:p>
            <a:pPr>
              <a:defRPr sz="1100">
                <a:solidFill>
                  <a:srgbClr val="9CA3AF"/>
                </a:solidFill>
                <a:latin typeface="Times New Roman"/>
              </a:defRPr>
            </a:pPr>
            <a:r>
              <a:t>Figure Demonstration: Highlights local explainability: interactive SHAP waterfall attribution chart showing feature contributions, 60-day kWh daily consumption series, and assignment actions.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08 | IMPLEMENTATION ARTIFACTS &amp; INTERFACE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Geographic Inspection Map</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30 of 38</a:t>
            </a:r>
          </a:p>
        </p:txBody>
      </p:sp>
      <p:sp>
        <p:nvSpPr>
          <p:cNvPr id="8" name="TextBox 7"/>
          <p:cNvSpPr txBox="1"/>
          <p:nvPr/>
        </p:nvSpPr>
        <p:spPr>
          <a:xfrm>
            <a:off x="731520" y="1389888"/>
            <a:ext cx="10728655" cy="274320"/>
          </a:xfrm>
          <a:prstGeom prst="rect">
            <a:avLst/>
          </a:prstGeom>
          <a:noFill/>
        </p:spPr>
        <p:txBody>
          <a:bodyPr wrap="none">
            <a:spAutoFit/>
          </a:bodyPr>
          <a:lstStyle/>
          <a:p>
            <a:pPr>
              <a:defRPr sz="1100" b="1">
                <a:solidFill>
                  <a:srgbClr val="34D399"/>
                </a:solidFill>
                <a:latin typeface="Times New Roman"/>
              </a:defRPr>
            </a:pPr>
            <a:r>
              <a:t>MODULE STATUS: PHASE 4 COMPLETE</a:t>
            </a:r>
          </a:p>
        </p:txBody>
      </p:sp>
      <p:sp>
        <p:nvSpPr>
          <p:cNvPr id="9" name="Rectangle 8"/>
          <p:cNvSpPr/>
          <p:nvPr/>
        </p:nvSpPr>
        <p:spPr>
          <a:xfrm>
            <a:off x="731520" y="1691640"/>
            <a:ext cx="10728655" cy="411480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926080"/>
            <a:ext cx="9448495" cy="1645920"/>
          </a:xfrm>
          <a:prstGeom prst="rect">
            <a:avLst/>
          </a:prstGeom>
          <a:noFill/>
        </p:spPr>
        <p:txBody>
          <a:bodyPr wrap="square">
            <a:spAutoFit/>
          </a:bodyPr>
          <a:lstStyle/>
          <a:p>
            <a:pPr algn="ctr">
              <a:spcAft>
                <a:spcPts val="800"/>
              </a:spcAft>
              <a:defRPr sz="1700" b="1">
                <a:solidFill>
                  <a:srgbClr val="22D3EE"/>
                </a:solidFill>
                <a:latin typeface="Times New Roman"/>
              </a:defRPr>
            </a:pPr>
            <a:r>
              <a:t>[USER INTERFACE SCREENSHOT — GEOGRAPHIC INSPECTION MAP]</a:t>
            </a:r>
          </a:p>
          <a:p>
            <a:pPr algn="ctr">
              <a:defRPr sz="1200">
                <a:solidFill>
                  <a:srgbClr val="9CA3AF"/>
                </a:solidFill>
                <a:latin typeface="Times New Roman"/>
              </a:defRPr>
            </a:pPr>
            <a:r>
              <a:t>Paste active application screenshot into this bordered frame. Native aspect ratio fits widescreen 16:9 standard.</a:t>
            </a:r>
          </a:p>
        </p:txBody>
      </p:sp>
      <p:sp>
        <p:nvSpPr>
          <p:cNvPr id="11" name="TextBox 10"/>
          <p:cNvSpPr txBox="1"/>
          <p:nvPr/>
        </p:nvSpPr>
        <p:spPr>
          <a:xfrm>
            <a:off x="731520" y="5897880"/>
            <a:ext cx="10728655" cy="411480"/>
          </a:xfrm>
          <a:prstGeom prst="rect">
            <a:avLst/>
          </a:prstGeom>
          <a:noFill/>
        </p:spPr>
        <p:txBody>
          <a:bodyPr wrap="square">
            <a:spAutoFit/>
          </a:bodyPr>
          <a:lstStyle/>
          <a:p>
            <a:pPr>
              <a:defRPr sz="1100">
                <a:solidFill>
                  <a:srgbClr val="9CA3AF"/>
                </a:solidFill>
                <a:latin typeface="Times New Roman"/>
              </a:defRPr>
            </a:pPr>
            <a:r>
              <a:t>Figure Demonstration: Shows spatial Leaflet GIS visualization rendering real consumer coordinates, multi-criteria zone filtering, and risk-coded clusters for flying squad routing.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08 | IMPLEMENTATION ARTIFACTS &amp; INTERFACE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Field Outcome Recording &amp; Feedback</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31 of 38</a:t>
            </a:r>
          </a:p>
        </p:txBody>
      </p:sp>
      <p:sp>
        <p:nvSpPr>
          <p:cNvPr id="8" name="TextBox 7"/>
          <p:cNvSpPr txBox="1"/>
          <p:nvPr/>
        </p:nvSpPr>
        <p:spPr>
          <a:xfrm>
            <a:off x="731520" y="1389888"/>
            <a:ext cx="10728655" cy="274320"/>
          </a:xfrm>
          <a:prstGeom prst="rect">
            <a:avLst/>
          </a:prstGeom>
          <a:noFill/>
        </p:spPr>
        <p:txBody>
          <a:bodyPr wrap="none">
            <a:spAutoFit/>
          </a:bodyPr>
          <a:lstStyle/>
          <a:p>
            <a:pPr>
              <a:defRPr sz="1100" b="1">
                <a:solidFill>
                  <a:srgbClr val="34D399"/>
                </a:solidFill>
                <a:latin typeface="Times New Roman"/>
              </a:defRPr>
            </a:pPr>
            <a:r>
              <a:t>MODULE STATUS: PHASE 4 COMPLETE</a:t>
            </a:r>
          </a:p>
        </p:txBody>
      </p:sp>
      <p:sp>
        <p:nvSpPr>
          <p:cNvPr id="9" name="Rectangle 8"/>
          <p:cNvSpPr/>
          <p:nvPr/>
        </p:nvSpPr>
        <p:spPr>
          <a:xfrm>
            <a:off x="731520" y="1691640"/>
            <a:ext cx="10728655" cy="411480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926080"/>
            <a:ext cx="9448495" cy="1645920"/>
          </a:xfrm>
          <a:prstGeom prst="rect">
            <a:avLst/>
          </a:prstGeom>
          <a:noFill/>
        </p:spPr>
        <p:txBody>
          <a:bodyPr wrap="square">
            <a:spAutoFit/>
          </a:bodyPr>
          <a:lstStyle/>
          <a:p>
            <a:pPr algn="ctr">
              <a:spcAft>
                <a:spcPts val="800"/>
              </a:spcAft>
              <a:defRPr sz="1700" b="1">
                <a:solidFill>
                  <a:srgbClr val="22D3EE"/>
                </a:solidFill>
                <a:latin typeface="Times New Roman"/>
              </a:defRPr>
            </a:pPr>
            <a:r>
              <a:t>[USER INTERFACE SCREENSHOT — FIELD OUTCOME RECORDING &amp; FEEDBACK]</a:t>
            </a:r>
          </a:p>
          <a:p>
            <a:pPr algn="ctr">
              <a:defRPr sz="1200">
                <a:solidFill>
                  <a:srgbClr val="9CA3AF"/>
                </a:solidFill>
                <a:latin typeface="Times New Roman"/>
              </a:defRPr>
            </a:pPr>
            <a:r>
              <a:t>Paste active application screenshot into this bordered frame. Native aspect ratio fits widescreen 16:9 standard.</a:t>
            </a:r>
          </a:p>
        </p:txBody>
      </p:sp>
      <p:sp>
        <p:nvSpPr>
          <p:cNvPr id="11" name="TextBox 10"/>
          <p:cNvSpPr txBox="1"/>
          <p:nvPr/>
        </p:nvSpPr>
        <p:spPr>
          <a:xfrm>
            <a:off x="731520" y="5897880"/>
            <a:ext cx="10728655" cy="411480"/>
          </a:xfrm>
          <a:prstGeom prst="rect">
            <a:avLst/>
          </a:prstGeom>
          <a:noFill/>
        </p:spPr>
        <p:txBody>
          <a:bodyPr wrap="square">
            <a:spAutoFit/>
          </a:bodyPr>
          <a:lstStyle/>
          <a:p>
            <a:pPr>
              <a:defRPr sz="1100">
                <a:solidFill>
                  <a:srgbClr val="9CA3AF"/>
                </a:solidFill>
                <a:latin typeface="Times New Roman"/>
              </a:defRPr>
            </a:pPr>
            <a:r>
              <a:t>Figure Demonstration: Demonstrates closed-loop verification: modal recording physical audit outcomes (theft confirmed / clean), meter tamper evidence, penalty amounts, and model feedback logging.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08 | IMPLEMENTATION ARTIFACTS &amp; INTERFACE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Operational Verification Reports</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32 of 38</a:t>
            </a:r>
          </a:p>
        </p:txBody>
      </p:sp>
      <p:sp>
        <p:nvSpPr>
          <p:cNvPr id="8" name="TextBox 7"/>
          <p:cNvSpPr txBox="1"/>
          <p:nvPr/>
        </p:nvSpPr>
        <p:spPr>
          <a:xfrm>
            <a:off x="731520" y="1389888"/>
            <a:ext cx="10728655" cy="274320"/>
          </a:xfrm>
          <a:prstGeom prst="rect">
            <a:avLst/>
          </a:prstGeom>
          <a:noFill/>
        </p:spPr>
        <p:txBody>
          <a:bodyPr wrap="none">
            <a:spAutoFit/>
          </a:bodyPr>
          <a:lstStyle/>
          <a:p>
            <a:pPr>
              <a:defRPr sz="1100" b="1">
                <a:solidFill>
                  <a:srgbClr val="34D399"/>
                </a:solidFill>
                <a:latin typeface="Times New Roman"/>
              </a:defRPr>
            </a:pPr>
            <a:r>
              <a:t>MODULE STATUS: PHASE 4 COMPLETE</a:t>
            </a:r>
          </a:p>
        </p:txBody>
      </p:sp>
      <p:sp>
        <p:nvSpPr>
          <p:cNvPr id="9" name="Rectangle 8"/>
          <p:cNvSpPr/>
          <p:nvPr/>
        </p:nvSpPr>
        <p:spPr>
          <a:xfrm>
            <a:off x="731520" y="1691640"/>
            <a:ext cx="10728655" cy="411480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926080"/>
            <a:ext cx="9448495" cy="1645920"/>
          </a:xfrm>
          <a:prstGeom prst="rect">
            <a:avLst/>
          </a:prstGeom>
          <a:noFill/>
        </p:spPr>
        <p:txBody>
          <a:bodyPr wrap="square">
            <a:spAutoFit/>
          </a:bodyPr>
          <a:lstStyle/>
          <a:p>
            <a:pPr algn="ctr">
              <a:spcAft>
                <a:spcPts val="800"/>
              </a:spcAft>
              <a:defRPr sz="1700" b="1">
                <a:solidFill>
                  <a:srgbClr val="22D3EE"/>
                </a:solidFill>
                <a:latin typeface="Times New Roman"/>
              </a:defRPr>
            </a:pPr>
            <a:r>
              <a:t>[USER INTERFACE SCREENSHOT — OPERATIONAL VERIFICATION REPORTS]</a:t>
            </a:r>
          </a:p>
          <a:p>
            <a:pPr algn="ctr">
              <a:defRPr sz="1200">
                <a:solidFill>
                  <a:srgbClr val="9CA3AF"/>
                </a:solidFill>
                <a:latin typeface="Times New Roman"/>
              </a:defRPr>
            </a:pPr>
            <a:r>
              <a:t>Paste active application screenshot into this bordered frame. Native aspect ratio fits widescreen 16:9 standard.</a:t>
            </a:r>
          </a:p>
        </p:txBody>
      </p:sp>
      <p:sp>
        <p:nvSpPr>
          <p:cNvPr id="11" name="TextBox 10"/>
          <p:cNvSpPr txBox="1"/>
          <p:nvPr/>
        </p:nvSpPr>
        <p:spPr>
          <a:xfrm>
            <a:off x="731520" y="5897880"/>
            <a:ext cx="10728655" cy="411480"/>
          </a:xfrm>
          <a:prstGeom prst="rect">
            <a:avLst/>
          </a:prstGeom>
          <a:noFill/>
        </p:spPr>
        <p:txBody>
          <a:bodyPr wrap="square">
            <a:spAutoFit/>
          </a:bodyPr>
          <a:lstStyle/>
          <a:p>
            <a:pPr>
              <a:defRPr sz="1100">
                <a:solidFill>
                  <a:srgbClr val="9CA3AF"/>
                </a:solidFill>
                <a:latin typeface="Times New Roman"/>
              </a:defRPr>
            </a:pPr>
            <a:r>
              <a:t>Figure Demonstration: Presents macro operational analytics: theft strike rate (50%), audit progress (40%), zone distribution progress bars, and closed-loop model calibration tracking.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08 | IMPLEMENTATION ARTIFACTS &amp; INTERFACE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Consumer Portal — Implementation in Progress</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33 of 38</a:t>
            </a:r>
          </a:p>
        </p:txBody>
      </p:sp>
      <p:sp>
        <p:nvSpPr>
          <p:cNvPr id="8" name="TextBox 7"/>
          <p:cNvSpPr txBox="1"/>
          <p:nvPr/>
        </p:nvSpPr>
        <p:spPr>
          <a:xfrm>
            <a:off x="731520" y="1389888"/>
            <a:ext cx="10728655" cy="274320"/>
          </a:xfrm>
          <a:prstGeom prst="rect">
            <a:avLst/>
          </a:prstGeom>
          <a:noFill/>
        </p:spPr>
        <p:txBody>
          <a:bodyPr wrap="none">
            <a:spAutoFit/>
          </a:bodyPr>
          <a:lstStyle/>
          <a:p>
            <a:pPr>
              <a:defRPr sz="1100" b="1">
                <a:solidFill>
                  <a:srgbClr val="FBBF24"/>
                </a:solidFill>
                <a:latin typeface="Times New Roman"/>
              </a:defRPr>
            </a:pPr>
            <a:r>
              <a:t>MODULE STATUS: PHASE 5 UNDERWAY</a:t>
            </a:r>
          </a:p>
        </p:txBody>
      </p:sp>
      <p:sp>
        <p:nvSpPr>
          <p:cNvPr id="9" name="Rectangle 8"/>
          <p:cNvSpPr/>
          <p:nvPr/>
        </p:nvSpPr>
        <p:spPr>
          <a:xfrm>
            <a:off x="731520" y="1691640"/>
            <a:ext cx="10728655" cy="411480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926080"/>
            <a:ext cx="9448495" cy="1645920"/>
          </a:xfrm>
          <a:prstGeom prst="rect">
            <a:avLst/>
          </a:prstGeom>
          <a:noFill/>
        </p:spPr>
        <p:txBody>
          <a:bodyPr wrap="square">
            <a:spAutoFit/>
          </a:bodyPr>
          <a:lstStyle/>
          <a:p>
            <a:pPr algn="ctr">
              <a:spcAft>
                <a:spcPts val="800"/>
              </a:spcAft>
              <a:defRPr sz="1700" b="1">
                <a:solidFill>
                  <a:srgbClr val="22D3EE"/>
                </a:solidFill>
                <a:latin typeface="Times New Roman"/>
              </a:defRPr>
            </a:pPr>
            <a:r>
              <a:t>[USER INTERFACE SCREENSHOT — CONSUMER PORTAL — IMPLEMENTATION IN PROGRESS]</a:t>
            </a:r>
          </a:p>
          <a:p>
            <a:pPr algn="ctr">
              <a:defRPr sz="1200">
                <a:solidFill>
                  <a:srgbClr val="9CA3AF"/>
                </a:solidFill>
                <a:latin typeface="Times New Roman"/>
              </a:defRPr>
            </a:pPr>
            <a:r>
              <a:t>Paste active application screenshot into this bordered frame. Native aspect ratio fits widescreen 16:9 standard.</a:t>
            </a:r>
          </a:p>
        </p:txBody>
      </p:sp>
      <p:sp>
        <p:nvSpPr>
          <p:cNvPr id="11" name="TextBox 10"/>
          <p:cNvSpPr txBox="1"/>
          <p:nvPr/>
        </p:nvSpPr>
        <p:spPr>
          <a:xfrm>
            <a:off x="731520" y="5897880"/>
            <a:ext cx="10728655" cy="411480"/>
          </a:xfrm>
          <a:prstGeom prst="rect">
            <a:avLst/>
          </a:prstGeom>
          <a:noFill/>
        </p:spPr>
        <p:txBody>
          <a:bodyPr wrap="square">
            <a:spAutoFit/>
          </a:bodyPr>
          <a:lstStyle/>
          <a:p>
            <a:pPr>
              <a:defRPr sz="1100">
                <a:solidFill>
                  <a:srgbClr val="9CA3AF"/>
                </a:solidFill>
                <a:latin typeface="Times New Roman"/>
              </a:defRPr>
            </a:pPr>
            <a:r>
              <a:t>Figure Demonstration: Phase 5 active development: Consumer self-service interface showing personalized daily usage telemetry, tariff breakdowns, surge notifications, and dispute submission.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08 | IMPLEMENTATION ARTIFACTS &amp; INTERFACE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Board Communication Portal — Implementation in Progress</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34 of 38</a:t>
            </a:r>
          </a:p>
        </p:txBody>
      </p:sp>
      <p:sp>
        <p:nvSpPr>
          <p:cNvPr id="8" name="TextBox 7"/>
          <p:cNvSpPr txBox="1"/>
          <p:nvPr/>
        </p:nvSpPr>
        <p:spPr>
          <a:xfrm>
            <a:off x="731520" y="1389888"/>
            <a:ext cx="10728655" cy="274320"/>
          </a:xfrm>
          <a:prstGeom prst="rect">
            <a:avLst/>
          </a:prstGeom>
          <a:noFill/>
        </p:spPr>
        <p:txBody>
          <a:bodyPr wrap="none">
            <a:spAutoFit/>
          </a:bodyPr>
          <a:lstStyle/>
          <a:p>
            <a:pPr>
              <a:defRPr sz="1100" b="1">
                <a:solidFill>
                  <a:srgbClr val="FBBF24"/>
                </a:solidFill>
                <a:latin typeface="Times New Roman"/>
              </a:defRPr>
            </a:pPr>
            <a:r>
              <a:t>MODULE STATUS: PHASE 5 UNDERWAY</a:t>
            </a:r>
          </a:p>
        </p:txBody>
      </p:sp>
      <p:sp>
        <p:nvSpPr>
          <p:cNvPr id="9" name="Rectangle 8"/>
          <p:cNvSpPr/>
          <p:nvPr/>
        </p:nvSpPr>
        <p:spPr>
          <a:xfrm>
            <a:off x="731520" y="1691640"/>
            <a:ext cx="10728655" cy="4114800"/>
          </a:xfrm>
          <a:prstGeom prst="rect">
            <a:avLst/>
          </a:prstGeom>
          <a:solidFill>
            <a:srgbClr val="181C24"/>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926080"/>
            <a:ext cx="9448495" cy="1645920"/>
          </a:xfrm>
          <a:prstGeom prst="rect">
            <a:avLst/>
          </a:prstGeom>
          <a:noFill/>
        </p:spPr>
        <p:txBody>
          <a:bodyPr wrap="square">
            <a:spAutoFit/>
          </a:bodyPr>
          <a:lstStyle/>
          <a:p>
            <a:pPr algn="ctr">
              <a:spcAft>
                <a:spcPts val="800"/>
              </a:spcAft>
              <a:defRPr sz="1700" b="1">
                <a:solidFill>
                  <a:srgbClr val="22D3EE"/>
                </a:solidFill>
                <a:latin typeface="Times New Roman"/>
              </a:defRPr>
            </a:pPr>
            <a:r>
              <a:t>[USER INTERFACE SCREENSHOT — BOARD COMMUNICATION PORTAL — IMPLEMENTATION IN PROGRESS]</a:t>
            </a:r>
          </a:p>
          <a:p>
            <a:pPr algn="ctr">
              <a:defRPr sz="1200">
                <a:solidFill>
                  <a:srgbClr val="9CA3AF"/>
                </a:solidFill>
                <a:latin typeface="Times New Roman"/>
              </a:defRPr>
            </a:pPr>
            <a:r>
              <a:t>Paste active application screenshot into this bordered frame. Native aspect ratio fits widescreen 16:9 standard.</a:t>
            </a:r>
          </a:p>
        </p:txBody>
      </p:sp>
      <p:sp>
        <p:nvSpPr>
          <p:cNvPr id="11" name="TextBox 10"/>
          <p:cNvSpPr txBox="1"/>
          <p:nvPr/>
        </p:nvSpPr>
        <p:spPr>
          <a:xfrm>
            <a:off x="731520" y="5897880"/>
            <a:ext cx="10728655" cy="411480"/>
          </a:xfrm>
          <a:prstGeom prst="rect">
            <a:avLst/>
          </a:prstGeom>
          <a:noFill/>
        </p:spPr>
        <p:txBody>
          <a:bodyPr wrap="square">
            <a:spAutoFit/>
          </a:bodyPr>
          <a:lstStyle/>
          <a:p>
            <a:pPr>
              <a:defRPr sz="1100">
                <a:solidFill>
                  <a:srgbClr val="9CA3AF"/>
                </a:solidFill>
                <a:latin typeface="Times New Roman"/>
              </a:defRPr>
            </a:pPr>
            <a:r>
              <a:t>Figure Demonstration: Phase 5 active development: Executive board interface for loss monitoring across administrative divisions, circular broadcasts, and compliance oversight.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09 | PENDING DELIVERABLES &amp; FUTURE WORK</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Phases 5 to 8 Execution Roadmap</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35 of 38</a:t>
            </a:r>
          </a:p>
        </p:txBody>
      </p:sp>
      <p:sp>
        <p:nvSpPr>
          <p:cNvPr id="8" name="Rectangle 7"/>
          <p:cNvSpPr/>
          <p:nvPr/>
        </p:nvSpPr>
        <p:spPr>
          <a:xfrm>
            <a:off x="731520" y="1645920"/>
            <a:ext cx="2514600"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74520"/>
            <a:ext cx="2148840" cy="3931920"/>
          </a:xfrm>
          <a:prstGeom prst="rect">
            <a:avLst/>
          </a:prstGeom>
          <a:noFill/>
        </p:spPr>
        <p:txBody>
          <a:bodyPr wrap="square">
            <a:spAutoFit/>
          </a:bodyPr>
          <a:lstStyle/>
          <a:p>
            <a:pPr>
              <a:spcAft>
                <a:spcPts val="1200"/>
              </a:spcAft>
              <a:defRPr sz="1400" b="1">
                <a:solidFill>
                  <a:srgbClr val="FBBF24"/>
                </a:solidFill>
                <a:latin typeface="Times New Roman"/>
              </a:defRPr>
            </a:pPr>
            <a:r>
              <a:t>Phase 5: Portals (Underway)</a:t>
            </a:r>
          </a:p>
          <a:p>
            <a:pPr>
              <a:lnSpc>
                <a:spcPct val="135000"/>
              </a:lnSpc>
              <a:defRPr sz="1250">
                <a:solidFill>
                  <a:srgbClr val="9CA3AF"/>
                </a:solidFill>
                <a:latin typeface="Times New Roman"/>
              </a:defRPr>
            </a:pPr>
            <a:r>
              <a:t>• Complete user-facing Consumer Portal UI</a:t>
            </a:r>
            <a:br/>
            <a:r>
              <a:t>• Implement Board Communication Portal</a:t>
            </a:r>
            <a:br/>
            <a:r>
              <a:t>• Consumer bill dispute filing workflows</a:t>
            </a:r>
            <a:br/>
            <a:r>
              <a:t>• Official board circular broadcasting APIs</a:t>
            </a:r>
            <a:br/>
            <a:r>
              <a:t>• Cross-role session &amp; RBAC verification</a:t>
            </a:r>
          </a:p>
        </p:txBody>
      </p:sp>
      <p:sp>
        <p:nvSpPr>
          <p:cNvPr id="10" name="Rectangle 9"/>
          <p:cNvSpPr/>
          <p:nvPr/>
        </p:nvSpPr>
        <p:spPr>
          <a:xfrm>
            <a:off x="3474720" y="1645920"/>
            <a:ext cx="2514600"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874520"/>
            <a:ext cx="2148840" cy="3931920"/>
          </a:xfrm>
          <a:prstGeom prst="rect">
            <a:avLst/>
          </a:prstGeom>
          <a:noFill/>
        </p:spPr>
        <p:txBody>
          <a:bodyPr wrap="square">
            <a:spAutoFit/>
          </a:bodyPr>
          <a:lstStyle/>
          <a:p>
            <a:pPr>
              <a:spcAft>
                <a:spcPts val="1200"/>
              </a:spcAft>
              <a:defRPr sz="1400" b="1">
                <a:solidFill>
                  <a:srgbClr val="22D3EE"/>
                </a:solidFill>
                <a:latin typeface="Times New Roman"/>
              </a:defRPr>
            </a:pPr>
            <a:r>
              <a:t>Phase 6: Model Governance (Pending)</a:t>
            </a:r>
          </a:p>
          <a:p>
            <a:pPr>
              <a:lnSpc>
                <a:spcPct val="135000"/>
              </a:lnSpc>
              <a:defRPr sz="1250">
                <a:solidFill>
                  <a:srgbClr val="9CA3AF"/>
                </a:solidFill>
                <a:latin typeface="Times New Roman"/>
              </a:defRPr>
            </a:pPr>
            <a:r>
              <a:t>• Deeper closed-loop feedback workflows</a:t>
            </a:r>
            <a:br/>
            <a:r>
              <a:t>• Model drift &amp; performance degradation monitoring</a:t>
            </a:r>
            <a:br/>
            <a:r>
              <a:t>• Governed periodic offline model retraining</a:t>
            </a:r>
            <a:br/>
            <a:r>
              <a:t>• Calibration tracking against physical audits</a:t>
            </a:r>
            <a:br/>
            <a:r>
              <a:t>• Note: Not automated uncontrolled retraining</a:t>
            </a:r>
          </a:p>
        </p:txBody>
      </p:sp>
      <p:sp>
        <p:nvSpPr>
          <p:cNvPr id="12" name="Rectangle 11"/>
          <p:cNvSpPr/>
          <p:nvPr/>
        </p:nvSpPr>
        <p:spPr>
          <a:xfrm>
            <a:off x="6217920" y="1645920"/>
            <a:ext cx="2514600"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874520"/>
            <a:ext cx="2148840" cy="3931920"/>
          </a:xfrm>
          <a:prstGeom prst="rect">
            <a:avLst/>
          </a:prstGeom>
          <a:noFill/>
        </p:spPr>
        <p:txBody>
          <a:bodyPr wrap="square">
            <a:spAutoFit/>
          </a:bodyPr>
          <a:lstStyle/>
          <a:p>
            <a:pPr>
              <a:spcAft>
                <a:spcPts val="1200"/>
              </a:spcAft>
              <a:defRPr sz="1400" b="1">
                <a:solidFill>
                  <a:srgbClr val="9CA3AF"/>
                </a:solidFill>
                <a:latin typeface="Times New Roman"/>
              </a:defRPr>
            </a:pPr>
            <a:r>
              <a:t>Phase 7: Hardening (Pending)</a:t>
            </a:r>
          </a:p>
          <a:p>
            <a:pPr>
              <a:lnSpc>
                <a:spcPct val="135000"/>
              </a:lnSpc>
              <a:defRPr sz="1250">
                <a:solidFill>
                  <a:srgbClr val="9CA3AF"/>
                </a:solidFill>
                <a:latin typeface="Times New Roman"/>
              </a:defRPr>
            </a:pPr>
            <a:r>
              <a:t>• Docker containerization of backend &amp; DB</a:t>
            </a:r>
            <a:br/>
            <a:r>
              <a:t>• Security audit on JWT &amp; API endpoints</a:t>
            </a:r>
            <a:br/>
            <a:r>
              <a:t>• Final documentation &amp; schema dictionary</a:t>
            </a:r>
            <a:br/>
            <a:r>
              <a:t>• Rate-limiting and production WSGI configs</a:t>
            </a:r>
            <a:br/>
            <a:r>
              <a:t>• Complete API swagger documentation</a:t>
            </a:r>
          </a:p>
        </p:txBody>
      </p:sp>
      <p:sp>
        <p:nvSpPr>
          <p:cNvPr id="14" name="Rectangle 13"/>
          <p:cNvSpPr/>
          <p:nvPr/>
        </p:nvSpPr>
        <p:spPr>
          <a:xfrm>
            <a:off x="8961120" y="1645920"/>
            <a:ext cx="2514600"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874520"/>
            <a:ext cx="2148840" cy="3931920"/>
          </a:xfrm>
          <a:prstGeom prst="rect">
            <a:avLst/>
          </a:prstGeom>
          <a:noFill/>
        </p:spPr>
        <p:txBody>
          <a:bodyPr wrap="square">
            <a:spAutoFit/>
          </a:bodyPr>
          <a:lstStyle/>
          <a:p>
            <a:pPr>
              <a:spcAft>
                <a:spcPts val="1200"/>
              </a:spcAft>
              <a:defRPr sz="1400" b="1">
                <a:solidFill>
                  <a:srgbClr val="9CA3AF"/>
                </a:solidFill>
                <a:latin typeface="Times New Roman"/>
              </a:defRPr>
            </a:pPr>
            <a:r>
              <a:t>Phase 8: Validation (Pending)</a:t>
            </a:r>
          </a:p>
          <a:p>
            <a:pPr>
              <a:lnSpc>
                <a:spcPct val="135000"/>
              </a:lnSpc>
              <a:defRPr sz="1250">
                <a:solidFill>
                  <a:srgbClr val="9CA3AF"/>
                </a:solidFill>
                <a:latin typeface="Times New Roman"/>
              </a:defRPr>
            </a:pPr>
            <a:r>
              <a:t>• System-wide end-to-end integration tests</a:t>
            </a:r>
            <a:br/>
            <a:r>
              <a:t>• Multi-role cross-workflow acceptance QA</a:t>
            </a:r>
            <a:br/>
            <a:r>
              <a:t>• Final defect resolution and stress testing</a:t>
            </a:r>
            <a:br/>
            <a:r>
              <a:t>• Academic viva demonstration preparation</a:t>
            </a:r>
            <a:br/>
            <a:r>
              <a:t>• Final university project submission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10 | CONCLUSION &amp; SE ALIGNMENT</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Rigorous Application of Software Engineering Principles</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36 of 38</a:t>
            </a:r>
          </a:p>
        </p:txBody>
      </p:sp>
      <p:sp>
        <p:nvSpPr>
          <p:cNvPr id="8" name="Rectangle 7"/>
          <p:cNvSpPr/>
          <p:nvPr/>
        </p:nvSpPr>
        <p:spPr>
          <a:xfrm>
            <a:off x="731520" y="1645920"/>
            <a:ext cx="34134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2956255" cy="1737360"/>
          </a:xfrm>
          <a:prstGeom prst="rect">
            <a:avLst/>
          </a:prstGeom>
          <a:noFill/>
        </p:spPr>
        <p:txBody>
          <a:bodyPr wrap="square">
            <a:spAutoFit/>
          </a:bodyPr>
          <a:lstStyle/>
          <a:p>
            <a:pPr>
              <a:spcAft>
                <a:spcPts val="600"/>
              </a:spcAft>
              <a:defRPr sz="1400" b="1">
                <a:solidFill>
                  <a:srgbClr val="22D3EE"/>
                </a:solidFill>
                <a:latin typeface="Times New Roman"/>
              </a:defRPr>
            </a:pPr>
            <a:r>
              <a:t>Requirements-Driven Engineering</a:t>
            </a:r>
          </a:p>
          <a:p>
            <a:pPr algn="just">
              <a:lnSpc>
                <a:spcPct val="125000"/>
              </a:lnSpc>
              <a:defRPr sz="1200">
                <a:solidFill>
                  <a:srgbClr val="9CA3AF"/>
                </a:solidFill>
                <a:latin typeface="Times New Roman"/>
              </a:defRPr>
            </a:pPr>
            <a:r>
              <a:t>Defined distinct functional, non-functional, and legal boundaries for utility field auditing. Implemented strict server-side RBAC isolating flying squad officers from consumer private records.</a:t>
            </a:r>
          </a:p>
        </p:txBody>
      </p:sp>
      <p:sp>
        <p:nvSpPr>
          <p:cNvPr id="10" name="Rectangle 9"/>
          <p:cNvSpPr/>
          <p:nvPr/>
        </p:nvSpPr>
        <p:spPr>
          <a:xfrm>
            <a:off x="4389120" y="1645920"/>
            <a:ext cx="34134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828800"/>
            <a:ext cx="2956255" cy="1737360"/>
          </a:xfrm>
          <a:prstGeom prst="rect">
            <a:avLst/>
          </a:prstGeom>
          <a:noFill/>
        </p:spPr>
        <p:txBody>
          <a:bodyPr wrap="square">
            <a:spAutoFit/>
          </a:bodyPr>
          <a:lstStyle/>
          <a:p>
            <a:pPr>
              <a:spcAft>
                <a:spcPts val="600"/>
              </a:spcAft>
              <a:defRPr sz="1400" b="1">
                <a:solidFill>
                  <a:srgbClr val="22D3EE"/>
                </a:solidFill>
                <a:latin typeface="Times New Roman"/>
              </a:defRPr>
            </a:pPr>
            <a:r>
              <a:t>Modular Decoupled Architecture</a:t>
            </a:r>
          </a:p>
          <a:p>
            <a:pPr algn="just">
              <a:lnSpc>
                <a:spcPct val="125000"/>
              </a:lnSpc>
              <a:defRPr sz="1200">
                <a:solidFill>
                  <a:srgbClr val="9CA3AF"/>
                </a:solidFill>
                <a:latin typeface="Times New Roman"/>
              </a:defRPr>
            </a:pPr>
            <a:r>
              <a:t>Separated concerns across 4 distinct architectural layers: machine-learning inference, FastAPI REST service, MySQL 8.0 relational persistence, and React TypeScript frontend.</a:t>
            </a:r>
          </a:p>
        </p:txBody>
      </p:sp>
      <p:sp>
        <p:nvSpPr>
          <p:cNvPr id="12" name="Rectangle 11"/>
          <p:cNvSpPr/>
          <p:nvPr/>
        </p:nvSpPr>
        <p:spPr>
          <a:xfrm>
            <a:off x="8046720" y="1645920"/>
            <a:ext cx="34134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828800"/>
            <a:ext cx="2956255" cy="1737360"/>
          </a:xfrm>
          <a:prstGeom prst="rect">
            <a:avLst/>
          </a:prstGeom>
          <a:noFill/>
        </p:spPr>
        <p:txBody>
          <a:bodyPr wrap="square">
            <a:spAutoFit/>
          </a:bodyPr>
          <a:lstStyle/>
          <a:p>
            <a:pPr>
              <a:spcAft>
                <a:spcPts val="600"/>
              </a:spcAft>
              <a:defRPr sz="1400" b="1">
                <a:solidFill>
                  <a:srgbClr val="22D3EE"/>
                </a:solidFill>
                <a:latin typeface="Times New Roman"/>
              </a:defRPr>
            </a:pPr>
            <a:r>
              <a:t>Iterative Quality Verification</a:t>
            </a:r>
          </a:p>
          <a:p>
            <a:pPr algn="just">
              <a:lnSpc>
                <a:spcPct val="125000"/>
              </a:lnSpc>
              <a:defRPr sz="1200">
                <a:solidFill>
                  <a:srgbClr val="9CA3AF"/>
                </a:solidFill>
                <a:latin typeface="Times New Roman"/>
              </a:defRPr>
            </a:pPr>
            <a:r>
              <a:t>Enforced automated testing at every increment: 21 integration tests in pytest (100% pass), zero TypeScript compilation errors, and strict zero-leakage chronological ML validation.</a:t>
            </a:r>
          </a:p>
        </p:txBody>
      </p:sp>
      <p:sp>
        <p:nvSpPr>
          <p:cNvPr id="14" name="Rectangle 13"/>
          <p:cNvSpPr/>
          <p:nvPr/>
        </p:nvSpPr>
        <p:spPr>
          <a:xfrm>
            <a:off x="731520" y="3931920"/>
            <a:ext cx="34134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114800"/>
            <a:ext cx="2956255" cy="1737360"/>
          </a:xfrm>
          <a:prstGeom prst="rect">
            <a:avLst/>
          </a:prstGeom>
          <a:noFill/>
        </p:spPr>
        <p:txBody>
          <a:bodyPr wrap="square">
            <a:spAutoFit/>
          </a:bodyPr>
          <a:lstStyle/>
          <a:p>
            <a:pPr>
              <a:spcAft>
                <a:spcPts val="600"/>
              </a:spcAft>
              <a:defRPr sz="1400" b="1">
                <a:solidFill>
                  <a:srgbClr val="22D3EE"/>
                </a:solidFill>
                <a:latin typeface="Times New Roman"/>
              </a:defRPr>
            </a:pPr>
            <a:r>
              <a:t>Relational Integrity &amp; Audit Logging</a:t>
            </a:r>
          </a:p>
          <a:p>
            <a:pPr algn="just">
              <a:lnSpc>
                <a:spcPct val="125000"/>
              </a:lnSpc>
              <a:defRPr sz="1200">
                <a:solidFill>
                  <a:srgbClr val="9CA3AF"/>
                </a:solidFill>
                <a:latin typeface="Times New Roman"/>
              </a:defRPr>
            </a:pPr>
            <a:r>
              <a:t>Engineered 16 normalized database tables with foreign key constraints, indexing on time-series telemetry, and immutable audit logs capturing officer actions for evidentiary traceability.</a:t>
            </a:r>
          </a:p>
        </p:txBody>
      </p:sp>
      <p:sp>
        <p:nvSpPr>
          <p:cNvPr id="16" name="Rectangle 15"/>
          <p:cNvSpPr/>
          <p:nvPr/>
        </p:nvSpPr>
        <p:spPr>
          <a:xfrm>
            <a:off x="4389120" y="3931920"/>
            <a:ext cx="34134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4114800"/>
            <a:ext cx="2956255" cy="1737360"/>
          </a:xfrm>
          <a:prstGeom prst="rect">
            <a:avLst/>
          </a:prstGeom>
          <a:noFill/>
        </p:spPr>
        <p:txBody>
          <a:bodyPr wrap="square">
            <a:spAutoFit/>
          </a:bodyPr>
          <a:lstStyle/>
          <a:p>
            <a:pPr>
              <a:spcAft>
                <a:spcPts val="600"/>
              </a:spcAft>
              <a:defRPr sz="1400" b="1">
                <a:solidFill>
                  <a:srgbClr val="22D3EE"/>
                </a:solidFill>
                <a:latin typeface="Times New Roman"/>
              </a:defRPr>
            </a:pPr>
            <a:r>
              <a:t>Responsible Human-in-the-Loop AI</a:t>
            </a:r>
          </a:p>
          <a:p>
            <a:pPr algn="just">
              <a:lnSpc>
                <a:spcPct val="125000"/>
              </a:lnSpc>
              <a:defRPr sz="1200">
                <a:solidFill>
                  <a:srgbClr val="9CA3AF"/>
                </a:solidFill>
                <a:latin typeface="Times New Roman"/>
              </a:defRPr>
            </a:pPr>
            <a:r>
              <a:t>Reframed machine learning from an autonomous black-box decider to explainable decision support (SHAP), mandating physical flying squad verification before legal or financial enforcement.</a:t>
            </a:r>
          </a:p>
        </p:txBody>
      </p:sp>
      <p:sp>
        <p:nvSpPr>
          <p:cNvPr id="18" name="Rectangle 17"/>
          <p:cNvSpPr/>
          <p:nvPr/>
        </p:nvSpPr>
        <p:spPr>
          <a:xfrm>
            <a:off x="8046720" y="3931920"/>
            <a:ext cx="3413455" cy="2103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4114800"/>
            <a:ext cx="2956255" cy="1737360"/>
          </a:xfrm>
          <a:prstGeom prst="rect">
            <a:avLst/>
          </a:prstGeom>
          <a:noFill/>
        </p:spPr>
        <p:txBody>
          <a:bodyPr wrap="square">
            <a:spAutoFit/>
          </a:bodyPr>
          <a:lstStyle/>
          <a:p>
            <a:pPr>
              <a:spcAft>
                <a:spcPts val="600"/>
              </a:spcAft>
              <a:defRPr sz="1400" b="1">
                <a:solidFill>
                  <a:srgbClr val="22D3EE"/>
                </a:solidFill>
                <a:latin typeface="Times New Roman"/>
              </a:defRPr>
            </a:pPr>
            <a:r>
              <a:t>Traceable Closed-Loop Governance</a:t>
            </a:r>
          </a:p>
          <a:p>
            <a:pPr algn="just">
              <a:lnSpc>
                <a:spcPct val="125000"/>
              </a:lnSpc>
              <a:defRPr sz="1200">
                <a:solidFill>
                  <a:srgbClr val="9CA3AF"/>
                </a:solidFill>
                <a:latin typeface="Times New Roman"/>
              </a:defRPr>
            </a:pPr>
            <a:r>
              <a:t>Connected model predictions with verified physical outcomes in the database, establishing the empirical feedback loop necessary for responsible future model calibration.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150" b="1">
                <a:solidFill>
                  <a:srgbClr val="22D3EE"/>
                </a:solidFill>
                <a:latin typeface="Times New Roman"/>
              </a:defRPr>
            </a:pPr>
            <a:r>
              <a:t>10 | CONCLUSION &amp; SE ALIGNMENT</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500" b="1">
                <a:solidFill>
                  <a:srgbClr val="F0F2F5"/>
                </a:solidFill>
                <a:latin typeface="Times New Roman"/>
              </a:defRPr>
            </a:pPr>
            <a:r>
              <a:t>Project Conclusion &amp; Operational Value</a:t>
            </a:r>
          </a:p>
        </p:txBody>
      </p:sp>
      <p:sp>
        <p:nvSpPr>
          <p:cNvPr id="5" name="Rectangle 4"/>
          <p:cNvSpPr/>
          <p:nvPr/>
        </p:nvSpPr>
        <p:spPr>
          <a:xfrm>
            <a:off x="731520" y="1298448"/>
            <a:ext cx="1072865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0"/>
            <a:ext cx="5943600" cy="274320"/>
          </a:xfrm>
          <a:prstGeom prst="rect">
            <a:avLst/>
          </a:prstGeom>
          <a:noFill/>
        </p:spPr>
        <p:txBody>
          <a:bodyPr wrap="none" lIns="0" tIns="0" rIns="0" bIns="0">
            <a:spAutoFit/>
          </a:bodyPr>
          <a:lstStyle/>
          <a:p>
            <a:pPr>
              <a:defRPr sz="1000">
                <a:solidFill>
                  <a:srgbClr val="9CA3AF"/>
                </a:solidFill>
                <a:latin typeface="Times New Roman"/>
              </a:defRPr>
            </a:pPr>
            <a:r>
              <a:t>Electricity Theft Intelligence &amp; Inspection Platform | VIT Chennai</a:t>
            </a:r>
          </a:p>
        </p:txBody>
      </p:sp>
      <p:sp>
        <p:nvSpPr>
          <p:cNvPr id="7" name="TextBox 6"/>
          <p:cNvSpPr txBox="1"/>
          <p:nvPr/>
        </p:nvSpPr>
        <p:spPr>
          <a:xfrm>
            <a:off x="6858000" y="6400800"/>
            <a:ext cx="4602175" cy="274320"/>
          </a:xfrm>
          <a:prstGeom prst="rect">
            <a:avLst/>
          </a:prstGeom>
          <a:noFill/>
        </p:spPr>
        <p:txBody>
          <a:bodyPr wrap="none" lIns="0" tIns="0" rIns="0" bIns="0">
            <a:spAutoFit/>
          </a:bodyPr>
          <a:lstStyle/>
          <a:p>
            <a:pPr algn="r">
              <a:defRPr sz="1000">
                <a:solidFill>
                  <a:srgbClr val="9CA3AF"/>
                </a:solidFill>
                <a:latin typeface="Times New Roman"/>
              </a:defRPr>
            </a:pPr>
            <a:r>
              <a:t>Swanand Siknis (24BRS1358) | Slide 37 of 38</a:t>
            </a:r>
          </a:p>
        </p:txBody>
      </p:sp>
      <p:sp>
        <p:nvSpPr>
          <p:cNvPr id="8" name="Rectangle 7"/>
          <p:cNvSpPr/>
          <p:nvPr/>
        </p:nvSpPr>
        <p:spPr>
          <a:xfrm>
            <a:off x="731520" y="1645920"/>
            <a:ext cx="5120640"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828800"/>
            <a:ext cx="4572000" cy="4023360"/>
          </a:xfrm>
          <a:prstGeom prst="rect">
            <a:avLst/>
          </a:prstGeom>
          <a:noFill/>
        </p:spPr>
        <p:txBody>
          <a:bodyPr wrap="square">
            <a:spAutoFit/>
          </a:bodyPr>
          <a:lstStyle/>
          <a:p>
            <a:pPr>
              <a:defRPr sz="1200" b="1">
                <a:solidFill>
                  <a:srgbClr val="22D3EE"/>
                </a:solidFill>
                <a:latin typeface="Times New Roman"/>
              </a:defRPr>
            </a:pPr>
            <a:r>
              <a:t>SUMMARY OF ACHIEVEMENTS</a:t>
            </a:r>
          </a:p>
          <a:p>
            <a:pPr>
              <a:spcAft>
                <a:spcPts val="1200"/>
              </a:spcAft>
              <a:defRPr sz="2000" b="1">
                <a:solidFill>
                  <a:srgbClr val="F0F2F5"/>
                </a:solidFill>
                <a:latin typeface="Times New Roman"/>
              </a:defRPr>
            </a:pPr>
            <a:r>
              <a:t>From Research to Practical System</a:t>
            </a:r>
          </a:p>
          <a:p>
            <a:pPr algn="just">
              <a:lnSpc>
                <a:spcPct val="135000"/>
              </a:lnSpc>
              <a:defRPr sz="1350">
                <a:solidFill>
                  <a:srgbClr val="9CA3AF"/>
                </a:solidFill>
                <a:latin typeface="Times New Roman"/>
              </a:defRPr>
            </a:pPr>
            <a:r>
              <a:t>This project bridges the longstanding chasm between academic machine-learning algorithms and real-world utility distribution operations.</a:t>
            </a:r>
            <a:br/>
            <a:br/>
            <a:r>
              <a:t>By uniting raw smart-meter consumption data, class-weighted XGBoost detection, SHAP explainability, and an operational flying squad portal, the platform transforms abstract anomaly scores into a disciplined, actionable, and legally sound inspection workflow.</a:t>
            </a:r>
          </a:p>
        </p:txBody>
      </p:sp>
      <p:sp>
        <p:nvSpPr>
          <p:cNvPr id="10" name="Rectangle 9"/>
          <p:cNvSpPr/>
          <p:nvPr/>
        </p:nvSpPr>
        <p:spPr>
          <a:xfrm>
            <a:off x="6217920" y="1645920"/>
            <a:ext cx="5242255" cy="4389120"/>
          </a:xfrm>
          <a:prstGeom prst="rect">
            <a:avLst/>
          </a:prstGeom>
          <a:solidFill>
            <a:srgbClr val="181C24"/>
          </a:solidFill>
          <a:ln w="127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693615" cy="4023360"/>
          </a:xfrm>
          <a:prstGeom prst="rect">
            <a:avLst/>
          </a:prstGeom>
          <a:noFill/>
        </p:spPr>
        <p:txBody>
          <a:bodyPr wrap="square">
            <a:spAutoFit/>
          </a:bodyPr>
          <a:lstStyle/>
          <a:p>
            <a:pPr>
              <a:defRPr sz="1200" b="1">
                <a:solidFill>
                  <a:srgbClr val="34D399"/>
                </a:solidFill>
                <a:latin typeface="Times New Roman"/>
              </a:defRPr>
            </a:pPr>
            <a:r>
              <a:t>EMPIRICAL HIGHLIGHTS</a:t>
            </a:r>
          </a:p>
          <a:p>
            <a:pPr>
              <a:spcAft>
                <a:spcPts val="1200"/>
              </a:spcAft>
              <a:defRPr sz="2000" b="1">
                <a:solidFill>
                  <a:srgbClr val="F0F2F5"/>
                </a:solidFill>
                <a:latin typeface="Times New Roman"/>
              </a:defRPr>
            </a:pPr>
            <a:r>
              <a:t>Documented Engineering Evidence</a:t>
            </a:r>
          </a:p>
          <a:p>
            <a:pPr>
              <a:spcAft>
                <a:spcPts val="600"/>
              </a:spcAft>
              <a:defRPr sz="1300">
                <a:solidFill>
                  <a:srgbClr val="9CA3AF"/>
                </a:solidFill>
                <a:latin typeface="Times New Roman"/>
              </a:defRPr>
            </a:pPr>
            <a:r>
              <a:t>• 4.9x Audit Efficiency: Discovers 195 confirmed thefts per 500 dispatches compared to 40 via status-quo random audits.</a:t>
            </a:r>
          </a:p>
          <a:p>
            <a:pPr>
              <a:spcAft>
                <a:spcPts val="600"/>
              </a:spcAft>
              <a:defRPr sz="1300">
                <a:solidFill>
                  <a:srgbClr val="9CA3AF"/>
                </a:solidFill>
                <a:latin typeface="Times New Roman"/>
              </a:defRPr>
            </a:pPr>
            <a:r>
              <a:t>• Strict Zero Leakage: Evaluated on held-out test split (PR-AUC: 0.3164, ROC-AUC: 0.7758) with class-weighting.</a:t>
            </a:r>
          </a:p>
          <a:p>
            <a:pPr>
              <a:spcAft>
                <a:spcPts val="600"/>
              </a:spcAft>
              <a:defRPr sz="1300">
                <a:solidFill>
                  <a:srgbClr val="9CA3AF"/>
                </a:solidFill>
                <a:latin typeface="Times New Roman"/>
              </a:defRPr>
            </a:pPr>
            <a:r>
              <a:t>• Explainable Attribution: SHAP TreeExplainer quantifies exact consumption drivers for every flagged candidate.</a:t>
            </a:r>
          </a:p>
          <a:p>
            <a:pPr>
              <a:spcAft>
                <a:spcPts val="600"/>
              </a:spcAft>
              <a:defRPr sz="1300">
                <a:solidFill>
                  <a:srgbClr val="9CA3AF"/>
                </a:solidFill>
                <a:latin typeface="Times New Roman"/>
              </a:defRPr>
            </a:pPr>
            <a:r>
              <a:t>• Production Architecture: FastAPI, MySQL 8.0, 21 passing automated integration tests, and 0 TypeScript errors.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9997135" cy="365760"/>
          </a:xfrm>
          <a:prstGeom prst="rect">
            <a:avLst/>
          </a:prstGeom>
          <a:noFill/>
        </p:spPr>
        <p:txBody>
          <a:bodyPr wrap="none">
            <a:spAutoFit/>
          </a:bodyPr>
          <a:lstStyle/>
          <a:p>
            <a:pPr>
              <a:defRPr sz="1300" b="1">
                <a:solidFill>
                  <a:srgbClr val="22D3EE"/>
                </a:solidFill>
                <a:latin typeface="Times New Roman"/>
              </a:defRPr>
            </a:pPr>
            <a:r>
              <a:t>B.TECH PROJECT EVALUATION — CONCLUSION</a:t>
            </a:r>
          </a:p>
        </p:txBody>
      </p:sp>
      <p:sp>
        <p:nvSpPr>
          <p:cNvPr id="4" name="TextBox 3"/>
          <p:cNvSpPr txBox="1"/>
          <p:nvPr/>
        </p:nvSpPr>
        <p:spPr>
          <a:xfrm>
            <a:off x="1097280" y="1554480"/>
            <a:ext cx="9997135" cy="1463040"/>
          </a:xfrm>
          <a:prstGeom prst="rect">
            <a:avLst/>
          </a:prstGeom>
          <a:noFill/>
        </p:spPr>
        <p:txBody>
          <a:bodyPr wrap="square">
            <a:spAutoFit/>
          </a:bodyPr>
          <a:lstStyle/>
          <a:p>
            <a:pPr>
              <a:defRPr sz="3600" b="1">
                <a:solidFill>
                  <a:srgbClr val="F0F2F5"/>
                </a:solidFill>
                <a:latin typeface="Times New Roman"/>
              </a:defRPr>
            </a:pPr>
            <a:r>
              <a:t>ELECTRICITY THEFT INTELLIGENCE &amp;</a:t>
            </a:r>
            <a:br/>
            <a:r>
              <a:t>INSPECTION PLATFORM</a:t>
            </a:r>
          </a:p>
        </p:txBody>
      </p:sp>
      <p:sp>
        <p:nvSpPr>
          <p:cNvPr id="5" name="TextBox 4"/>
          <p:cNvSpPr txBox="1"/>
          <p:nvPr/>
        </p:nvSpPr>
        <p:spPr>
          <a:xfrm>
            <a:off x="1097280" y="3108960"/>
            <a:ext cx="9997135" cy="548640"/>
          </a:xfrm>
          <a:prstGeom prst="rect">
            <a:avLst/>
          </a:prstGeom>
          <a:noFill/>
        </p:spPr>
        <p:txBody>
          <a:bodyPr wrap="none">
            <a:spAutoFit/>
          </a:bodyPr>
          <a:lstStyle/>
          <a:p>
            <a:pPr>
              <a:defRPr sz="2000">
                <a:solidFill>
                  <a:srgbClr val="9CA3AF"/>
                </a:solidFill>
                <a:latin typeface="Times New Roman"/>
              </a:defRPr>
            </a:pPr>
            <a:r>
              <a:t>Thank You — Questions &amp; Academic Technical Review</a:t>
            </a:r>
          </a:p>
        </p:txBody>
      </p:sp>
      <p:sp>
        <p:nvSpPr>
          <p:cNvPr id="6" name="Rectangle 5"/>
          <p:cNvSpPr/>
          <p:nvPr/>
        </p:nvSpPr>
        <p:spPr>
          <a:xfrm>
            <a:off x="1097280" y="3840480"/>
            <a:ext cx="9997135" cy="18288"/>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4114800"/>
            <a:ext cx="4846320" cy="1645920"/>
          </a:xfrm>
          <a:prstGeom prst="rect">
            <a:avLst/>
          </a:prstGeom>
          <a:noFill/>
        </p:spPr>
        <p:txBody>
          <a:bodyPr wrap="none">
            <a:spAutoFit/>
          </a:bodyPr>
          <a:lstStyle/>
          <a:p>
            <a:pPr>
              <a:defRPr sz="1100">
                <a:solidFill>
                  <a:srgbClr val="22D3EE"/>
                </a:solidFill>
                <a:latin typeface="Times New Roman"/>
              </a:defRPr>
            </a:pPr>
            <a:r>
              <a:t>Student Investigator:</a:t>
            </a:r>
          </a:p>
          <a:p>
            <a:pPr>
              <a:defRPr sz="1700" b="1">
                <a:solidFill>
                  <a:srgbClr val="F0F2F5"/>
                </a:solidFill>
                <a:latin typeface="Times New Roman"/>
              </a:defRPr>
            </a:pPr>
            <a:r>
              <a:t>Swanand Siknis</a:t>
            </a:r>
          </a:p>
          <a:p>
            <a:pPr>
              <a:defRPr sz="1300">
                <a:solidFill>
                  <a:srgbClr val="9CA3AF"/>
                </a:solidFill>
                <a:latin typeface="Times New Roman"/>
              </a:defRPr>
            </a:pPr>
            <a:r>
              <a:t>Registration Number: 24BRS1358</a:t>
            </a:r>
          </a:p>
        </p:txBody>
      </p:sp>
      <p:sp>
        <p:nvSpPr>
          <p:cNvPr id="8" name="TextBox 7"/>
          <p:cNvSpPr txBox="1"/>
          <p:nvPr/>
        </p:nvSpPr>
        <p:spPr>
          <a:xfrm>
            <a:off x="6217920" y="4114800"/>
            <a:ext cx="4846320" cy="1645920"/>
          </a:xfrm>
          <a:prstGeom prst="rect">
            <a:avLst/>
          </a:prstGeom>
          <a:noFill/>
        </p:spPr>
        <p:txBody>
          <a:bodyPr wrap="none">
            <a:spAutoFit/>
          </a:bodyPr>
          <a:lstStyle/>
          <a:p>
            <a:pPr>
              <a:defRPr sz="1100">
                <a:solidFill>
                  <a:srgbClr val="22D3EE"/>
                </a:solidFill>
                <a:latin typeface="Times New Roman"/>
              </a:defRPr>
            </a:pPr>
            <a:r>
              <a:t>Degree &amp; Department:</a:t>
            </a:r>
          </a:p>
          <a:p>
            <a:pPr>
              <a:defRPr sz="1700" b="1">
                <a:solidFill>
                  <a:srgbClr val="F0F2F5"/>
                </a:solidFill>
                <a:latin typeface="Times New Roman"/>
              </a:defRPr>
            </a:pPr>
            <a:r>
              <a:t>B.Tech CSE — Artificial Intelligence &amp; Robotics</a:t>
            </a:r>
          </a:p>
          <a:p>
            <a:pPr>
              <a:defRPr sz="1300">
                <a:solidFill>
                  <a:srgbClr val="9CA3AF"/>
                </a:solidFill>
                <a:latin typeface="Times New Roman"/>
              </a:defRPr>
            </a:pPr>
            <a:r>
              <a:t>Vellore Institute of Technology (VIT), Chennai</a:t>
            </a:r>
          </a:p>
        </p:txBody>
      </p:sp>
      <p:sp>
        <p:nvSpPr>
          <p:cNvPr id="9" name="TextBox 8"/>
          <p:cNvSpPr txBox="1"/>
          <p:nvPr/>
        </p:nvSpPr>
        <p:spPr>
          <a:xfrm>
            <a:off x="1097280" y="6035040"/>
            <a:ext cx="9997135" cy="365760"/>
          </a:xfrm>
          <a:prstGeom prst="rect">
            <a:avLst/>
          </a:prstGeom>
          <a:noFill/>
        </p:spPr>
        <p:txBody>
          <a:bodyPr wrap="none">
            <a:spAutoFit/>
          </a:bodyPr>
          <a:lstStyle/>
          <a:p>
            <a:pPr>
              <a:defRPr sz="1100">
                <a:solidFill>
                  <a:srgbClr val="9CA3AF"/>
                </a:solidFill>
                <a:latin typeface="Times New Roman"/>
              </a:defRPr>
            </a:pPr>
            <a:r>
              <a:t>Project Code Repository: https://github.com/swanand70/grid-guard-ai.git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