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1" r:id="rId16"/>
    <p:sldId id="271" r:id="rId17"/>
    <p:sldId id="294" r:id="rId18"/>
    <p:sldId id="295" r:id="rId19"/>
    <p:sldId id="272" r:id="rId20"/>
    <p:sldId id="293" r:id="rId21"/>
    <p:sldId id="273" r:id="rId22"/>
    <p:sldId id="274" r:id="rId23"/>
    <p:sldId id="275" r:id="rId24"/>
    <p:sldId id="292" r:id="rId25"/>
    <p:sldId id="277" r:id="rId26"/>
    <p:sldId id="278" r:id="rId27"/>
    <p:sldId id="279" r:id="rId28"/>
    <p:sldId id="296" r:id="rId29"/>
    <p:sldId id="297" r:id="rId30"/>
    <p:sldId id="280" r:id="rId31"/>
    <p:sldId id="282" r:id="rId32"/>
    <p:sldId id="283" r:id="rId33"/>
    <p:sldId id="288" r:id="rId34"/>
    <p:sldId id="290" r:id="rId35"/>
    <p:sldId id="28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D399"/>
    <a:srgbClr val="424345"/>
    <a:srgbClr val="28946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272"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1097280" y="1097280"/>
            <a:ext cx="9997135" cy="365760"/>
          </a:xfrm>
          <a:prstGeom prst="rect">
            <a:avLst/>
          </a:prstGeom>
          <a:noFill/>
        </p:spPr>
        <p:txBody>
          <a:bodyPr wrap="none">
            <a:spAutoFit/>
          </a:bodyPr>
          <a:lstStyle/>
          <a:p>
            <a:pPr>
              <a:defRPr sz="1400" b="1">
                <a:solidFill>
                  <a:srgbClr val="22D3EE"/>
                </a:solidFill>
                <a:latin typeface="Times New Roman"/>
              </a:defRPr>
            </a:pPr>
            <a:r>
              <a:rPr>
                <a:latin typeface="Times New Roman"/>
              </a:rPr>
              <a:t>B.TECH SOFTWARE ENGINEERING PROJECT REVIEW</a:t>
            </a:r>
          </a:p>
        </p:txBody>
      </p:sp>
      <p:sp>
        <p:nvSpPr>
          <p:cNvPr id="4" name="TextBox 3"/>
          <p:cNvSpPr txBox="1"/>
          <p:nvPr/>
        </p:nvSpPr>
        <p:spPr>
          <a:xfrm>
            <a:off x="1097280" y="1508760"/>
            <a:ext cx="9997135" cy="1261884"/>
          </a:xfrm>
          <a:prstGeom prst="rect">
            <a:avLst/>
          </a:prstGeom>
          <a:noFill/>
        </p:spPr>
        <p:txBody>
          <a:bodyPr wrap="square">
            <a:spAutoFit/>
          </a:bodyPr>
          <a:lstStyle/>
          <a:p>
            <a:pPr>
              <a:defRPr sz="3800" b="1">
                <a:solidFill>
                  <a:srgbClr val="F0F2F5"/>
                </a:solidFill>
                <a:latin typeface="Times New Roman"/>
              </a:defRPr>
            </a:pPr>
            <a:r>
              <a:rPr dirty="0">
                <a:latin typeface="Times New Roman"/>
              </a:rPr>
              <a:t>Electricity Theft </a:t>
            </a:r>
            <a:r>
              <a:rPr lang="en-US" dirty="0">
                <a:latin typeface="Times New Roman"/>
              </a:rPr>
              <a:t>Detection </a:t>
            </a:r>
            <a:r>
              <a:rPr dirty="0">
                <a:latin typeface="Times New Roman"/>
              </a:rPr>
              <a:t>&amp;</a:t>
            </a:r>
            <a:br>
              <a:rPr dirty="0"/>
            </a:br>
            <a:r>
              <a:rPr lang="en-US" dirty="0"/>
              <a:t>Consumer </a:t>
            </a:r>
            <a:r>
              <a:rPr dirty="0">
                <a:latin typeface="Times New Roman"/>
              </a:rPr>
              <a:t>Inspection Platform</a:t>
            </a:r>
          </a:p>
        </p:txBody>
      </p:sp>
      <p:sp>
        <p:nvSpPr>
          <p:cNvPr id="5" name="TextBox 4"/>
          <p:cNvSpPr txBox="1"/>
          <p:nvPr/>
        </p:nvSpPr>
        <p:spPr>
          <a:xfrm>
            <a:off x="1097280" y="3291840"/>
            <a:ext cx="9997135" cy="731520"/>
          </a:xfrm>
          <a:prstGeom prst="rect">
            <a:avLst/>
          </a:prstGeom>
          <a:noFill/>
        </p:spPr>
        <p:txBody>
          <a:bodyPr wrap="square">
            <a:spAutoFit/>
          </a:bodyPr>
          <a:lstStyle/>
          <a:p>
            <a:pPr>
              <a:defRPr sz="1900">
                <a:solidFill>
                  <a:srgbClr val="A0A8B4"/>
                </a:solidFill>
                <a:latin typeface="Times New Roman"/>
              </a:defRPr>
            </a:pPr>
            <a:r>
              <a:rPr>
                <a:latin typeface="Times New Roman"/>
              </a:rPr>
              <a:t>Machine Learning-Based Electricity Theft Detection and Inspection Management</a:t>
            </a:r>
          </a:p>
        </p:txBody>
      </p:sp>
      <p:sp>
        <p:nvSpPr>
          <p:cNvPr id="6" name="Rectangle 5"/>
          <p:cNvSpPr/>
          <p:nvPr/>
        </p:nvSpPr>
        <p:spPr>
          <a:xfrm>
            <a:off x="1097280" y="4160520"/>
            <a:ext cx="9997135" cy="18288"/>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7" name="TextBox 6"/>
          <p:cNvSpPr txBox="1"/>
          <p:nvPr/>
        </p:nvSpPr>
        <p:spPr>
          <a:xfrm>
            <a:off x="1097280" y="4434840"/>
            <a:ext cx="4846320" cy="1645920"/>
          </a:xfrm>
          <a:prstGeom prst="rect">
            <a:avLst/>
          </a:prstGeom>
          <a:noFill/>
        </p:spPr>
        <p:txBody>
          <a:bodyPr wrap="none">
            <a:spAutoFit/>
          </a:bodyPr>
          <a:lstStyle/>
          <a:p>
            <a:pPr>
              <a:defRPr sz="1200">
                <a:solidFill>
                  <a:srgbClr val="22D3EE"/>
                </a:solidFill>
                <a:latin typeface="Times New Roman"/>
              </a:defRPr>
            </a:pPr>
            <a:r>
              <a:rPr>
                <a:latin typeface="Times New Roman"/>
              </a:rPr>
              <a:t>Student Investigator:</a:t>
            </a:r>
          </a:p>
          <a:p>
            <a:pPr>
              <a:defRPr sz="2000" b="1">
                <a:solidFill>
                  <a:srgbClr val="F0F2F5"/>
                </a:solidFill>
                <a:latin typeface="Times New Roman"/>
              </a:defRPr>
            </a:pPr>
            <a:r>
              <a:rPr>
                <a:latin typeface="Times New Roman"/>
              </a:rPr>
              <a:t>Swanand Siknis</a:t>
            </a:r>
          </a:p>
          <a:p>
            <a:pPr>
              <a:defRPr sz="1400">
                <a:solidFill>
                  <a:srgbClr val="A0A8B4"/>
                </a:solidFill>
                <a:latin typeface="Times New Roman"/>
              </a:defRPr>
            </a:pPr>
            <a:r>
              <a:rPr>
                <a:latin typeface="Times New Roman"/>
              </a:rPr>
              <a:t>Registration Number: 24BRS1358</a:t>
            </a:r>
          </a:p>
        </p:txBody>
      </p:sp>
      <p:sp>
        <p:nvSpPr>
          <p:cNvPr id="8" name="TextBox 7"/>
          <p:cNvSpPr txBox="1"/>
          <p:nvPr/>
        </p:nvSpPr>
        <p:spPr>
          <a:xfrm>
            <a:off x="6217920" y="4434840"/>
            <a:ext cx="4846320" cy="1645920"/>
          </a:xfrm>
          <a:prstGeom prst="rect">
            <a:avLst/>
          </a:prstGeom>
          <a:noFill/>
        </p:spPr>
        <p:txBody>
          <a:bodyPr wrap="none">
            <a:spAutoFit/>
          </a:bodyPr>
          <a:lstStyle/>
          <a:p>
            <a:pPr>
              <a:defRPr sz="1200">
                <a:solidFill>
                  <a:srgbClr val="22D3EE"/>
                </a:solidFill>
                <a:latin typeface="Times New Roman"/>
              </a:defRPr>
            </a:pPr>
            <a:r>
              <a:rPr>
                <a:latin typeface="Times New Roman"/>
              </a:rPr>
              <a:t>Programme &amp; Institution:</a:t>
            </a:r>
          </a:p>
          <a:p>
            <a:pPr>
              <a:defRPr sz="2000" b="1">
                <a:solidFill>
                  <a:srgbClr val="F0F2F5"/>
                </a:solidFill>
                <a:latin typeface="Times New Roman"/>
              </a:defRPr>
            </a:pPr>
            <a:r>
              <a:rPr>
                <a:latin typeface="Times New Roman"/>
              </a:rPr>
              <a:t>B.Tech CSE — Artificial Intelligence &amp; Robotics</a:t>
            </a:r>
          </a:p>
          <a:p>
            <a:pPr>
              <a:defRPr sz="1400">
                <a:solidFill>
                  <a:srgbClr val="A0A8B4"/>
                </a:solidFill>
                <a:latin typeface="Times New Roman"/>
              </a:defRPr>
            </a:pPr>
            <a:r>
              <a:rPr>
                <a:latin typeface="Times New Roman"/>
              </a:rPr>
              <a:t>VIT Chennai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02 | PROBLEM STATEMENT</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Challenges in Electricity Distribution</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dirty="0">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2 of 35</a:t>
            </a:r>
          </a:p>
        </p:txBody>
      </p:sp>
      <p:sp>
        <p:nvSpPr>
          <p:cNvPr id="8" name="TextBox 7"/>
          <p:cNvSpPr txBox="1"/>
          <p:nvPr/>
        </p:nvSpPr>
        <p:spPr>
          <a:xfrm>
            <a:off x="822960" y="1545336"/>
            <a:ext cx="10545775" cy="4480560"/>
          </a:xfrm>
          <a:prstGeom prst="rect">
            <a:avLst/>
          </a:prstGeom>
          <a:noFill/>
        </p:spPr>
        <p:txBody>
          <a:bodyPr wrap="square">
            <a:spAutoFit/>
          </a:bodyPr>
          <a:lstStyle/>
          <a:p>
            <a:pPr marL="342900" indent="-342900">
              <a:lnSpc>
                <a:spcPct val="135000"/>
              </a:lnSpc>
              <a:spcAft>
                <a:spcPts val="2000"/>
              </a:spcAft>
              <a:buFont typeface="Arial" panose="020B0604020202020204" pitchFamily="34" charset="0"/>
              <a:buChar char="•"/>
              <a:defRPr sz="2200">
                <a:solidFill>
                  <a:srgbClr val="F0F2F5"/>
                </a:solidFill>
                <a:latin typeface="Times New Roman"/>
              </a:defRPr>
            </a:pPr>
            <a:r>
              <a:rPr dirty="0">
                <a:latin typeface="Times New Roman"/>
              </a:rPr>
              <a:t>Smart meters are a relatively new development in India's electricity sector, and their </a:t>
            </a:r>
            <a:r>
              <a:rPr lang="en-US" dirty="0">
                <a:latin typeface="Times New Roman"/>
              </a:rPr>
              <a:t>     </a:t>
            </a:r>
            <a:r>
              <a:rPr dirty="0">
                <a:latin typeface="Times New Roman"/>
              </a:rPr>
              <a:t>adoption is creating more opportunities to use detailed consumption data.</a:t>
            </a:r>
          </a:p>
          <a:p>
            <a:pPr marL="342900" indent="-342900">
              <a:lnSpc>
                <a:spcPct val="135000"/>
              </a:lnSpc>
              <a:spcAft>
                <a:spcPts val="2000"/>
              </a:spcAft>
              <a:buFont typeface="Arial" panose="020B0604020202020204" pitchFamily="34" charset="0"/>
              <a:buChar char="•"/>
              <a:defRPr sz="2200">
                <a:solidFill>
                  <a:srgbClr val="F0F2F5"/>
                </a:solidFill>
                <a:latin typeface="Times New Roman"/>
              </a:defRPr>
            </a:pPr>
            <a:r>
              <a:rPr dirty="0">
                <a:latin typeface="Times New Roman"/>
              </a:rPr>
              <a:t>Traditional meter-reading methods provide less detailed information about daily electricity usage.</a:t>
            </a:r>
          </a:p>
          <a:p>
            <a:pPr marL="342900" indent="-342900">
              <a:lnSpc>
                <a:spcPct val="135000"/>
              </a:lnSpc>
              <a:spcAft>
                <a:spcPts val="2000"/>
              </a:spcAft>
              <a:buFont typeface="Arial" panose="020B0604020202020204" pitchFamily="34" charset="0"/>
              <a:buChar char="•"/>
              <a:defRPr sz="2200">
                <a:solidFill>
                  <a:srgbClr val="F0F2F5"/>
                </a:solidFill>
                <a:latin typeface="Times New Roman"/>
              </a:defRPr>
            </a:pPr>
            <a:r>
              <a:rPr dirty="0">
                <a:latin typeface="Times New Roman"/>
              </a:rPr>
              <a:t>Smart-meter data can help identify unusual consumption patterns that may indicate electricity theft.</a:t>
            </a:r>
          </a:p>
          <a:p>
            <a:pPr marL="342900" indent="-342900">
              <a:lnSpc>
                <a:spcPct val="135000"/>
              </a:lnSpc>
              <a:spcAft>
                <a:spcPts val="2000"/>
              </a:spcAft>
              <a:buFont typeface="Arial" panose="020B0604020202020204" pitchFamily="34" charset="0"/>
              <a:buChar char="•"/>
              <a:defRPr sz="2200">
                <a:solidFill>
                  <a:srgbClr val="F0F2F5"/>
                </a:solidFill>
                <a:latin typeface="Times New Roman"/>
              </a:defRPr>
            </a:pPr>
            <a:r>
              <a:rPr dirty="0">
                <a:latin typeface="Times New Roman"/>
              </a:rPr>
              <a:t>Distribution companies need a more organized way to review suspicious cases and manage inspections.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02 | PROBLEM STATEMENT</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From Prediction to Verification</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3 of 35</a:t>
            </a:r>
          </a:p>
        </p:txBody>
      </p:sp>
      <p:sp>
        <p:nvSpPr>
          <p:cNvPr id="8" name="TextBox 7"/>
          <p:cNvSpPr txBox="1"/>
          <p:nvPr/>
        </p:nvSpPr>
        <p:spPr>
          <a:xfrm>
            <a:off x="815410" y="1920240"/>
            <a:ext cx="10545775" cy="4025974"/>
          </a:xfrm>
          <a:prstGeom prst="rect">
            <a:avLst/>
          </a:prstGeom>
          <a:noFill/>
        </p:spPr>
        <p:txBody>
          <a:bodyPr wrap="square">
            <a:spAutoFit/>
          </a:bodyPr>
          <a:lstStyle/>
          <a:p>
            <a:pPr marL="342900" indent="-342900">
              <a:lnSpc>
                <a:spcPct val="135000"/>
              </a:lnSpc>
              <a:spcAft>
                <a:spcPts val="2200"/>
              </a:spcAft>
              <a:buFont typeface="Arial" panose="020B0604020202020204" pitchFamily="34" charset="0"/>
              <a:buChar char="•"/>
              <a:defRPr sz="2200">
                <a:solidFill>
                  <a:srgbClr val="F0F2F5"/>
                </a:solidFill>
                <a:latin typeface="Times New Roman"/>
              </a:defRPr>
            </a:pPr>
            <a:r>
              <a:rPr dirty="0">
                <a:latin typeface="Times New Roman"/>
              </a:rPr>
              <a:t>ML predictions alone cannot confirm theft; physical on-site inspection is still necessary.</a:t>
            </a:r>
          </a:p>
          <a:p>
            <a:pPr marL="342900" indent="-342900">
              <a:lnSpc>
                <a:spcPct val="135000"/>
              </a:lnSpc>
              <a:spcAft>
                <a:spcPts val="2200"/>
              </a:spcAft>
              <a:buFont typeface="Arial" panose="020B0604020202020204" pitchFamily="34" charset="0"/>
              <a:buChar char="•"/>
              <a:defRPr sz="2200">
                <a:solidFill>
                  <a:srgbClr val="F0F2F5"/>
                </a:solidFill>
                <a:latin typeface="Times New Roman"/>
              </a:defRPr>
            </a:pPr>
            <a:r>
              <a:rPr dirty="0">
                <a:latin typeface="Times New Roman"/>
              </a:rPr>
              <a:t>Consumer services, inspection work and official communication should be easier to manage through one connected system.</a:t>
            </a:r>
            <a:endParaRPr lang="en-US" dirty="0">
              <a:latin typeface="Times New Roman"/>
            </a:endParaRPr>
          </a:p>
          <a:p>
            <a:pPr>
              <a:lnSpc>
                <a:spcPct val="135000"/>
              </a:lnSpc>
              <a:spcAft>
                <a:spcPts val="2200"/>
              </a:spcAft>
              <a:defRPr sz="2200">
                <a:solidFill>
                  <a:srgbClr val="F0F2F5"/>
                </a:solidFill>
                <a:latin typeface="Times New Roman"/>
              </a:defRPr>
            </a:pPr>
            <a:endParaRPr dirty="0">
              <a:latin typeface="Times New Roman"/>
            </a:endParaRPr>
          </a:p>
          <a:p>
            <a:pPr algn="ctr">
              <a:spcAft>
                <a:spcPts val="600"/>
              </a:spcAft>
              <a:defRPr sz="1800" b="1">
                <a:solidFill>
                  <a:srgbClr val="22D3EE"/>
                </a:solidFill>
                <a:latin typeface="Times New Roman"/>
              </a:defRPr>
            </a:pPr>
            <a:r>
              <a:rPr sz="2000" dirty="0">
                <a:latin typeface="Times New Roman"/>
              </a:rPr>
              <a:t>Central Problem Statement:</a:t>
            </a:r>
          </a:p>
          <a:p>
            <a:pPr>
              <a:lnSpc>
                <a:spcPct val="130000"/>
              </a:lnSpc>
              <a:defRPr sz="2300" b="1">
                <a:solidFill>
                  <a:srgbClr val="F0F2F5"/>
                </a:solidFill>
                <a:latin typeface="Times New Roman"/>
              </a:defRPr>
            </a:pPr>
            <a:r>
              <a:rPr dirty="0">
                <a:latin typeface="Times New Roman"/>
              </a:rPr>
              <a:t>"How can we use smart-meter data to identify possible electricity theft and manage the inspection process through one organized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dirty="0"/>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dirty="0">
                <a:latin typeface="Times New Roman"/>
              </a:rPr>
              <a:t>03 | PAST WORK IN THIS AREA</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Past Work in This Area</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4 of 35</a:t>
            </a:r>
          </a:p>
        </p:txBody>
      </p:sp>
      <p:sp>
        <p:nvSpPr>
          <p:cNvPr id="8" name="TextBox 7"/>
          <p:cNvSpPr txBox="1"/>
          <p:nvPr/>
        </p:nvSpPr>
        <p:spPr>
          <a:xfrm>
            <a:off x="822960" y="1600200"/>
            <a:ext cx="10545775" cy="4572000"/>
          </a:xfrm>
          <a:prstGeom prst="rect">
            <a:avLst/>
          </a:prstGeom>
          <a:noFill/>
        </p:spPr>
        <p:txBody>
          <a:bodyPr wrap="square">
            <a:spAutoFit/>
          </a:bodyPr>
          <a:lstStyle/>
          <a:p>
            <a:pPr>
              <a:spcAft>
                <a:spcPts val="300"/>
              </a:spcAft>
              <a:defRPr sz="1900" b="1">
                <a:solidFill>
                  <a:srgbClr val="22D3EE"/>
                </a:solidFill>
                <a:latin typeface="Times New Roman"/>
              </a:defRPr>
            </a:pPr>
            <a:r>
              <a:rPr dirty="0">
                <a:latin typeface="Times New Roman"/>
              </a:rPr>
              <a:t>1. Existing ML Approaches</a:t>
            </a:r>
          </a:p>
          <a:p>
            <a:pPr lvl="1">
              <a:lnSpc>
                <a:spcPct val="130000"/>
              </a:lnSpc>
              <a:spcAft>
                <a:spcPts val="1400"/>
              </a:spcAft>
              <a:defRPr sz="1550">
                <a:solidFill>
                  <a:srgbClr val="F0F2F5"/>
                </a:solidFill>
                <a:latin typeface="Times New Roman"/>
              </a:defRPr>
            </a:pPr>
            <a:r>
              <a:rPr dirty="0">
                <a:latin typeface="Times New Roman"/>
              </a:rPr>
              <a:t>Researchers have widely applied machine learning algorithms to identify potential electricity theft from smart-meter consumption data. Studies show that customer daily usage patterns can reveal consumption anomalies, bypass behavior, and sudden drops in load that indicate unauthorized use.</a:t>
            </a:r>
          </a:p>
          <a:p>
            <a:pPr>
              <a:spcAft>
                <a:spcPts val="300"/>
              </a:spcAft>
              <a:defRPr sz="1900" b="1">
                <a:solidFill>
                  <a:srgbClr val="22D3EE"/>
                </a:solidFill>
                <a:latin typeface="Times New Roman"/>
              </a:defRPr>
            </a:pPr>
            <a:r>
              <a:rPr dirty="0">
                <a:latin typeface="Times New Roman"/>
              </a:rPr>
              <a:t>2. Model Selection and Benchmarking</a:t>
            </a:r>
          </a:p>
          <a:p>
            <a:pPr lvl="1">
              <a:lnSpc>
                <a:spcPct val="130000"/>
              </a:lnSpc>
              <a:spcAft>
                <a:spcPts val="1400"/>
              </a:spcAft>
              <a:defRPr sz="1550">
                <a:solidFill>
                  <a:srgbClr val="F0F2F5"/>
                </a:solidFill>
                <a:latin typeface="Times New Roman"/>
              </a:defRPr>
            </a:pPr>
            <a:r>
              <a:rPr dirty="0">
                <a:latin typeface="Times New Roman"/>
              </a:rPr>
              <a:t>A published benchmark study by </a:t>
            </a:r>
            <a:r>
              <a:rPr dirty="0" err="1">
                <a:latin typeface="Times New Roman"/>
              </a:rPr>
              <a:t>Petrlik</a:t>
            </a:r>
            <a:r>
              <a:rPr dirty="0">
                <a:latin typeface="Times New Roman"/>
              </a:rPr>
              <a:t> et al. (2022) evaluated five machine learning models on real smart-meter consumption data. The study demonstrated that tree-based algorithms significantly outperform linear models for tabular consumption data. Based on these verified findings and our own test evaluations, </a:t>
            </a:r>
            <a:r>
              <a:rPr dirty="0" err="1">
                <a:latin typeface="Times New Roman"/>
              </a:rPr>
              <a:t>XGBoost</a:t>
            </a:r>
            <a:r>
              <a:rPr dirty="0">
                <a:latin typeface="Times New Roman"/>
              </a:rPr>
              <a:t> was selected as the champion model for its superior detection capability and robustness against missing readings.</a:t>
            </a:r>
          </a:p>
          <a:p>
            <a:pPr>
              <a:spcAft>
                <a:spcPts val="300"/>
              </a:spcAft>
              <a:defRPr sz="1900" b="1">
                <a:solidFill>
                  <a:srgbClr val="22D3EE"/>
                </a:solidFill>
                <a:latin typeface="Times New Roman"/>
              </a:defRPr>
            </a:pPr>
            <a:r>
              <a:rPr dirty="0">
                <a:latin typeface="Times New Roman"/>
              </a:rPr>
              <a:t>3. Existing Systems and the Operational Gap</a:t>
            </a:r>
          </a:p>
          <a:p>
            <a:pPr lvl="1">
              <a:lnSpc>
                <a:spcPct val="130000"/>
              </a:lnSpc>
              <a:spcAft>
                <a:spcPts val="1400"/>
              </a:spcAft>
              <a:defRPr sz="1550">
                <a:solidFill>
                  <a:srgbClr val="F0F2F5"/>
                </a:solidFill>
                <a:latin typeface="Times New Roman"/>
              </a:defRPr>
            </a:pPr>
            <a:r>
              <a:rPr dirty="0">
                <a:latin typeface="Times New Roman"/>
              </a:rPr>
              <a:t>Existing research and software tools focus primarily on offline classification accuracy. However, there is a clear operational gap between detecting suspicious consumption and managing the subsequent inspection process. An isolated risk prediction does not schedule field visits, assign officers, or record physical inspection findings.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03 | PAST WORK IN THIS AREA</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Research Gaps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5 of 35</a:t>
            </a:r>
          </a:p>
        </p:txBody>
      </p:sp>
      <p:sp>
        <p:nvSpPr>
          <p:cNvPr id="8" name="TextBox 7"/>
          <p:cNvSpPr txBox="1"/>
          <p:nvPr/>
        </p:nvSpPr>
        <p:spPr>
          <a:xfrm>
            <a:off x="822960" y="1645920"/>
            <a:ext cx="10545775" cy="4027834"/>
          </a:xfrm>
          <a:prstGeom prst="rect">
            <a:avLst/>
          </a:prstGeom>
          <a:noFill/>
        </p:spPr>
        <p:txBody>
          <a:bodyPr wrap="square">
            <a:spAutoFit/>
          </a:bodyPr>
          <a:lstStyle/>
          <a:p>
            <a:pPr>
              <a:spcAft>
                <a:spcPts val="500"/>
              </a:spcAft>
              <a:defRPr sz="2100" b="1">
                <a:solidFill>
                  <a:srgbClr val="22D3EE"/>
                </a:solidFill>
                <a:latin typeface="Times New Roman"/>
              </a:defRPr>
            </a:pPr>
            <a:r>
              <a:rPr dirty="0">
                <a:latin typeface="Times New Roman"/>
              </a:rPr>
              <a:t>Gap 1 — Growing Use of Smart Meters in India</a:t>
            </a:r>
          </a:p>
          <a:p>
            <a:pPr>
              <a:lnSpc>
                <a:spcPct val="132000"/>
              </a:lnSpc>
              <a:spcAft>
                <a:spcPts val="1800"/>
              </a:spcAft>
              <a:defRPr sz="1650">
                <a:solidFill>
                  <a:srgbClr val="F0F2F5"/>
                </a:solidFill>
                <a:latin typeface="Times New Roman"/>
              </a:defRPr>
            </a:pPr>
            <a:r>
              <a:rPr dirty="0">
                <a:latin typeface="Times New Roman"/>
              </a:rPr>
              <a:t>Smart meters provide detailed consumption data, creating an opportunity to use daily electricity usage patterns to help identify possible theft. As smart metering expands, utilities need practical tools to make use of this data.</a:t>
            </a:r>
          </a:p>
          <a:p>
            <a:pPr>
              <a:spcAft>
                <a:spcPts val="500"/>
              </a:spcAft>
              <a:defRPr sz="2100" b="1">
                <a:solidFill>
                  <a:srgbClr val="22D3EE"/>
                </a:solidFill>
                <a:latin typeface="Times New Roman"/>
              </a:defRPr>
            </a:pPr>
            <a:r>
              <a:rPr dirty="0">
                <a:latin typeface="Times New Roman"/>
              </a:rPr>
              <a:t>Gap 2 — Disorganized Inspection Workflows</a:t>
            </a:r>
          </a:p>
          <a:p>
            <a:pPr>
              <a:lnSpc>
                <a:spcPct val="132000"/>
              </a:lnSpc>
              <a:spcAft>
                <a:spcPts val="1800"/>
              </a:spcAft>
              <a:defRPr sz="1650">
                <a:solidFill>
                  <a:srgbClr val="F0F2F5"/>
                </a:solidFill>
                <a:latin typeface="Times New Roman"/>
              </a:defRPr>
            </a:pPr>
            <a:r>
              <a:rPr dirty="0">
                <a:latin typeface="Times New Roman"/>
              </a:rPr>
              <a:t>Electricity distribution companies need a more organized way to review suspicious cases, assign inspection staff, schedule visits and record inspection results. Manual scheduling and unprioritized audits lead to inefficient field operations.</a:t>
            </a:r>
          </a:p>
          <a:p>
            <a:pPr>
              <a:spcAft>
                <a:spcPts val="500"/>
              </a:spcAft>
              <a:defRPr sz="2100" b="1">
                <a:solidFill>
                  <a:srgbClr val="22D3EE"/>
                </a:solidFill>
                <a:latin typeface="Times New Roman"/>
              </a:defRPr>
            </a:pPr>
            <a:r>
              <a:rPr dirty="0">
                <a:latin typeface="Times New Roman"/>
              </a:rPr>
              <a:t>Gap 3 — No Single Connected Workflow </a:t>
            </a:r>
            <a:r>
              <a:rPr lang="en-US" dirty="0">
                <a:latin typeface="Times New Roman"/>
              </a:rPr>
              <a:t>and Closed-Loop </a:t>
            </a:r>
            <a:r>
              <a:rPr dirty="0">
                <a:latin typeface="Times New Roman"/>
              </a:rPr>
              <a:t>in Existing Systems</a:t>
            </a:r>
          </a:p>
          <a:p>
            <a:pPr>
              <a:lnSpc>
                <a:spcPct val="132000"/>
              </a:lnSpc>
              <a:spcAft>
                <a:spcPts val="1800"/>
              </a:spcAft>
              <a:defRPr sz="1650">
                <a:solidFill>
                  <a:srgbClr val="F0F2F5"/>
                </a:solidFill>
                <a:latin typeface="Times New Roman"/>
              </a:defRPr>
            </a:pPr>
            <a:r>
              <a:rPr dirty="0">
                <a:latin typeface="Times New Roman"/>
              </a:rPr>
              <a:t>The project aims to bring smart-meter-based risk detection and inspection management together, with consumer services and board communication in the same platform. Existing tools rarely connect model predictions with verified field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04 | METHODOLOGY</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Software Engineering Process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6 of 35</a:t>
            </a:r>
          </a:p>
        </p:txBody>
      </p:sp>
      <p:sp>
        <p:nvSpPr>
          <p:cNvPr id="8" name="TextBox 7"/>
          <p:cNvSpPr txBox="1"/>
          <p:nvPr/>
        </p:nvSpPr>
        <p:spPr>
          <a:xfrm>
            <a:off x="822960" y="1600200"/>
            <a:ext cx="10545775" cy="3760645"/>
          </a:xfrm>
          <a:prstGeom prst="rect">
            <a:avLst/>
          </a:prstGeom>
          <a:noFill/>
        </p:spPr>
        <p:txBody>
          <a:bodyPr wrap="square">
            <a:spAutoFit/>
          </a:bodyPr>
          <a:lstStyle/>
          <a:p>
            <a:pPr marL="457200" indent="-457200">
              <a:lnSpc>
                <a:spcPct val="130000"/>
              </a:lnSpc>
              <a:spcAft>
                <a:spcPts val="1200"/>
              </a:spcAft>
              <a:buFont typeface="+mj-lt"/>
              <a:buAutoNum type="arabicPeriod"/>
              <a:defRPr sz="2100" b="1">
                <a:solidFill>
                  <a:srgbClr val="22D3EE"/>
                </a:solidFill>
                <a:latin typeface="Times New Roman"/>
              </a:defRPr>
            </a:pPr>
            <a:r>
              <a:rPr dirty="0">
                <a:latin typeface="Times New Roman"/>
              </a:rPr>
              <a:t>Requirements Analysis:  </a:t>
            </a:r>
            <a:r>
              <a:rPr b="0" dirty="0">
                <a:solidFill>
                  <a:srgbClr val="F0F2F5"/>
                </a:solidFill>
                <a:latin typeface="Times New Roman"/>
              </a:rPr>
              <a:t>Identify the users, their needs and the system requirements.</a:t>
            </a:r>
          </a:p>
          <a:p>
            <a:pPr marL="457200" indent="-457200">
              <a:lnSpc>
                <a:spcPct val="130000"/>
              </a:lnSpc>
              <a:spcAft>
                <a:spcPts val="1200"/>
              </a:spcAft>
              <a:buFont typeface="+mj-lt"/>
              <a:buAutoNum type="arabicPeriod"/>
              <a:defRPr sz="2100" b="1">
                <a:solidFill>
                  <a:srgbClr val="22D3EE"/>
                </a:solidFill>
                <a:latin typeface="Times New Roman"/>
              </a:defRPr>
            </a:pPr>
            <a:r>
              <a:rPr dirty="0">
                <a:latin typeface="Times New Roman"/>
              </a:rPr>
              <a:t>System Design:  </a:t>
            </a:r>
            <a:r>
              <a:rPr b="0" dirty="0">
                <a:solidFill>
                  <a:srgbClr val="F0F2F5"/>
                </a:solidFill>
                <a:latin typeface="Times New Roman"/>
              </a:rPr>
              <a:t>Plan the architecture, database, user roles and workflows.</a:t>
            </a:r>
          </a:p>
          <a:p>
            <a:pPr marL="457200" indent="-457200">
              <a:lnSpc>
                <a:spcPct val="130000"/>
              </a:lnSpc>
              <a:spcAft>
                <a:spcPts val="1200"/>
              </a:spcAft>
              <a:buFont typeface="+mj-lt"/>
              <a:buAutoNum type="arabicPeriod"/>
              <a:defRPr sz="2100" b="1">
                <a:solidFill>
                  <a:srgbClr val="22D3EE"/>
                </a:solidFill>
                <a:latin typeface="Times New Roman"/>
              </a:defRPr>
            </a:pPr>
            <a:r>
              <a:rPr dirty="0">
                <a:latin typeface="Times New Roman"/>
              </a:rPr>
              <a:t>UML Modelling:  </a:t>
            </a:r>
            <a:r>
              <a:rPr b="0" dirty="0">
                <a:solidFill>
                  <a:srgbClr val="F0F2F5"/>
                </a:solidFill>
                <a:latin typeface="Times New Roman"/>
              </a:rPr>
              <a:t>Use UML and other diagrams to represent the system before implementation.</a:t>
            </a:r>
          </a:p>
          <a:p>
            <a:pPr marL="457200" indent="-457200">
              <a:lnSpc>
                <a:spcPct val="130000"/>
              </a:lnSpc>
              <a:spcAft>
                <a:spcPts val="1200"/>
              </a:spcAft>
              <a:buFont typeface="+mj-lt"/>
              <a:buAutoNum type="arabicPeriod"/>
              <a:defRPr sz="2100" b="1">
                <a:solidFill>
                  <a:srgbClr val="22D3EE"/>
                </a:solidFill>
                <a:latin typeface="Times New Roman"/>
              </a:defRPr>
            </a:pPr>
            <a:r>
              <a:rPr dirty="0">
                <a:latin typeface="Times New Roman"/>
              </a:rPr>
              <a:t>Incremental Development:  </a:t>
            </a:r>
            <a:r>
              <a:rPr b="0" dirty="0">
                <a:solidFill>
                  <a:srgbClr val="F0F2F5"/>
                </a:solidFill>
                <a:latin typeface="Times New Roman"/>
              </a:rPr>
              <a:t>Build the system in separate modules and integrate them.</a:t>
            </a:r>
          </a:p>
          <a:p>
            <a:pPr marL="457200" indent="-457200">
              <a:lnSpc>
                <a:spcPct val="130000"/>
              </a:lnSpc>
              <a:spcAft>
                <a:spcPts val="1200"/>
              </a:spcAft>
              <a:buFont typeface="+mj-lt"/>
              <a:buAutoNum type="arabicPeriod"/>
              <a:defRPr sz="2100" b="1">
                <a:solidFill>
                  <a:srgbClr val="22D3EE"/>
                </a:solidFill>
                <a:latin typeface="Times New Roman"/>
              </a:defRPr>
            </a:pPr>
            <a:r>
              <a:rPr dirty="0">
                <a:latin typeface="Times New Roman"/>
              </a:rPr>
              <a:t>Testing:  </a:t>
            </a:r>
            <a:r>
              <a:rPr b="0" dirty="0">
                <a:solidFill>
                  <a:srgbClr val="F0F2F5"/>
                </a:solidFill>
                <a:latin typeface="Times New Roman"/>
              </a:rPr>
              <a:t>Test the APIs, access permissions and main workflows.</a:t>
            </a:r>
          </a:p>
          <a:p>
            <a:pPr marL="457200" indent="-457200">
              <a:lnSpc>
                <a:spcPct val="130000"/>
              </a:lnSpc>
              <a:spcAft>
                <a:spcPts val="1200"/>
              </a:spcAft>
              <a:buFont typeface="+mj-lt"/>
              <a:buAutoNum type="arabicPeriod"/>
              <a:defRPr sz="2100" b="1">
                <a:solidFill>
                  <a:srgbClr val="22D3EE"/>
                </a:solidFill>
                <a:latin typeface="Times New Roman"/>
              </a:defRPr>
            </a:pPr>
            <a:r>
              <a:rPr dirty="0">
                <a:latin typeface="Times New Roman"/>
              </a:rPr>
              <a:t>Final Integration:  </a:t>
            </a:r>
            <a:r>
              <a:rPr b="0" dirty="0">
                <a:solidFill>
                  <a:srgbClr val="F0F2F5"/>
                </a:solidFill>
                <a:latin typeface="Times New Roman"/>
              </a:rPr>
              <a:t>Validate the complete system across all user roles.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778"/>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04 | METHODOLOGY</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Operational ML and Inspection Flow</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7 of 35</a:t>
            </a:r>
          </a:p>
        </p:txBody>
      </p:sp>
      <p:sp>
        <p:nvSpPr>
          <p:cNvPr id="8" name="TextBox 7"/>
          <p:cNvSpPr txBox="1"/>
          <p:nvPr/>
        </p:nvSpPr>
        <p:spPr>
          <a:xfrm>
            <a:off x="822960" y="1600200"/>
            <a:ext cx="10545775" cy="3920047"/>
          </a:xfrm>
          <a:prstGeom prst="rect">
            <a:avLst/>
          </a:prstGeom>
          <a:noFill/>
        </p:spPr>
        <p:txBody>
          <a:bodyPr wrap="square">
            <a:spAutoFit/>
          </a:bodyPr>
          <a:lstStyle/>
          <a:p>
            <a:pPr>
              <a:spcAft>
                <a:spcPts val="800"/>
              </a:spcAft>
              <a:defRPr sz="2200" b="1">
                <a:solidFill>
                  <a:srgbClr val="22D3EE"/>
                </a:solidFill>
                <a:latin typeface="Times New Roman"/>
              </a:defRPr>
            </a:pPr>
            <a:r>
              <a:rPr dirty="0">
                <a:latin typeface="Times New Roman"/>
              </a:rPr>
              <a:t>End-to-End Operational Flow:</a:t>
            </a:r>
          </a:p>
          <a:p>
            <a:pPr>
              <a:lnSpc>
                <a:spcPct val="130000"/>
              </a:lnSpc>
              <a:spcAft>
                <a:spcPts val="2400"/>
              </a:spcAft>
              <a:defRPr sz="1800" b="1">
                <a:solidFill>
                  <a:srgbClr val="F0F2F5"/>
                </a:solidFill>
                <a:latin typeface="Times New Roman"/>
              </a:defRPr>
            </a:pPr>
            <a:r>
              <a:rPr dirty="0">
                <a:latin typeface="Times New Roman"/>
              </a:rPr>
              <a:t>Smart-Meter Data   →   Data Preprocessing   →   </a:t>
            </a:r>
            <a:r>
              <a:rPr dirty="0" err="1">
                <a:latin typeface="Times New Roman"/>
              </a:rPr>
              <a:t>XGBoost</a:t>
            </a:r>
            <a:r>
              <a:rPr dirty="0">
                <a:latin typeface="Times New Roman"/>
              </a:rPr>
              <a:t> Risk Prediction   →   Inspection Prioritization   →   Physical Verification</a:t>
            </a:r>
            <a:r>
              <a:rPr lang="en-US" dirty="0">
                <a:latin typeface="Times New Roman"/>
              </a:rPr>
              <a:t> (use that data for relearning making this a closed loop system)</a:t>
            </a:r>
          </a:p>
          <a:p>
            <a:pPr>
              <a:lnSpc>
                <a:spcPct val="130000"/>
              </a:lnSpc>
              <a:spcAft>
                <a:spcPts val="2400"/>
              </a:spcAft>
              <a:defRPr sz="1800" b="1">
                <a:solidFill>
                  <a:srgbClr val="F0F2F5"/>
                </a:solidFill>
                <a:latin typeface="Times New Roman"/>
              </a:defRPr>
            </a:pPr>
            <a:endParaRPr dirty="0">
              <a:latin typeface="Times New Roman"/>
            </a:endParaRPr>
          </a:p>
          <a:p>
            <a:pPr>
              <a:spcAft>
                <a:spcPts val="800"/>
              </a:spcAft>
              <a:defRPr sz="2200" b="1">
                <a:solidFill>
                  <a:srgbClr val="FBBF24"/>
                </a:solidFill>
                <a:latin typeface="Times New Roman"/>
              </a:defRPr>
            </a:pPr>
            <a:r>
              <a:rPr dirty="0">
                <a:latin typeface="Times New Roman"/>
              </a:rPr>
              <a:t>Model Evaluation Results</a:t>
            </a:r>
            <a:r>
              <a:rPr lang="en-US" dirty="0">
                <a:latin typeface="Times New Roman"/>
              </a:rPr>
              <a:t>:</a:t>
            </a:r>
            <a:endParaRPr dirty="0">
              <a:latin typeface="Times New Roman"/>
            </a:endParaRPr>
          </a:p>
          <a:p>
            <a:pPr>
              <a:lnSpc>
                <a:spcPct val="130000"/>
              </a:lnSpc>
              <a:spcAft>
                <a:spcPts val="800"/>
              </a:spcAft>
              <a:defRPr sz="1800">
                <a:solidFill>
                  <a:srgbClr val="F0F2F5"/>
                </a:solidFill>
                <a:latin typeface="Times New Roman"/>
              </a:defRPr>
            </a:pPr>
            <a:r>
              <a:rPr dirty="0">
                <a:latin typeface="Times New Roman"/>
              </a:rPr>
              <a:t>•   Champion Model: </a:t>
            </a:r>
            <a:r>
              <a:rPr dirty="0" err="1">
                <a:latin typeface="Times New Roman"/>
              </a:rPr>
              <a:t>XGBoost</a:t>
            </a:r>
            <a:r>
              <a:rPr dirty="0">
                <a:latin typeface="Times New Roman"/>
              </a:rPr>
              <a:t> Classifier</a:t>
            </a:r>
            <a:r>
              <a:rPr lang="en-US" dirty="0">
                <a:latin typeface="Times New Roman"/>
              </a:rPr>
              <a:t>.</a:t>
            </a:r>
          </a:p>
          <a:p>
            <a:pPr>
              <a:lnSpc>
                <a:spcPct val="130000"/>
              </a:lnSpc>
              <a:spcAft>
                <a:spcPts val="800"/>
              </a:spcAft>
              <a:defRPr sz="1800">
                <a:solidFill>
                  <a:srgbClr val="F0F2F5"/>
                </a:solidFill>
                <a:latin typeface="Times New Roman"/>
              </a:defRPr>
            </a:pPr>
            <a:r>
              <a:rPr dirty="0">
                <a:latin typeface="Times New Roman"/>
              </a:rPr>
              <a:t>•   Field Inspection Impact: 4.9x efficiency improvement over random manual auditing.</a:t>
            </a:r>
            <a:endParaRPr lang="en-US" dirty="0">
              <a:latin typeface="Times New Roman"/>
            </a:endParaRPr>
          </a:p>
          <a:p>
            <a:pPr marL="285750" indent="-285750">
              <a:lnSpc>
                <a:spcPct val="130000"/>
              </a:lnSpc>
              <a:spcAft>
                <a:spcPts val="800"/>
              </a:spcAft>
              <a:buFont typeface="Arial" panose="020B0604020202020204" pitchFamily="34" charset="0"/>
              <a:buChar char="•"/>
              <a:defRPr sz="1800">
                <a:solidFill>
                  <a:srgbClr val="F0F2F5"/>
                </a:solidFill>
                <a:latin typeface="Times New Roman"/>
              </a:defRPr>
            </a:pPr>
            <a:r>
              <a:rPr lang="en-IN" dirty="0">
                <a:latin typeface="Times New Roman"/>
              </a:rPr>
              <a:t>Only about 8-9% theft cases in the dataset.</a:t>
            </a:r>
            <a:endParaRPr dirty="0">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184666"/>
          </a:xfrm>
          <a:prstGeom prst="rect">
            <a:avLst/>
          </a:prstGeom>
          <a:noFill/>
        </p:spPr>
        <p:txBody>
          <a:bodyPr wrap="square" lIns="0" tIns="0" rIns="0" bIns="0">
            <a:spAutoFit/>
          </a:bodyPr>
          <a:lstStyle/>
          <a:p>
            <a:pPr>
              <a:defRPr sz="1200" b="1">
                <a:solidFill>
                  <a:srgbClr val="22D3EE"/>
                </a:solidFill>
                <a:latin typeface="Times New Roman"/>
              </a:defRPr>
            </a:pPr>
            <a:r>
              <a:rPr dirty="0">
                <a:latin typeface="Times New Roman"/>
              </a:rPr>
              <a:t>05 | NOVELTY OF </a:t>
            </a:r>
            <a:r>
              <a:rPr lang="en-US" dirty="0">
                <a:latin typeface="Times New Roman"/>
              </a:rPr>
              <a:t>MY</a:t>
            </a:r>
            <a:r>
              <a:rPr dirty="0">
                <a:latin typeface="Times New Roman"/>
              </a:rPr>
              <a:t> PROJECT</a:t>
            </a:r>
          </a:p>
        </p:txBody>
      </p:sp>
      <p:sp>
        <p:nvSpPr>
          <p:cNvPr id="4" name="TextBox 3"/>
          <p:cNvSpPr txBox="1"/>
          <p:nvPr/>
        </p:nvSpPr>
        <p:spPr>
          <a:xfrm>
            <a:off x="822960" y="658368"/>
            <a:ext cx="10545775" cy="461665"/>
          </a:xfrm>
          <a:prstGeom prst="rect">
            <a:avLst/>
          </a:prstGeom>
          <a:noFill/>
        </p:spPr>
        <p:txBody>
          <a:bodyPr wrap="square" lIns="0" tIns="0" rIns="0" bIns="0">
            <a:spAutoFit/>
          </a:bodyPr>
          <a:lstStyle/>
          <a:p>
            <a:pPr>
              <a:defRPr sz="3000" b="1">
                <a:solidFill>
                  <a:srgbClr val="F0F2F5"/>
                </a:solidFill>
                <a:latin typeface="Times New Roman"/>
              </a:defRPr>
            </a:pPr>
            <a:r>
              <a:rPr dirty="0">
                <a:latin typeface="Times New Roman"/>
              </a:rPr>
              <a:t>Novelty of</a:t>
            </a:r>
            <a:r>
              <a:rPr lang="en-US" dirty="0">
                <a:latin typeface="Times New Roman"/>
              </a:rPr>
              <a:t> My</a:t>
            </a:r>
            <a:r>
              <a:rPr dirty="0">
                <a:latin typeface="Times New Roman"/>
              </a:rPr>
              <a:t> Project</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8 of 35</a:t>
            </a:r>
          </a:p>
        </p:txBody>
      </p:sp>
      <p:sp>
        <p:nvSpPr>
          <p:cNvPr id="8" name="TextBox 7"/>
          <p:cNvSpPr txBox="1"/>
          <p:nvPr/>
        </p:nvSpPr>
        <p:spPr>
          <a:xfrm>
            <a:off x="822960" y="1600200"/>
            <a:ext cx="10545775" cy="4572000"/>
          </a:xfrm>
          <a:prstGeom prst="rect">
            <a:avLst/>
          </a:prstGeom>
          <a:noFill/>
        </p:spPr>
        <p:txBody>
          <a:bodyPr wrap="square">
            <a:spAutoFit/>
          </a:bodyPr>
          <a:lstStyle/>
          <a:p>
            <a:pPr marL="342900" indent="-342900">
              <a:lnSpc>
                <a:spcPct val="130000"/>
              </a:lnSpc>
              <a:spcAft>
                <a:spcPts val="1200"/>
              </a:spcAft>
              <a:buFont typeface="Arial" panose="020B0604020202020204" pitchFamily="34" charset="0"/>
              <a:buChar char="•"/>
              <a:defRPr sz="1900" b="1">
                <a:solidFill>
                  <a:srgbClr val="22D3EE"/>
                </a:solidFill>
                <a:latin typeface="Times New Roman"/>
              </a:defRPr>
            </a:pPr>
            <a:r>
              <a:rPr dirty="0">
                <a:latin typeface="Times New Roman"/>
              </a:rPr>
              <a:t>Identify Suspicious Consumption:  </a:t>
            </a:r>
            <a:r>
              <a:rPr b="0" dirty="0">
                <a:solidFill>
                  <a:srgbClr val="F0F2F5"/>
                </a:solidFill>
                <a:latin typeface="Times New Roman"/>
              </a:rPr>
              <a:t>Use smart-meter consumption patterns to identify possible electricity theft rather than relying solely on random manual checks.</a:t>
            </a:r>
          </a:p>
          <a:p>
            <a:pPr marL="342900" indent="-342900">
              <a:lnSpc>
                <a:spcPct val="130000"/>
              </a:lnSpc>
              <a:spcAft>
                <a:spcPts val="1200"/>
              </a:spcAft>
              <a:buFont typeface="Arial" panose="020B0604020202020204" pitchFamily="34" charset="0"/>
              <a:buChar char="•"/>
              <a:defRPr sz="1900" b="1">
                <a:solidFill>
                  <a:srgbClr val="22D3EE"/>
                </a:solidFill>
                <a:latin typeface="Times New Roman"/>
              </a:defRPr>
            </a:pPr>
            <a:r>
              <a:rPr dirty="0">
                <a:latin typeface="Times New Roman"/>
              </a:rPr>
              <a:t>Prioritize Field Inspections:  </a:t>
            </a:r>
            <a:r>
              <a:rPr b="0" dirty="0">
                <a:solidFill>
                  <a:srgbClr val="F0F2F5"/>
                </a:solidFill>
                <a:latin typeface="Times New Roman"/>
              </a:rPr>
              <a:t>Help employees prioritize cases for physical inspection, focusing limited officer capacity on high-risk consumers first.</a:t>
            </a:r>
          </a:p>
          <a:p>
            <a:pPr marL="342900" indent="-342900">
              <a:lnSpc>
                <a:spcPct val="130000"/>
              </a:lnSpc>
              <a:spcAft>
                <a:spcPts val="1200"/>
              </a:spcAft>
              <a:buFont typeface="Arial" panose="020B0604020202020204" pitchFamily="34" charset="0"/>
              <a:buChar char="•"/>
              <a:defRPr sz="1900" b="1">
                <a:solidFill>
                  <a:srgbClr val="22D3EE"/>
                </a:solidFill>
                <a:latin typeface="Times New Roman"/>
              </a:defRPr>
            </a:pPr>
            <a:r>
              <a:rPr dirty="0">
                <a:latin typeface="Times New Roman"/>
              </a:rPr>
              <a:t>Explain Predictions with SHAP:  </a:t>
            </a:r>
            <a:r>
              <a:rPr b="0" dirty="0">
                <a:solidFill>
                  <a:srgbClr val="F0F2F5"/>
                </a:solidFill>
                <a:latin typeface="Times New Roman"/>
              </a:rPr>
              <a:t>Show why a consumer was flagged using SHAP explanations, giving officers clear evidence before visiting a location.</a:t>
            </a:r>
          </a:p>
          <a:p>
            <a:pPr marL="342900" indent="-342900">
              <a:lnSpc>
                <a:spcPct val="130000"/>
              </a:lnSpc>
              <a:spcAft>
                <a:spcPts val="1200"/>
              </a:spcAft>
              <a:buFont typeface="Arial" panose="020B0604020202020204" pitchFamily="34" charset="0"/>
              <a:buChar char="•"/>
              <a:defRPr sz="1900" b="1">
                <a:solidFill>
                  <a:srgbClr val="22D3EE"/>
                </a:solidFill>
                <a:latin typeface="Times New Roman"/>
              </a:defRPr>
            </a:pPr>
            <a:r>
              <a:rPr dirty="0">
                <a:latin typeface="Times New Roman"/>
              </a:rPr>
              <a:t>Manage the Complete Inspection Workflow:  </a:t>
            </a:r>
            <a:r>
              <a:rPr b="0" dirty="0">
                <a:solidFill>
                  <a:srgbClr val="F0F2F5"/>
                </a:solidFill>
                <a:latin typeface="Times New Roman"/>
              </a:rPr>
              <a:t>Manage case review, officer assignment, visit scheduling, map views and recorded inspection outcomes in one system.</a:t>
            </a:r>
          </a:p>
          <a:p>
            <a:pPr marL="342900" indent="-342900">
              <a:lnSpc>
                <a:spcPct val="130000"/>
              </a:lnSpc>
              <a:spcAft>
                <a:spcPts val="1200"/>
              </a:spcAft>
              <a:buFont typeface="Arial" panose="020B0604020202020204" pitchFamily="34" charset="0"/>
              <a:buChar char="•"/>
              <a:defRPr sz="1900" b="1">
                <a:solidFill>
                  <a:srgbClr val="22D3EE"/>
                </a:solidFill>
                <a:latin typeface="Times New Roman"/>
              </a:defRPr>
            </a:pPr>
            <a:r>
              <a:rPr dirty="0">
                <a:latin typeface="Times New Roman"/>
              </a:rPr>
              <a:t>Unified Utility Platform Vision:  </a:t>
            </a:r>
            <a:r>
              <a:rPr b="0" dirty="0">
                <a:solidFill>
                  <a:srgbClr val="F0F2F5"/>
                </a:solidFill>
                <a:latin typeface="Times New Roman"/>
              </a:rPr>
              <a:t>Bring inspection operations, consumer services (billing telemetry, dispute filing) and board communications into one planned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06 | SDLC MODEL</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SDLC Model: The Incremental Model</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9 of 35</a:t>
            </a:r>
          </a:p>
        </p:txBody>
      </p:sp>
      <p:sp>
        <p:nvSpPr>
          <p:cNvPr id="8" name="TextBox 7"/>
          <p:cNvSpPr txBox="1"/>
          <p:nvPr/>
        </p:nvSpPr>
        <p:spPr>
          <a:xfrm>
            <a:off x="822960" y="1691640"/>
            <a:ext cx="10545775" cy="3950953"/>
          </a:xfrm>
          <a:prstGeom prst="rect">
            <a:avLst/>
          </a:prstGeom>
          <a:noFill/>
        </p:spPr>
        <p:txBody>
          <a:bodyPr wrap="square">
            <a:spAutoFit/>
          </a:bodyPr>
          <a:lstStyle/>
          <a:p>
            <a:pPr>
              <a:spcAft>
                <a:spcPts val="1800"/>
              </a:spcAft>
              <a:defRPr sz="2400" b="1">
                <a:solidFill>
                  <a:srgbClr val="22D3EE"/>
                </a:solidFill>
                <a:latin typeface="Times New Roman"/>
              </a:defRPr>
            </a:pPr>
            <a:r>
              <a:rPr dirty="0">
                <a:latin typeface="Times New Roman"/>
              </a:rPr>
              <a:t>Why</a:t>
            </a:r>
            <a:r>
              <a:rPr lang="en-US" dirty="0">
                <a:latin typeface="Times New Roman"/>
              </a:rPr>
              <a:t> I</a:t>
            </a:r>
            <a:r>
              <a:rPr dirty="0">
                <a:latin typeface="Times New Roman"/>
              </a:rPr>
              <a:t> Selected the Incremental Model:</a:t>
            </a:r>
          </a:p>
          <a:p>
            <a:pPr marL="342900" indent="-342900">
              <a:lnSpc>
                <a:spcPct val="135000"/>
              </a:lnSpc>
              <a:spcAft>
                <a:spcPts val="2200"/>
              </a:spcAft>
              <a:buFont typeface="Arial" panose="020B0604020202020204" pitchFamily="34" charset="0"/>
              <a:buChar char="•"/>
              <a:defRPr sz="2200">
                <a:solidFill>
                  <a:srgbClr val="F0F2F5"/>
                </a:solidFill>
                <a:latin typeface="Times New Roman"/>
              </a:defRPr>
            </a:pPr>
            <a:r>
              <a:rPr dirty="0">
                <a:latin typeface="Times New Roman"/>
              </a:rPr>
              <a:t>The project has several separate modules: the data/ML pipeline, backend APIs, inspection portal, and consumer/board portals.</a:t>
            </a:r>
          </a:p>
          <a:p>
            <a:pPr marL="342900" indent="-342900">
              <a:lnSpc>
                <a:spcPct val="135000"/>
              </a:lnSpc>
              <a:spcAft>
                <a:spcPts val="2200"/>
              </a:spcAft>
              <a:buFont typeface="Arial" panose="020B0604020202020204" pitchFamily="34" charset="0"/>
              <a:buChar char="•"/>
              <a:defRPr sz="2200">
                <a:solidFill>
                  <a:srgbClr val="F0F2F5"/>
                </a:solidFill>
                <a:latin typeface="Times New Roman"/>
              </a:defRPr>
            </a:pPr>
            <a:r>
              <a:rPr dirty="0">
                <a:latin typeface="Times New Roman"/>
              </a:rPr>
              <a:t>Each module can be developed and tested in stages before moving to the next part of the system.</a:t>
            </a:r>
          </a:p>
          <a:p>
            <a:pPr marL="342900" indent="-342900">
              <a:lnSpc>
                <a:spcPct val="135000"/>
              </a:lnSpc>
              <a:spcAft>
                <a:spcPts val="2200"/>
              </a:spcAft>
              <a:buFont typeface="Arial" panose="020B0604020202020204" pitchFamily="34" charset="0"/>
              <a:buChar char="•"/>
              <a:defRPr sz="2200">
                <a:solidFill>
                  <a:srgbClr val="F0F2F5"/>
                </a:solidFill>
                <a:latin typeface="Times New Roman"/>
              </a:defRPr>
            </a:pPr>
            <a:r>
              <a:rPr dirty="0">
                <a:latin typeface="Times New Roman"/>
              </a:rPr>
              <a:t>New modules can be integrated into the existing system with lower risk of breaking working functionality.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dirty="0">
                <a:latin typeface="Times New Roman"/>
              </a:rPr>
              <a:t>06 | SDLC MODEL</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Incremental Development Progression</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10 of 35</a:t>
            </a:r>
          </a:p>
        </p:txBody>
      </p:sp>
      <p:sp>
        <p:nvSpPr>
          <p:cNvPr id="8" name="TextBox 7"/>
          <p:cNvSpPr txBox="1"/>
          <p:nvPr/>
        </p:nvSpPr>
        <p:spPr>
          <a:xfrm>
            <a:off x="822960" y="1645920"/>
            <a:ext cx="10545775" cy="3442930"/>
          </a:xfrm>
          <a:prstGeom prst="rect">
            <a:avLst/>
          </a:prstGeom>
          <a:noFill/>
        </p:spPr>
        <p:txBody>
          <a:bodyPr wrap="square">
            <a:spAutoFit/>
          </a:bodyPr>
          <a:lstStyle/>
          <a:p>
            <a:pPr>
              <a:spcAft>
                <a:spcPts val="300"/>
              </a:spcAft>
              <a:defRPr sz="2100" b="1">
                <a:solidFill>
                  <a:srgbClr val="34D399"/>
                </a:solidFill>
                <a:latin typeface="Times New Roman"/>
              </a:defRPr>
            </a:pPr>
            <a:r>
              <a:rPr dirty="0">
                <a:latin typeface="Times New Roman"/>
              </a:rPr>
              <a:t>•   Increment 1 — Data &amp; ML Engine  [COMPLETE]</a:t>
            </a:r>
          </a:p>
          <a:p>
            <a:pPr>
              <a:lnSpc>
                <a:spcPct val="130000"/>
              </a:lnSpc>
              <a:spcAft>
                <a:spcPts val="1400"/>
              </a:spcAft>
              <a:defRPr sz="1750">
                <a:solidFill>
                  <a:srgbClr val="F0F2F5"/>
                </a:solidFill>
                <a:latin typeface="Times New Roman"/>
              </a:defRPr>
            </a:pPr>
            <a:r>
              <a:rPr dirty="0">
                <a:latin typeface="Times New Roman"/>
              </a:rPr>
              <a:t>     Data cleaning, feature extraction, </a:t>
            </a:r>
            <a:r>
              <a:rPr dirty="0" err="1">
                <a:latin typeface="Times New Roman"/>
              </a:rPr>
              <a:t>XGBoost</a:t>
            </a:r>
            <a:r>
              <a:rPr dirty="0">
                <a:latin typeface="Times New Roman"/>
              </a:rPr>
              <a:t> champion model, and SHAP explainability.</a:t>
            </a:r>
          </a:p>
          <a:p>
            <a:pPr>
              <a:spcAft>
                <a:spcPts val="300"/>
              </a:spcAft>
              <a:defRPr sz="2100" b="1">
                <a:solidFill>
                  <a:srgbClr val="34D399"/>
                </a:solidFill>
                <a:latin typeface="Times New Roman"/>
              </a:defRPr>
            </a:pPr>
            <a:r>
              <a:rPr dirty="0">
                <a:latin typeface="Times New Roman"/>
              </a:rPr>
              <a:t>•   Increment 2 — Backend &amp; Database  [COMPLETE]</a:t>
            </a:r>
          </a:p>
          <a:p>
            <a:pPr>
              <a:lnSpc>
                <a:spcPct val="130000"/>
              </a:lnSpc>
              <a:spcAft>
                <a:spcPts val="1400"/>
              </a:spcAft>
              <a:defRPr sz="1750">
                <a:solidFill>
                  <a:srgbClr val="F0F2F5"/>
                </a:solidFill>
                <a:latin typeface="Times New Roman"/>
              </a:defRPr>
            </a:pPr>
            <a:r>
              <a:rPr dirty="0">
                <a:latin typeface="Times New Roman"/>
              </a:rPr>
              <a:t>     MySQL 8.0 schema (16 tables), </a:t>
            </a:r>
            <a:r>
              <a:rPr dirty="0" err="1">
                <a:latin typeface="Times New Roman"/>
              </a:rPr>
              <a:t>FastAPI</a:t>
            </a:r>
            <a:r>
              <a:rPr dirty="0">
                <a:latin typeface="Times New Roman"/>
              </a:rPr>
              <a:t> REST APIs, JWT authentication, and RBAC.</a:t>
            </a:r>
          </a:p>
          <a:p>
            <a:pPr>
              <a:spcAft>
                <a:spcPts val="300"/>
              </a:spcAft>
              <a:defRPr sz="2100" b="1">
                <a:solidFill>
                  <a:srgbClr val="34D399"/>
                </a:solidFill>
                <a:latin typeface="Times New Roman"/>
              </a:defRPr>
            </a:pPr>
            <a:r>
              <a:rPr dirty="0">
                <a:latin typeface="Times New Roman"/>
              </a:rPr>
              <a:t>•   Increment 3 — Inspection Portal  [COMPLETE]</a:t>
            </a:r>
          </a:p>
          <a:p>
            <a:pPr>
              <a:lnSpc>
                <a:spcPct val="130000"/>
              </a:lnSpc>
              <a:spcAft>
                <a:spcPts val="1400"/>
              </a:spcAft>
              <a:defRPr sz="1750">
                <a:solidFill>
                  <a:srgbClr val="F0F2F5"/>
                </a:solidFill>
                <a:latin typeface="Times New Roman"/>
              </a:defRPr>
            </a:pPr>
            <a:r>
              <a:rPr dirty="0">
                <a:latin typeface="Times New Roman"/>
              </a:rPr>
              <a:t>     Employee dashboard, priority queue, case details, map, and outcome recording modal.</a:t>
            </a:r>
          </a:p>
          <a:p>
            <a:pPr>
              <a:spcAft>
                <a:spcPts val="300"/>
              </a:spcAft>
              <a:defRPr sz="2100" b="1">
                <a:solidFill>
                  <a:srgbClr val="FBBF24"/>
                </a:solidFill>
                <a:latin typeface="Times New Roman"/>
              </a:defRPr>
            </a:pPr>
            <a:r>
              <a:rPr dirty="0">
                <a:solidFill>
                  <a:srgbClr val="34D399"/>
                </a:solidFill>
                <a:latin typeface="Times New Roman"/>
              </a:rPr>
              <a:t>•   Increment 4 — Consumer &amp; Board Portals  </a:t>
            </a:r>
            <a:r>
              <a:rPr lang="en-IN" dirty="0">
                <a:solidFill>
                  <a:srgbClr val="34D399"/>
                </a:solidFill>
                <a:latin typeface="Times New Roman"/>
              </a:rPr>
              <a:t>[COMPLETE</a:t>
            </a:r>
            <a:r>
              <a:rPr dirty="0">
                <a:solidFill>
                  <a:srgbClr val="34D399"/>
                </a:solidFill>
                <a:latin typeface="Times New Roman"/>
              </a:rPr>
              <a:t>]</a:t>
            </a:r>
          </a:p>
          <a:p>
            <a:pPr>
              <a:lnSpc>
                <a:spcPct val="130000"/>
              </a:lnSpc>
              <a:spcAft>
                <a:spcPts val="1400"/>
              </a:spcAft>
              <a:defRPr sz="1750">
                <a:solidFill>
                  <a:srgbClr val="F0F2F5"/>
                </a:solidFill>
                <a:latin typeface="Times New Roman"/>
              </a:defRPr>
            </a:pPr>
            <a:r>
              <a:rPr dirty="0">
                <a:latin typeface="Times New Roman"/>
              </a:rPr>
              <a:t>     Consumer usage telemetry, bill dispute filing, and board communications.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07 | PROJECT PHASES</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Development Process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11 of 35</a:t>
            </a:r>
          </a:p>
        </p:txBody>
      </p:sp>
      <p:sp>
        <p:nvSpPr>
          <p:cNvPr id="8" name="TextBox 7"/>
          <p:cNvSpPr txBox="1"/>
          <p:nvPr/>
        </p:nvSpPr>
        <p:spPr>
          <a:xfrm>
            <a:off x="822960" y="1600200"/>
            <a:ext cx="10545775" cy="4572000"/>
          </a:xfrm>
          <a:prstGeom prst="rect">
            <a:avLst/>
          </a:prstGeom>
          <a:noFill/>
        </p:spPr>
        <p:txBody>
          <a:bodyPr wrap="square">
            <a:spAutoFit/>
          </a:bodyPr>
          <a:lstStyle/>
          <a:p>
            <a:pPr>
              <a:spcAft>
                <a:spcPts val="400"/>
              </a:spcAft>
              <a:defRPr sz="2100" b="1">
                <a:solidFill>
                  <a:srgbClr val="22D3EE"/>
                </a:solidFill>
                <a:latin typeface="Times New Roman"/>
              </a:defRPr>
            </a:pPr>
            <a:r>
              <a:rPr>
                <a:latin typeface="Times New Roman"/>
              </a:rPr>
              <a:t>1. Requirements Analysis</a:t>
            </a:r>
          </a:p>
          <a:p>
            <a:pPr>
              <a:lnSpc>
                <a:spcPct val="130000"/>
              </a:lnSpc>
              <a:spcAft>
                <a:spcPts val="300"/>
              </a:spcAft>
              <a:defRPr sz="1700">
                <a:solidFill>
                  <a:srgbClr val="F0F2F5"/>
                </a:solidFill>
                <a:latin typeface="Times New Roman"/>
              </a:defRPr>
            </a:pPr>
            <a:r>
              <a:rPr>
                <a:latin typeface="Times New Roman"/>
              </a:rPr>
              <a:t>    •   Requirements were identified for consumers, employees and board communication staff.</a:t>
            </a:r>
          </a:p>
          <a:p>
            <a:pPr>
              <a:lnSpc>
                <a:spcPct val="130000"/>
              </a:lnSpc>
              <a:spcAft>
                <a:spcPts val="1200"/>
              </a:spcAft>
              <a:defRPr sz="1700">
                <a:solidFill>
                  <a:srgbClr val="F0F2F5"/>
                </a:solidFill>
                <a:latin typeface="Times New Roman"/>
              </a:defRPr>
            </a:pPr>
            <a:r>
              <a:rPr>
                <a:latin typeface="Times New Roman"/>
              </a:rPr>
              <a:t>    •   A detailed Software Requirements Specification (SRS) was prepared and submitted earlier.</a:t>
            </a:r>
          </a:p>
          <a:p>
            <a:pPr>
              <a:spcAft>
                <a:spcPts val="400"/>
              </a:spcAft>
              <a:defRPr sz="2100" b="1">
                <a:solidFill>
                  <a:srgbClr val="22D3EE"/>
                </a:solidFill>
                <a:latin typeface="Times New Roman"/>
              </a:defRPr>
            </a:pPr>
            <a:r>
              <a:rPr>
                <a:latin typeface="Times New Roman"/>
              </a:rPr>
              <a:t>2. System Design</a:t>
            </a:r>
          </a:p>
          <a:p>
            <a:pPr>
              <a:lnSpc>
                <a:spcPct val="130000"/>
              </a:lnSpc>
              <a:spcAft>
                <a:spcPts val="300"/>
              </a:spcAft>
              <a:defRPr sz="1700">
                <a:solidFill>
                  <a:srgbClr val="F0F2F5"/>
                </a:solidFill>
                <a:latin typeface="Times New Roman"/>
              </a:defRPr>
            </a:pPr>
            <a:r>
              <a:rPr>
                <a:latin typeface="Times New Roman"/>
              </a:rPr>
              <a:t>    •   UML diagrams were used to plan the system, its interactions and component boundaries.</a:t>
            </a:r>
          </a:p>
          <a:p>
            <a:pPr>
              <a:lnSpc>
                <a:spcPct val="130000"/>
              </a:lnSpc>
              <a:spcAft>
                <a:spcPts val="1200"/>
              </a:spcAft>
              <a:defRPr sz="1700">
                <a:solidFill>
                  <a:srgbClr val="F0F2F5"/>
                </a:solidFill>
                <a:latin typeface="Times New Roman"/>
              </a:defRPr>
            </a:pPr>
            <a:r>
              <a:rPr>
                <a:latin typeface="Times New Roman"/>
              </a:rPr>
              <a:t>    •   Database structure and relationships were designed using a normalized MySQL schema (16 tables).</a:t>
            </a:r>
          </a:p>
          <a:p>
            <a:pPr>
              <a:spcAft>
                <a:spcPts val="400"/>
              </a:spcAft>
              <a:defRPr sz="2100" b="1">
                <a:solidFill>
                  <a:srgbClr val="22D3EE"/>
                </a:solidFill>
                <a:latin typeface="Times New Roman"/>
              </a:defRPr>
            </a:pPr>
            <a:r>
              <a:rPr>
                <a:latin typeface="Times New Roman"/>
              </a:rPr>
              <a:t>3. Implementation</a:t>
            </a:r>
          </a:p>
          <a:p>
            <a:pPr>
              <a:lnSpc>
                <a:spcPct val="130000"/>
              </a:lnSpc>
              <a:spcAft>
                <a:spcPts val="300"/>
              </a:spcAft>
              <a:defRPr sz="1700">
                <a:solidFill>
                  <a:srgbClr val="F0F2F5"/>
                </a:solidFill>
                <a:latin typeface="Times New Roman"/>
              </a:defRPr>
            </a:pPr>
            <a:r>
              <a:rPr>
                <a:latin typeface="Times New Roman"/>
              </a:rPr>
              <a:t>    •   The project was divided into eight working phases to manage complexity.</a:t>
            </a:r>
          </a:p>
          <a:p>
            <a:pPr>
              <a:lnSpc>
                <a:spcPct val="130000"/>
              </a:lnSpc>
              <a:spcAft>
                <a:spcPts val="1200"/>
              </a:spcAft>
              <a:defRPr sz="1700">
                <a:solidFill>
                  <a:srgbClr val="F0F2F5"/>
                </a:solidFill>
                <a:latin typeface="Times New Roman"/>
              </a:defRPr>
            </a:pPr>
            <a:r>
              <a:rPr>
                <a:latin typeface="Times New Roman"/>
              </a:rPr>
              <a:t>    •   Each phase covers a distinct part of the system and builds on earlier deliverables.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07 | PROJECT PHASES</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Phases 1 to 4: Completed Deliverables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12 of 35</a:t>
            </a:r>
          </a:p>
        </p:txBody>
      </p:sp>
      <p:sp>
        <p:nvSpPr>
          <p:cNvPr id="8" name="TextBox 7"/>
          <p:cNvSpPr txBox="1"/>
          <p:nvPr/>
        </p:nvSpPr>
        <p:spPr>
          <a:xfrm>
            <a:off x="822960" y="1645920"/>
            <a:ext cx="10545775" cy="4480560"/>
          </a:xfrm>
          <a:prstGeom prst="rect">
            <a:avLst/>
          </a:prstGeom>
          <a:noFill/>
        </p:spPr>
        <p:txBody>
          <a:bodyPr wrap="square">
            <a:spAutoFit/>
          </a:bodyPr>
          <a:lstStyle/>
          <a:p>
            <a:pPr>
              <a:spcAft>
                <a:spcPts val="300"/>
              </a:spcAft>
              <a:defRPr sz="2100" b="1">
                <a:solidFill>
                  <a:srgbClr val="34D399"/>
                </a:solidFill>
                <a:latin typeface="Times New Roman"/>
              </a:defRPr>
            </a:pPr>
            <a:r>
              <a:rPr>
                <a:latin typeface="Times New Roman"/>
              </a:rPr>
              <a:t>•   Phase 1 — Requirements and Data Audit [Complete]</a:t>
            </a:r>
          </a:p>
          <a:p>
            <a:pPr>
              <a:lnSpc>
                <a:spcPct val="130000"/>
              </a:lnSpc>
              <a:spcAft>
                <a:spcPts val="1400"/>
              </a:spcAft>
              <a:defRPr sz="1750">
                <a:solidFill>
                  <a:srgbClr val="F0F2F5"/>
                </a:solidFill>
                <a:latin typeface="Times New Roman"/>
              </a:defRPr>
            </a:pPr>
            <a:r>
              <a:rPr>
                <a:latin typeface="Times New Roman"/>
              </a:rPr>
              <a:t>     Identify system requirements; inspect the dataset and plan preprocessing.</a:t>
            </a:r>
          </a:p>
          <a:p>
            <a:pPr>
              <a:spcAft>
                <a:spcPts val="300"/>
              </a:spcAft>
              <a:defRPr sz="2100" b="1">
                <a:solidFill>
                  <a:srgbClr val="34D399"/>
                </a:solidFill>
                <a:latin typeface="Times New Roman"/>
              </a:defRPr>
            </a:pPr>
            <a:r>
              <a:rPr>
                <a:latin typeface="Times New Roman"/>
              </a:rPr>
              <a:t>•   Phase 2 — Data and ML Engine [Complete]</a:t>
            </a:r>
          </a:p>
          <a:p>
            <a:pPr>
              <a:lnSpc>
                <a:spcPct val="130000"/>
              </a:lnSpc>
              <a:spcAft>
                <a:spcPts val="1400"/>
              </a:spcAft>
              <a:defRPr sz="1750">
                <a:solidFill>
                  <a:srgbClr val="F0F2F5"/>
                </a:solidFill>
                <a:latin typeface="Times New Roman"/>
              </a:defRPr>
            </a:pPr>
            <a:r>
              <a:rPr>
                <a:latin typeface="Times New Roman"/>
              </a:rPr>
              <a:t>     Clean and prepare the data; build consumption features and train/evaluate the model.</a:t>
            </a:r>
          </a:p>
          <a:p>
            <a:pPr>
              <a:spcAft>
                <a:spcPts val="300"/>
              </a:spcAft>
              <a:defRPr sz="2100" b="1">
                <a:solidFill>
                  <a:srgbClr val="34D399"/>
                </a:solidFill>
                <a:latin typeface="Times New Roman"/>
              </a:defRPr>
            </a:pPr>
            <a:r>
              <a:rPr>
                <a:latin typeface="Times New Roman"/>
              </a:rPr>
              <a:t>•   Phase 3 — Backend and Database [Complete]</a:t>
            </a:r>
          </a:p>
          <a:p>
            <a:pPr>
              <a:lnSpc>
                <a:spcPct val="130000"/>
              </a:lnSpc>
              <a:spcAft>
                <a:spcPts val="1400"/>
              </a:spcAft>
              <a:defRPr sz="1750">
                <a:solidFill>
                  <a:srgbClr val="F0F2F5"/>
                </a:solidFill>
                <a:latin typeface="Times New Roman"/>
              </a:defRPr>
            </a:pPr>
            <a:r>
              <a:rPr>
                <a:latin typeface="Times New Roman"/>
              </a:rPr>
              <a:t>     Create the database (16 tables) and backend APIs; implement authentication and RBAC.</a:t>
            </a:r>
          </a:p>
          <a:p>
            <a:pPr>
              <a:spcAft>
                <a:spcPts val="300"/>
              </a:spcAft>
              <a:defRPr sz="2100" b="1">
                <a:solidFill>
                  <a:srgbClr val="34D399"/>
                </a:solidFill>
                <a:latin typeface="Times New Roman"/>
              </a:defRPr>
            </a:pPr>
            <a:r>
              <a:rPr>
                <a:latin typeface="Times New Roman"/>
              </a:rPr>
              <a:t>•   Phase 4 — Inspection Portal [Complete]</a:t>
            </a:r>
          </a:p>
          <a:p>
            <a:pPr>
              <a:lnSpc>
                <a:spcPct val="130000"/>
              </a:lnSpc>
              <a:spcAft>
                <a:spcPts val="1400"/>
              </a:spcAft>
              <a:defRPr sz="1750">
                <a:solidFill>
                  <a:srgbClr val="F0F2F5"/>
                </a:solidFill>
                <a:latin typeface="Times New Roman"/>
              </a:defRPr>
            </a:pPr>
            <a:r>
              <a:rPr>
                <a:latin typeface="Times New Roman"/>
              </a:rPr>
              <a:t>     Build the employee dashboard, inspection queue, SHAP details, map, outcomes and reports.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389"/>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07 | PROJECT PHASES</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Phases 5 to 8: Underway &amp; Pending Deliverables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13 of 35</a:t>
            </a:r>
          </a:p>
        </p:txBody>
      </p:sp>
      <p:sp>
        <p:nvSpPr>
          <p:cNvPr id="8" name="TextBox 7"/>
          <p:cNvSpPr txBox="1"/>
          <p:nvPr/>
        </p:nvSpPr>
        <p:spPr>
          <a:xfrm>
            <a:off x="822960" y="1645920"/>
            <a:ext cx="10545775" cy="3442930"/>
          </a:xfrm>
          <a:prstGeom prst="rect">
            <a:avLst/>
          </a:prstGeom>
          <a:noFill/>
        </p:spPr>
        <p:txBody>
          <a:bodyPr wrap="square">
            <a:spAutoFit/>
          </a:bodyPr>
          <a:lstStyle/>
          <a:p>
            <a:pPr>
              <a:spcAft>
                <a:spcPts val="300"/>
              </a:spcAft>
              <a:defRPr sz="2100" b="1">
                <a:solidFill>
                  <a:srgbClr val="FBBF24"/>
                </a:solidFill>
                <a:latin typeface="Times New Roman"/>
              </a:defRPr>
            </a:pPr>
            <a:r>
              <a:rPr dirty="0">
                <a:solidFill>
                  <a:srgbClr val="34D399"/>
                </a:solidFill>
                <a:latin typeface="Times New Roman"/>
              </a:rPr>
              <a:t>•   Phase 5 — Consumer and Board Portals [</a:t>
            </a:r>
            <a:r>
              <a:rPr lang="en-US" dirty="0">
                <a:solidFill>
                  <a:srgbClr val="34D399"/>
                </a:solidFill>
                <a:latin typeface="Times New Roman"/>
              </a:rPr>
              <a:t>Complete</a:t>
            </a:r>
            <a:r>
              <a:rPr dirty="0">
                <a:solidFill>
                  <a:srgbClr val="34D399"/>
                </a:solidFill>
                <a:latin typeface="Times New Roman"/>
              </a:rPr>
              <a:t>]</a:t>
            </a:r>
          </a:p>
          <a:p>
            <a:pPr>
              <a:lnSpc>
                <a:spcPct val="130000"/>
              </a:lnSpc>
              <a:spcAft>
                <a:spcPts val="1400"/>
              </a:spcAft>
              <a:defRPr sz="1750">
                <a:solidFill>
                  <a:srgbClr val="F0F2F5"/>
                </a:solidFill>
                <a:latin typeface="Times New Roman"/>
              </a:defRPr>
            </a:pPr>
            <a:r>
              <a:rPr dirty="0">
                <a:latin typeface="Times New Roman"/>
              </a:rPr>
              <a:t>     Build Consumer Portal and Board Communication Portal; connect workflows to backend.</a:t>
            </a:r>
          </a:p>
          <a:p>
            <a:pPr>
              <a:spcAft>
                <a:spcPts val="300"/>
              </a:spcAft>
              <a:defRPr sz="2100" b="1">
                <a:solidFill>
                  <a:srgbClr val="A0A8B4"/>
                </a:solidFill>
                <a:latin typeface="Times New Roman"/>
              </a:defRPr>
            </a:pPr>
            <a:r>
              <a:rPr dirty="0">
                <a:solidFill>
                  <a:srgbClr val="FFC000"/>
                </a:solidFill>
                <a:latin typeface="Times New Roman"/>
              </a:rPr>
              <a:t>•   Phase 6 — Feedback and Model Lifecycle [</a:t>
            </a:r>
            <a:r>
              <a:rPr lang="en-US" dirty="0">
                <a:solidFill>
                  <a:srgbClr val="FFC000"/>
                </a:solidFill>
                <a:latin typeface="Times New Roman"/>
              </a:rPr>
              <a:t>Underway</a:t>
            </a:r>
            <a:r>
              <a:rPr dirty="0">
                <a:solidFill>
                  <a:srgbClr val="FFC000"/>
                </a:solidFill>
                <a:latin typeface="Times New Roman"/>
              </a:rPr>
              <a:t>]</a:t>
            </a:r>
          </a:p>
          <a:p>
            <a:pPr>
              <a:lnSpc>
                <a:spcPct val="130000"/>
              </a:lnSpc>
              <a:spcAft>
                <a:spcPts val="1400"/>
              </a:spcAft>
              <a:defRPr sz="1750">
                <a:solidFill>
                  <a:srgbClr val="F0F2F5"/>
                </a:solidFill>
                <a:latin typeface="Times New Roman"/>
              </a:defRPr>
            </a:pPr>
            <a:r>
              <a:rPr dirty="0">
                <a:latin typeface="Times New Roman"/>
              </a:rPr>
              <a:t>     Extend the use of verified inspection results; improve future model evaluation.</a:t>
            </a:r>
          </a:p>
          <a:p>
            <a:pPr>
              <a:spcAft>
                <a:spcPts val="300"/>
              </a:spcAft>
              <a:defRPr sz="2100" b="1">
                <a:solidFill>
                  <a:srgbClr val="A0A8B4"/>
                </a:solidFill>
                <a:latin typeface="Times New Roman"/>
              </a:defRPr>
            </a:pPr>
            <a:r>
              <a:rPr dirty="0">
                <a:latin typeface="Times New Roman"/>
              </a:rPr>
              <a:t>•   Phase 7 — Security and Documentation [Pending]</a:t>
            </a:r>
          </a:p>
          <a:p>
            <a:pPr>
              <a:lnSpc>
                <a:spcPct val="130000"/>
              </a:lnSpc>
              <a:spcAft>
                <a:spcPts val="1400"/>
              </a:spcAft>
              <a:defRPr sz="1750">
                <a:solidFill>
                  <a:srgbClr val="F0F2F5"/>
                </a:solidFill>
                <a:latin typeface="Times New Roman"/>
              </a:defRPr>
            </a:pPr>
            <a:r>
              <a:rPr dirty="0">
                <a:latin typeface="Times New Roman"/>
              </a:rPr>
              <a:t>     Improve security and integration; complete documentation and deployment preparation.</a:t>
            </a:r>
          </a:p>
          <a:p>
            <a:pPr>
              <a:spcAft>
                <a:spcPts val="300"/>
              </a:spcAft>
              <a:defRPr sz="2100" b="1">
                <a:solidFill>
                  <a:srgbClr val="A0A8B4"/>
                </a:solidFill>
                <a:latin typeface="Times New Roman"/>
              </a:defRPr>
            </a:pPr>
            <a:r>
              <a:rPr dirty="0">
                <a:latin typeface="Times New Roman"/>
              </a:rPr>
              <a:t>•   Phase 8 — Final Testing [Pending]</a:t>
            </a:r>
          </a:p>
          <a:p>
            <a:pPr>
              <a:lnSpc>
                <a:spcPct val="130000"/>
              </a:lnSpc>
              <a:spcAft>
                <a:spcPts val="1400"/>
              </a:spcAft>
              <a:defRPr sz="1750">
                <a:solidFill>
                  <a:srgbClr val="F0F2F5"/>
                </a:solidFill>
                <a:latin typeface="Times New Roman"/>
              </a:defRPr>
            </a:pPr>
            <a:r>
              <a:rPr dirty="0">
                <a:latin typeface="Times New Roman"/>
              </a:rPr>
              <a:t>     Test all user roles and major workflows; resolve issues and validate complete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338554"/>
          </a:xfrm>
          <a:prstGeom prst="rect">
            <a:avLst/>
          </a:prstGeom>
          <a:noFill/>
        </p:spPr>
        <p:txBody>
          <a:bodyPr wrap="square" lIns="0" tIns="0" rIns="0" bIns="0">
            <a:spAutoFit/>
          </a:bodyPr>
          <a:lstStyle/>
          <a:p>
            <a:pPr>
              <a:defRPr sz="2200" b="1">
                <a:solidFill>
                  <a:srgbClr val="F0F2F5"/>
                </a:solidFill>
                <a:latin typeface="Times New Roman"/>
              </a:defRPr>
            </a:pPr>
            <a:r>
              <a:rPr lang="en-US" dirty="0">
                <a:latin typeface="Times New Roman"/>
              </a:rPr>
              <a:t>Structure of the system</a:t>
            </a:r>
            <a:endParaRPr dirty="0">
              <a:latin typeface="Times New Roman"/>
            </a:endParaRP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A6AA8C22-E314-3F93-33D2-723A7078DAE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46969" y="1516525"/>
            <a:ext cx="4897755" cy="44792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D76CF-5E0C-FFEC-15F5-ACA9EC248C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AC2DFC3-CE52-78D3-1FF4-F57BF12DD013}"/>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5029AC87-264D-1FEE-C060-E7F7ECBCB761}"/>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a:extLst>
              <a:ext uri="{FF2B5EF4-FFF2-40B4-BE49-F238E27FC236}">
                <a16:creationId xmlns:a16="http://schemas.microsoft.com/office/drawing/2014/main" id="{9EC09442-6204-99BF-1F84-8B1E84519F85}"/>
              </a:ext>
            </a:extLst>
          </p:cNvPr>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Use Case Diagram</a:t>
            </a:r>
          </a:p>
        </p:txBody>
      </p:sp>
      <p:sp>
        <p:nvSpPr>
          <p:cNvPr id="5" name="Rectangle 4">
            <a:extLst>
              <a:ext uri="{FF2B5EF4-FFF2-40B4-BE49-F238E27FC236}">
                <a16:creationId xmlns:a16="http://schemas.microsoft.com/office/drawing/2014/main" id="{35D8F8E9-72DE-A049-DBAF-266E6F0B07BE}"/>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CF90E96C-B196-5BC0-E511-68268BCB88C0}"/>
              </a:ext>
            </a:extLst>
          </p:cNvPr>
          <p:cNvPicPr>
            <a:picLocks noChangeAspect="1"/>
          </p:cNvPicPr>
          <p:nvPr/>
        </p:nvPicPr>
        <p:blipFill>
          <a:blip r:embed="rId2"/>
          <a:stretch>
            <a:fillRect/>
          </a:stretch>
        </p:blipFill>
        <p:spPr>
          <a:xfrm>
            <a:off x="3626761" y="1332738"/>
            <a:ext cx="4622358" cy="5349240"/>
          </a:xfrm>
          <a:prstGeom prst="rect">
            <a:avLst/>
          </a:prstGeom>
        </p:spPr>
      </p:pic>
    </p:spTree>
    <p:extLst>
      <p:ext uri="{BB962C8B-B14F-4D97-AF65-F5344CB8AC3E}">
        <p14:creationId xmlns:p14="http://schemas.microsoft.com/office/powerpoint/2010/main" val="1868541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Sequence Diagram</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C5939846-D99B-90C1-E74F-CDC0757D4086}"/>
              </a:ext>
            </a:extLst>
          </p:cNvPr>
          <p:cNvPicPr>
            <a:picLocks noChangeAspect="1"/>
          </p:cNvPicPr>
          <p:nvPr/>
        </p:nvPicPr>
        <p:blipFill>
          <a:blip r:embed="rId2"/>
          <a:stretch>
            <a:fillRect/>
          </a:stretch>
        </p:blipFill>
        <p:spPr>
          <a:xfrm>
            <a:off x="3603977" y="1843934"/>
            <a:ext cx="4984046" cy="348481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3CA2-0C75-AF41-1358-7EDBB0FADE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E670A2-32D2-FD12-EC0C-4B69F64A54AE}"/>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AF14A3B0-D449-2C3B-8389-175E05A9D70F}"/>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a:extLst>
              <a:ext uri="{FF2B5EF4-FFF2-40B4-BE49-F238E27FC236}">
                <a16:creationId xmlns:a16="http://schemas.microsoft.com/office/drawing/2014/main" id="{46A5D64C-C37A-7F65-C5BE-B3E27C8B4B97}"/>
              </a:ext>
            </a:extLst>
          </p:cNvPr>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Sequence Diagram</a:t>
            </a:r>
          </a:p>
        </p:txBody>
      </p:sp>
      <p:sp>
        <p:nvSpPr>
          <p:cNvPr id="5" name="Rectangle 4">
            <a:extLst>
              <a:ext uri="{FF2B5EF4-FFF2-40B4-BE49-F238E27FC236}">
                <a16:creationId xmlns:a16="http://schemas.microsoft.com/office/drawing/2014/main" id="{048AEFC8-DDDB-1814-B1C3-2E1BBB72197B}"/>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B6AF35E6-6401-66CE-C529-669F9710910C}"/>
              </a:ext>
            </a:extLst>
          </p:cNvPr>
          <p:cNvPicPr>
            <a:picLocks noChangeAspect="1"/>
          </p:cNvPicPr>
          <p:nvPr/>
        </p:nvPicPr>
        <p:blipFill>
          <a:blip r:embed="rId2"/>
          <a:stretch>
            <a:fillRect/>
          </a:stretch>
        </p:blipFill>
        <p:spPr>
          <a:xfrm>
            <a:off x="3230245" y="1610360"/>
            <a:ext cx="5731510" cy="3637280"/>
          </a:xfrm>
          <a:prstGeom prst="rect">
            <a:avLst/>
          </a:prstGeom>
        </p:spPr>
      </p:pic>
    </p:spTree>
    <p:extLst>
      <p:ext uri="{BB962C8B-B14F-4D97-AF65-F5344CB8AC3E}">
        <p14:creationId xmlns:p14="http://schemas.microsoft.com/office/powerpoint/2010/main" val="4005902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4946-3430-60ED-FC37-7D1827E807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5863CE-4C44-97F2-FD26-714B5CBB5C40}"/>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DCA07C6B-D7EF-E443-8E61-21CC36350CCE}"/>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a:extLst>
              <a:ext uri="{FF2B5EF4-FFF2-40B4-BE49-F238E27FC236}">
                <a16:creationId xmlns:a16="http://schemas.microsoft.com/office/drawing/2014/main" id="{3E044E4E-783C-2FBB-6473-2E0B48DB5B08}"/>
              </a:ext>
            </a:extLst>
          </p:cNvPr>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Sequence Diagram</a:t>
            </a:r>
          </a:p>
        </p:txBody>
      </p:sp>
      <p:sp>
        <p:nvSpPr>
          <p:cNvPr id="5" name="Rectangle 4">
            <a:extLst>
              <a:ext uri="{FF2B5EF4-FFF2-40B4-BE49-F238E27FC236}">
                <a16:creationId xmlns:a16="http://schemas.microsoft.com/office/drawing/2014/main" id="{013D01F5-0657-5CBF-FDD2-B2C3497E5FDC}"/>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3DB19D57-072A-8A9F-2CCD-EAD057051582}"/>
              </a:ext>
            </a:extLst>
          </p:cNvPr>
          <p:cNvPicPr>
            <a:picLocks noChangeAspect="1"/>
          </p:cNvPicPr>
          <p:nvPr/>
        </p:nvPicPr>
        <p:blipFill>
          <a:blip r:embed="rId2"/>
          <a:stretch>
            <a:fillRect/>
          </a:stretch>
        </p:blipFill>
        <p:spPr>
          <a:xfrm>
            <a:off x="3816985" y="1480820"/>
            <a:ext cx="4558030" cy="3896360"/>
          </a:xfrm>
          <a:prstGeom prst="rect">
            <a:avLst/>
          </a:prstGeom>
        </p:spPr>
      </p:pic>
    </p:spTree>
    <p:extLst>
      <p:ext uri="{BB962C8B-B14F-4D97-AF65-F5344CB8AC3E}">
        <p14:creationId xmlns:p14="http://schemas.microsoft.com/office/powerpoint/2010/main" val="2774153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Activity Diagram</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783386B7-26F5-E0B3-4281-64319AEF5B3B}"/>
              </a:ext>
            </a:extLst>
          </p:cNvPr>
          <p:cNvPicPr>
            <a:picLocks noChangeAspect="1"/>
          </p:cNvPicPr>
          <p:nvPr/>
        </p:nvPicPr>
        <p:blipFill>
          <a:blip r:embed="rId2" cstate="print">
            <a:extLst>
              <a:ext uri="{28A0092B-C50C-407E-A947-70E740481C1C}">
                <a14:useLocalDpi xmlns:a14="http://schemas.microsoft.com/office/drawing/2010/main" val="0"/>
              </a:ext>
            </a:extLst>
          </a:blip>
          <a:srcRect l="15307" t="19885"/>
          <a:stretch>
            <a:fillRect/>
          </a:stretch>
        </p:blipFill>
        <p:spPr bwMode="auto">
          <a:xfrm>
            <a:off x="2819803" y="1947334"/>
            <a:ext cx="6552088" cy="38557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42E47-2FBF-0B39-E2A7-2A1088776D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F309D2-35F4-B760-1BC0-2C8DEC8F58B2}"/>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64DCF304-6027-6A64-2317-8BD057B2FBFC}"/>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a:extLst>
              <a:ext uri="{FF2B5EF4-FFF2-40B4-BE49-F238E27FC236}">
                <a16:creationId xmlns:a16="http://schemas.microsoft.com/office/drawing/2014/main" id="{9FB863B9-D549-4DC5-8B80-D2AE90BA0CE1}"/>
              </a:ext>
            </a:extLst>
          </p:cNvPr>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Activity Diagram</a:t>
            </a:r>
          </a:p>
        </p:txBody>
      </p:sp>
      <p:sp>
        <p:nvSpPr>
          <p:cNvPr id="5" name="Rectangle 4">
            <a:extLst>
              <a:ext uri="{FF2B5EF4-FFF2-40B4-BE49-F238E27FC236}">
                <a16:creationId xmlns:a16="http://schemas.microsoft.com/office/drawing/2014/main" id="{2BD0D623-7DE6-4D7D-1762-EDAADD5AAFFF}"/>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EE5DCC65-5C17-388F-6530-CFA925F50B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05922" y="1499806"/>
            <a:ext cx="3780155" cy="4686740"/>
          </a:xfrm>
          <a:prstGeom prst="rect">
            <a:avLst/>
          </a:prstGeom>
          <a:noFill/>
          <a:ln>
            <a:noFill/>
          </a:ln>
        </p:spPr>
      </p:pic>
    </p:spTree>
    <p:extLst>
      <p:ext uri="{BB962C8B-B14F-4D97-AF65-F5344CB8AC3E}">
        <p14:creationId xmlns:p14="http://schemas.microsoft.com/office/powerpoint/2010/main" val="634084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Entity Relationship Diagram (ERD)</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8C6284BA-40DE-2C97-0743-07D6F59DD3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9342" y="1210046"/>
            <a:ext cx="8002613" cy="547575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Data Flow Diagram – Level 0</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06F8A2CE-C247-25BC-6043-64E7A2E7BF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7545" y="2110169"/>
            <a:ext cx="7556910" cy="32786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Data Flow Diagram – Level 1</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6" name="Picture 5">
            <a:extLst>
              <a:ext uri="{FF2B5EF4-FFF2-40B4-BE49-F238E27FC236}">
                <a16:creationId xmlns:a16="http://schemas.microsoft.com/office/drawing/2014/main" id="{40FF59CE-AD20-CE9B-E99D-76584B339AF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6087" y="1511364"/>
            <a:ext cx="7079825" cy="45509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A471C-0133-431C-A0CC-2655267AC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4E98E3E-5BFD-CDA1-9A40-6CFA01067960}"/>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C6CA05F9-A1BD-68A4-15F1-E82118C6BF3F}"/>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a:extLst>
              <a:ext uri="{FF2B5EF4-FFF2-40B4-BE49-F238E27FC236}">
                <a16:creationId xmlns:a16="http://schemas.microsoft.com/office/drawing/2014/main" id="{D6F516A2-A406-09D0-747D-C007C0DFE1F1}"/>
              </a:ext>
            </a:extLst>
          </p:cNvPr>
          <p:cNvSpPr txBox="1"/>
          <p:nvPr/>
        </p:nvSpPr>
        <p:spPr>
          <a:xfrm>
            <a:off x="822960" y="640080"/>
            <a:ext cx="10545775" cy="338554"/>
          </a:xfrm>
          <a:prstGeom prst="rect">
            <a:avLst/>
          </a:prstGeom>
          <a:noFill/>
        </p:spPr>
        <p:txBody>
          <a:bodyPr wrap="square" lIns="0" tIns="0" rIns="0" bIns="0">
            <a:spAutoFit/>
          </a:bodyPr>
          <a:lstStyle/>
          <a:p>
            <a:pPr>
              <a:defRPr sz="2200" b="1">
                <a:solidFill>
                  <a:srgbClr val="F0F2F5"/>
                </a:solidFill>
                <a:latin typeface="Times New Roman"/>
              </a:defRPr>
            </a:pPr>
            <a:r>
              <a:rPr dirty="0">
                <a:latin typeface="Times New Roman"/>
              </a:rPr>
              <a:t>Data Flow Diagram – Level </a:t>
            </a:r>
            <a:r>
              <a:rPr lang="en-US" dirty="0">
                <a:latin typeface="Times New Roman"/>
              </a:rPr>
              <a:t>2</a:t>
            </a:r>
            <a:endParaRPr dirty="0">
              <a:latin typeface="Times New Roman"/>
            </a:endParaRPr>
          </a:p>
        </p:txBody>
      </p:sp>
      <p:sp>
        <p:nvSpPr>
          <p:cNvPr id="5" name="Rectangle 4">
            <a:extLst>
              <a:ext uri="{FF2B5EF4-FFF2-40B4-BE49-F238E27FC236}">
                <a16:creationId xmlns:a16="http://schemas.microsoft.com/office/drawing/2014/main" id="{AF0AD6E0-A6AE-54F4-28FD-DD8AD76EA9DC}"/>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B1E244C8-78BD-7E57-493D-0A0BB628AA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60720" y="1252954"/>
            <a:ext cx="6870253" cy="5309109"/>
          </a:xfrm>
          <a:prstGeom prst="rect">
            <a:avLst/>
          </a:prstGeom>
          <a:noFill/>
          <a:ln>
            <a:noFill/>
          </a:ln>
        </p:spPr>
      </p:pic>
    </p:spTree>
    <p:extLst>
      <p:ext uri="{BB962C8B-B14F-4D97-AF65-F5344CB8AC3E}">
        <p14:creationId xmlns:p14="http://schemas.microsoft.com/office/powerpoint/2010/main" val="2089001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08 | CURRENT IMPLEMENTATION</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Current Implementation: Progress Overview</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22 of 35</a:t>
            </a:r>
          </a:p>
        </p:txBody>
      </p:sp>
      <p:sp>
        <p:nvSpPr>
          <p:cNvPr id="8" name="TextBox 7"/>
          <p:cNvSpPr txBox="1"/>
          <p:nvPr/>
        </p:nvSpPr>
        <p:spPr>
          <a:xfrm>
            <a:off x="822960" y="1600200"/>
            <a:ext cx="10545775" cy="3729098"/>
          </a:xfrm>
          <a:prstGeom prst="rect">
            <a:avLst/>
          </a:prstGeom>
          <a:noFill/>
        </p:spPr>
        <p:txBody>
          <a:bodyPr wrap="square">
            <a:spAutoFit/>
          </a:bodyPr>
          <a:lstStyle/>
          <a:p>
            <a:pPr>
              <a:spcAft>
                <a:spcPts val="600"/>
              </a:spcAft>
              <a:defRPr sz="2200" b="1">
                <a:solidFill>
                  <a:srgbClr val="34D399"/>
                </a:solidFill>
                <a:latin typeface="Times New Roman"/>
              </a:defRPr>
            </a:pPr>
            <a:r>
              <a:rPr dirty="0">
                <a:latin typeface="Times New Roman"/>
              </a:rPr>
              <a:t>Completed Work (Phases 1 to 4):</a:t>
            </a:r>
          </a:p>
          <a:p>
            <a:pPr marL="285750" indent="-285750">
              <a:lnSpc>
                <a:spcPct val="130000"/>
              </a:lnSpc>
              <a:spcAft>
                <a:spcPts val="500"/>
              </a:spcAft>
              <a:buFont typeface="Arial" panose="020B0604020202020204" pitchFamily="34" charset="0"/>
              <a:buChar char="•"/>
              <a:defRPr sz="1700">
                <a:solidFill>
                  <a:srgbClr val="F0F2F5"/>
                </a:solidFill>
                <a:latin typeface="Times New Roman"/>
              </a:defRPr>
            </a:pPr>
            <a:r>
              <a:rPr dirty="0">
                <a:latin typeface="Times New Roman"/>
              </a:rPr>
              <a:t>Phase 1: Requirements analysis and smart-meter dataset audit (SGCC data, 42,372 consumers).</a:t>
            </a:r>
          </a:p>
          <a:p>
            <a:pPr marL="285750" indent="-285750">
              <a:lnSpc>
                <a:spcPct val="130000"/>
              </a:lnSpc>
              <a:spcAft>
                <a:spcPts val="500"/>
              </a:spcAft>
              <a:buFont typeface="Arial" panose="020B0604020202020204" pitchFamily="34" charset="0"/>
              <a:buChar char="•"/>
              <a:defRPr sz="1700">
                <a:solidFill>
                  <a:srgbClr val="F0F2F5"/>
                </a:solidFill>
                <a:latin typeface="Times New Roman"/>
              </a:defRPr>
            </a:pPr>
            <a:r>
              <a:rPr lang="en-US" dirty="0">
                <a:latin typeface="Times New Roman"/>
              </a:rPr>
              <a:t>P</a:t>
            </a:r>
            <a:r>
              <a:rPr dirty="0">
                <a:latin typeface="Times New Roman"/>
              </a:rPr>
              <a:t>hase 2: Data preprocessing, feature engineering, </a:t>
            </a:r>
            <a:r>
              <a:rPr dirty="0" err="1">
                <a:latin typeface="Times New Roman"/>
              </a:rPr>
              <a:t>XGBoost</a:t>
            </a:r>
            <a:r>
              <a:rPr dirty="0">
                <a:latin typeface="Times New Roman"/>
              </a:rPr>
              <a:t> champion model, and SHAP explainability.</a:t>
            </a:r>
          </a:p>
          <a:p>
            <a:pPr marL="285750" indent="-285750">
              <a:lnSpc>
                <a:spcPct val="130000"/>
              </a:lnSpc>
              <a:spcAft>
                <a:spcPts val="500"/>
              </a:spcAft>
              <a:buFont typeface="Arial" panose="020B0604020202020204" pitchFamily="34" charset="0"/>
              <a:buChar char="•"/>
              <a:defRPr sz="1700">
                <a:solidFill>
                  <a:srgbClr val="F0F2F5"/>
                </a:solidFill>
                <a:latin typeface="Times New Roman"/>
              </a:defRPr>
            </a:pPr>
            <a:r>
              <a:rPr dirty="0">
                <a:latin typeface="Times New Roman"/>
              </a:rPr>
              <a:t>Phase 3: MySQL relational database (16 tables), </a:t>
            </a:r>
            <a:r>
              <a:rPr dirty="0" err="1">
                <a:latin typeface="Times New Roman"/>
              </a:rPr>
              <a:t>FastAPI</a:t>
            </a:r>
            <a:r>
              <a:rPr dirty="0">
                <a:latin typeface="Times New Roman"/>
              </a:rPr>
              <a:t> backend, JWT authentication, and role restrictions.</a:t>
            </a:r>
          </a:p>
          <a:p>
            <a:pPr marL="285750" indent="-285750">
              <a:lnSpc>
                <a:spcPct val="130000"/>
              </a:lnSpc>
              <a:spcAft>
                <a:spcPts val="500"/>
              </a:spcAft>
              <a:buFont typeface="Arial" panose="020B0604020202020204" pitchFamily="34" charset="0"/>
              <a:buChar char="•"/>
              <a:defRPr sz="1700">
                <a:solidFill>
                  <a:srgbClr val="F0F2F5"/>
                </a:solidFill>
                <a:latin typeface="Times New Roman"/>
              </a:defRPr>
            </a:pPr>
            <a:r>
              <a:rPr dirty="0">
                <a:latin typeface="Times New Roman"/>
              </a:rPr>
              <a:t>Phase 4: Inspection Intelligence Portal (Employee dashboard, queue, details, SHAP, map, assignment, outcomes, reports).</a:t>
            </a:r>
          </a:p>
          <a:p>
            <a:br>
              <a:rPr dirty="0"/>
            </a:br>
            <a:r>
              <a:rPr b="1" dirty="0">
                <a:solidFill>
                  <a:srgbClr val="28946E"/>
                </a:solidFill>
                <a:latin typeface="Times New Roman"/>
              </a:rPr>
              <a:t>Work Underway (Phase 5):</a:t>
            </a:r>
          </a:p>
          <a:p>
            <a:pPr>
              <a:lnSpc>
                <a:spcPct val="130000"/>
              </a:lnSpc>
              <a:spcAft>
                <a:spcPts val="500"/>
              </a:spcAft>
              <a:defRPr sz="1700">
                <a:solidFill>
                  <a:srgbClr val="F0F2F5"/>
                </a:solidFill>
                <a:latin typeface="Times New Roman"/>
              </a:defRPr>
            </a:pPr>
            <a:r>
              <a:rPr dirty="0">
                <a:latin typeface="Times New Roman"/>
              </a:rPr>
              <a:t>•   Phase 5: Consumer Portal and Board Communication Portal.</a:t>
            </a:r>
          </a:p>
          <a:p>
            <a:pPr>
              <a:lnSpc>
                <a:spcPct val="130000"/>
              </a:lnSpc>
              <a:spcAft>
                <a:spcPts val="500"/>
              </a:spcAft>
              <a:defRPr sz="1700">
                <a:solidFill>
                  <a:srgbClr val="F0F2F5"/>
                </a:solidFill>
                <a:latin typeface="Times New Roman"/>
              </a:defRPr>
            </a:pPr>
            <a:r>
              <a:rPr dirty="0">
                <a:latin typeface="Times New Roman"/>
              </a:rPr>
              <a:t>•   Backend models and API foundations are established; user-facing screens and workflows are in active development.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08 | CURRENT IMPLEMENTATION</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Testing and Verification Status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23 of 35</a:t>
            </a:r>
          </a:p>
        </p:txBody>
      </p:sp>
      <p:sp>
        <p:nvSpPr>
          <p:cNvPr id="8" name="TextBox 7"/>
          <p:cNvSpPr txBox="1"/>
          <p:nvPr/>
        </p:nvSpPr>
        <p:spPr>
          <a:xfrm>
            <a:off x="822960" y="1645920"/>
            <a:ext cx="10545775" cy="4716676"/>
          </a:xfrm>
          <a:prstGeom prst="rect">
            <a:avLst/>
          </a:prstGeom>
          <a:noFill/>
        </p:spPr>
        <p:txBody>
          <a:bodyPr wrap="square">
            <a:spAutoFit/>
          </a:bodyPr>
          <a:lstStyle/>
          <a:p>
            <a:pPr>
              <a:spcAft>
                <a:spcPts val="800"/>
              </a:spcAft>
              <a:defRPr sz="2200" b="1">
                <a:solidFill>
                  <a:srgbClr val="22D3EE"/>
                </a:solidFill>
                <a:latin typeface="Times New Roman"/>
              </a:defRPr>
            </a:pPr>
            <a:r>
              <a:rPr dirty="0">
                <a:latin typeface="Times New Roman"/>
              </a:rPr>
              <a:t>Automated Test Verification:</a:t>
            </a:r>
          </a:p>
          <a:p>
            <a:pPr marL="342900" indent="-342900">
              <a:lnSpc>
                <a:spcPct val="135000"/>
              </a:lnSpc>
              <a:spcAft>
                <a:spcPts val="1000"/>
              </a:spcAft>
              <a:buFont typeface="Arial" panose="020B0604020202020204" pitchFamily="34" charset="0"/>
              <a:buChar char="•"/>
              <a:defRPr sz="1900">
                <a:solidFill>
                  <a:srgbClr val="F0F2F5"/>
                </a:solidFill>
                <a:latin typeface="Times New Roman"/>
              </a:defRPr>
            </a:pPr>
            <a:r>
              <a:rPr dirty="0">
                <a:latin typeface="Times New Roman"/>
              </a:rPr>
              <a:t>All 19 automated backend integration tests pass cleanly in </a:t>
            </a:r>
            <a:r>
              <a:rPr dirty="0" err="1">
                <a:latin typeface="Times New Roman"/>
              </a:rPr>
              <a:t>pytest</a:t>
            </a:r>
            <a:r>
              <a:rPr dirty="0">
                <a:latin typeface="Times New Roman"/>
              </a:rPr>
              <a:t> against the MySQL database.</a:t>
            </a:r>
          </a:p>
          <a:p>
            <a:pPr marL="342900" indent="-342900">
              <a:lnSpc>
                <a:spcPct val="135000"/>
              </a:lnSpc>
              <a:spcAft>
                <a:spcPts val="1000"/>
              </a:spcAft>
              <a:buFont typeface="Arial" panose="020B0604020202020204" pitchFamily="34" charset="0"/>
              <a:buChar char="•"/>
              <a:defRPr sz="1900">
                <a:solidFill>
                  <a:srgbClr val="F0F2F5"/>
                </a:solidFill>
                <a:latin typeface="Times New Roman"/>
              </a:defRPr>
            </a:pPr>
            <a:r>
              <a:rPr dirty="0">
                <a:latin typeface="Times New Roman"/>
              </a:rPr>
              <a:t>Tests verify JWT authentication, role-based restrictions, inspection state transitions, and database integrity.</a:t>
            </a:r>
          </a:p>
          <a:p>
            <a:pPr marL="342900" indent="-342900">
              <a:lnSpc>
                <a:spcPct val="135000"/>
              </a:lnSpc>
              <a:spcAft>
                <a:spcPts val="1000"/>
              </a:spcAft>
              <a:buFont typeface="Arial" panose="020B0604020202020204" pitchFamily="34" charset="0"/>
              <a:buChar char="•"/>
              <a:defRPr sz="1900">
                <a:solidFill>
                  <a:srgbClr val="F0F2F5"/>
                </a:solidFill>
                <a:latin typeface="Times New Roman"/>
              </a:defRPr>
            </a:pPr>
            <a:r>
              <a:rPr dirty="0">
                <a:latin typeface="Times New Roman"/>
              </a:rPr>
              <a:t>Frontend production build succeeds with zero TypeScript errors (</a:t>
            </a:r>
            <a:r>
              <a:rPr dirty="0" err="1">
                <a:latin typeface="Times New Roman"/>
              </a:rPr>
              <a:t>tsc</a:t>
            </a:r>
            <a:r>
              <a:rPr dirty="0">
                <a:latin typeface="Times New Roman"/>
              </a:rPr>
              <a:t> -b &amp;&amp; </a:t>
            </a:r>
            <a:r>
              <a:rPr dirty="0" err="1">
                <a:latin typeface="Times New Roman"/>
              </a:rPr>
              <a:t>vite</a:t>
            </a:r>
            <a:r>
              <a:rPr dirty="0">
                <a:latin typeface="Times New Roman"/>
              </a:rPr>
              <a:t> build in 1.43s).</a:t>
            </a:r>
          </a:p>
          <a:p>
            <a:br>
              <a:rPr dirty="0"/>
            </a:br>
            <a:r>
              <a:rPr b="1" dirty="0">
                <a:solidFill>
                  <a:srgbClr val="28946E"/>
                </a:solidFill>
                <a:latin typeface="Times New Roman"/>
              </a:rPr>
              <a:t>Testing Scope &amp; Boundary Note:</a:t>
            </a:r>
          </a:p>
          <a:p>
            <a:pPr marL="342900" indent="-342900">
              <a:lnSpc>
                <a:spcPct val="135000"/>
              </a:lnSpc>
              <a:spcAft>
                <a:spcPts val="1000"/>
              </a:spcAft>
              <a:buFont typeface="Arial" panose="020B0604020202020204" pitchFamily="34" charset="0"/>
              <a:buChar char="•"/>
              <a:defRPr sz="1900">
                <a:solidFill>
                  <a:srgbClr val="F0F2F5"/>
                </a:solidFill>
                <a:latin typeface="Times New Roman"/>
              </a:defRPr>
            </a:pPr>
            <a:r>
              <a:rPr dirty="0">
                <a:latin typeface="Times New Roman"/>
              </a:rPr>
              <a:t>Browser-level automated driver execution (Playwright) encountered an external upstream CDN network limitation for driver binaries.</a:t>
            </a:r>
          </a:p>
          <a:p>
            <a:pPr marL="342900" indent="-342900">
              <a:lnSpc>
                <a:spcPct val="135000"/>
              </a:lnSpc>
              <a:spcAft>
                <a:spcPts val="1000"/>
              </a:spcAft>
              <a:buFont typeface="Arial" panose="020B0604020202020204" pitchFamily="34" charset="0"/>
              <a:buChar char="•"/>
              <a:defRPr sz="1900">
                <a:solidFill>
                  <a:srgbClr val="F0F2F5"/>
                </a:solidFill>
                <a:latin typeface="Times New Roman"/>
              </a:defRPr>
            </a:pPr>
            <a:r>
              <a:rPr dirty="0">
                <a:latin typeface="Times New Roman"/>
              </a:rPr>
              <a:t>System workflows were verified through comprehensive automated API tests and manual interface testing.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338554"/>
          </a:xfrm>
          <a:prstGeom prst="rect">
            <a:avLst/>
          </a:prstGeom>
          <a:noFill/>
        </p:spPr>
        <p:txBody>
          <a:bodyPr wrap="square" lIns="0" tIns="0" rIns="0" bIns="0">
            <a:spAutoFit/>
          </a:bodyPr>
          <a:lstStyle/>
          <a:p>
            <a:pPr>
              <a:defRPr sz="2200" b="1">
                <a:solidFill>
                  <a:srgbClr val="F0F2F5"/>
                </a:solidFill>
                <a:latin typeface="Times New Roman"/>
              </a:defRPr>
            </a:pPr>
            <a:r>
              <a:rPr lang="en-US" dirty="0">
                <a:latin typeface="Times New Roman"/>
              </a:rPr>
              <a:t>Landing Page</a:t>
            </a:r>
            <a:endParaRPr dirty="0">
              <a:latin typeface="Times New Roman"/>
            </a:endParaRP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502478D8-ABCB-6ED3-53C0-593B13D546F1}"/>
              </a:ext>
            </a:extLst>
          </p:cNvPr>
          <p:cNvPicPr>
            <a:picLocks noChangeAspect="1"/>
          </p:cNvPicPr>
          <p:nvPr/>
        </p:nvPicPr>
        <p:blipFill>
          <a:blip r:embed="rId2"/>
          <a:stretch>
            <a:fillRect/>
          </a:stretch>
        </p:blipFill>
        <p:spPr>
          <a:xfrm>
            <a:off x="1574779" y="1252954"/>
            <a:ext cx="9372854" cy="522397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82D81-5DE9-3AF7-AB82-7FADE7371B9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3FDAA3-DC29-D8FC-A2E9-9CA072586B1E}"/>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D17F5D44-BB72-95C4-A420-989540EE1DDF}"/>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a:extLst>
              <a:ext uri="{FF2B5EF4-FFF2-40B4-BE49-F238E27FC236}">
                <a16:creationId xmlns:a16="http://schemas.microsoft.com/office/drawing/2014/main" id="{33DCAAFA-FF57-624F-AE52-493A9A5913F1}"/>
              </a:ext>
            </a:extLst>
          </p:cNvPr>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Employee Dashboard</a:t>
            </a:r>
          </a:p>
        </p:txBody>
      </p:sp>
      <p:sp>
        <p:nvSpPr>
          <p:cNvPr id="5" name="Rectangle 4">
            <a:extLst>
              <a:ext uri="{FF2B5EF4-FFF2-40B4-BE49-F238E27FC236}">
                <a16:creationId xmlns:a16="http://schemas.microsoft.com/office/drawing/2014/main" id="{4DB5DE12-DC78-068B-E2C7-24E35B95BAE2}"/>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3B619624-AB41-8C13-F150-18E3B58C8F84}"/>
              </a:ext>
            </a:extLst>
          </p:cNvPr>
          <p:cNvPicPr>
            <a:picLocks noChangeAspect="1"/>
          </p:cNvPicPr>
          <p:nvPr/>
        </p:nvPicPr>
        <p:blipFill>
          <a:blip r:embed="rId2"/>
          <a:stretch>
            <a:fillRect/>
          </a:stretch>
        </p:blipFill>
        <p:spPr>
          <a:xfrm>
            <a:off x="1326064" y="1202436"/>
            <a:ext cx="9539565" cy="5326838"/>
          </a:xfrm>
          <a:prstGeom prst="rect">
            <a:avLst/>
          </a:prstGeom>
        </p:spPr>
      </p:pic>
    </p:spTree>
    <p:extLst>
      <p:ext uri="{BB962C8B-B14F-4D97-AF65-F5344CB8AC3E}">
        <p14:creationId xmlns:p14="http://schemas.microsoft.com/office/powerpoint/2010/main" val="2689789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128C3-D58A-6D6C-4428-E7A2B17AFB4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9C3579-B883-8BD0-A5EB-77F0DE4EEECB}"/>
              </a:ext>
            </a:extLst>
          </p:cNvPr>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a:extLst>
              <a:ext uri="{FF2B5EF4-FFF2-40B4-BE49-F238E27FC236}">
                <a16:creationId xmlns:a16="http://schemas.microsoft.com/office/drawing/2014/main" id="{56F37769-B996-677C-4E14-E004373982AE}"/>
              </a:ext>
            </a:extLst>
          </p:cNvPr>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a:extLst>
              <a:ext uri="{FF2B5EF4-FFF2-40B4-BE49-F238E27FC236}">
                <a16:creationId xmlns:a16="http://schemas.microsoft.com/office/drawing/2014/main" id="{3EDB4F43-8881-8514-EFC0-A2761649FA1B}"/>
              </a:ext>
            </a:extLst>
          </p:cNvPr>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Employee Dashboard</a:t>
            </a:r>
          </a:p>
        </p:txBody>
      </p:sp>
      <p:sp>
        <p:nvSpPr>
          <p:cNvPr id="5" name="Rectangle 4">
            <a:extLst>
              <a:ext uri="{FF2B5EF4-FFF2-40B4-BE49-F238E27FC236}">
                <a16:creationId xmlns:a16="http://schemas.microsoft.com/office/drawing/2014/main" id="{CCDF38C6-F6E6-3E5E-2256-45C2119110F6}"/>
              </a:ext>
            </a:extLst>
          </p:cNvPr>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8" name="Picture 7">
            <a:extLst>
              <a:ext uri="{FF2B5EF4-FFF2-40B4-BE49-F238E27FC236}">
                <a16:creationId xmlns:a16="http://schemas.microsoft.com/office/drawing/2014/main" id="{CC708F0C-A0AB-FC24-8EAA-C13FE2055086}"/>
              </a:ext>
            </a:extLst>
          </p:cNvPr>
          <p:cNvPicPr>
            <a:picLocks noChangeAspect="1"/>
          </p:cNvPicPr>
          <p:nvPr/>
        </p:nvPicPr>
        <p:blipFill>
          <a:blip r:embed="rId2"/>
          <a:stretch>
            <a:fillRect/>
          </a:stretch>
        </p:blipFill>
        <p:spPr>
          <a:xfrm>
            <a:off x="1566408" y="1586714"/>
            <a:ext cx="9058877" cy="5048978"/>
          </a:xfrm>
          <a:prstGeom prst="rect">
            <a:avLst/>
          </a:prstGeom>
        </p:spPr>
      </p:pic>
    </p:spTree>
    <p:extLst>
      <p:ext uri="{BB962C8B-B14F-4D97-AF65-F5344CB8AC3E}">
        <p14:creationId xmlns:p14="http://schemas.microsoft.com/office/powerpoint/2010/main" val="2667941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Inspection Queue</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3828BCD6-FD6C-BE7D-059E-08F4713CA2F8}"/>
              </a:ext>
            </a:extLst>
          </p:cNvPr>
          <p:cNvPicPr>
            <a:picLocks noChangeAspect="1"/>
          </p:cNvPicPr>
          <p:nvPr/>
        </p:nvPicPr>
        <p:blipFill>
          <a:blip r:embed="rId2"/>
          <a:stretch>
            <a:fillRect/>
          </a:stretch>
        </p:blipFill>
        <p:spPr>
          <a:xfrm>
            <a:off x="1519821" y="1371600"/>
            <a:ext cx="9152051" cy="509613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Inspection Map</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34251055-05DF-9CE5-71DE-7EEE35EBF4C3}"/>
              </a:ext>
            </a:extLst>
          </p:cNvPr>
          <p:cNvPicPr>
            <a:picLocks noChangeAspect="1"/>
          </p:cNvPicPr>
          <p:nvPr/>
        </p:nvPicPr>
        <p:blipFill>
          <a:blip r:embed="rId2"/>
          <a:stretch>
            <a:fillRect/>
          </a:stretch>
        </p:blipFill>
        <p:spPr>
          <a:xfrm>
            <a:off x="1933818" y="1460878"/>
            <a:ext cx="8324364" cy="46395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Field Outcome Recording</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pic>
        <p:nvPicPr>
          <p:cNvPr id="7" name="Picture 6">
            <a:extLst>
              <a:ext uri="{FF2B5EF4-FFF2-40B4-BE49-F238E27FC236}">
                <a16:creationId xmlns:a16="http://schemas.microsoft.com/office/drawing/2014/main" id="{1B1DF781-B157-1EE6-A369-B55415A852DE}"/>
              </a:ext>
            </a:extLst>
          </p:cNvPr>
          <p:cNvPicPr>
            <a:picLocks noChangeAspect="1"/>
          </p:cNvPicPr>
          <p:nvPr/>
        </p:nvPicPr>
        <p:blipFill>
          <a:blip r:embed="rId2"/>
          <a:stretch>
            <a:fillRect/>
          </a:stretch>
        </p:blipFill>
        <p:spPr>
          <a:xfrm>
            <a:off x="822960" y="2863456"/>
            <a:ext cx="6501150" cy="1620203"/>
          </a:xfrm>
          <a:prstGeom prst="rect">
            <a:avLst/>
          </a:prstGeom>
        </p:spPr>
      </p:pic>
      <p:pic>
        <p:nvPicPr>
          <p:cNvPr id="9" name="Picture 8">
            <a:extLst>
              <a:ext uri="{FF2B5EF4-FFF2-40B4-BE49-F238E27FC236}">
                <a16:creationId xmlns:a16="http://schemas.microsoft.com/office/drawing/2014/main" id="{0A3320AA-FE76-AA77-F161-7D793A2DB21E}"/>
              </a:ext>
            </a:extLst>
          </p:cNvPr>
          <p:cNvPicPr>
            <a:picLocks noChangeAspect="1"/>
          </p:cNvPicPr>
          <p:nvPr/>
        </p:nvPicPr>
        <p:blipFill>
          <a:blip r:embed="rId3"/>
          <a:stretch>
            <a:fillRect/>
          </a:stretch>
        </p:blipFill>
        <p:spPr>
          <a:xfrm>
            <a:off x="7677418" y="1746581"/>
            <a:ext cx="3691317" cy="43791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dirty="0"/>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09 | PENDING DELIVERABLES</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Current Issues and Limitations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33 of 35</a:t>
            </a:r>
          </a:p>
        </p:txBody>
      </p:sp>
      <p:sp>
        <p:nvSpPr>
          <p:cNvPr id="8" name="TextBox 7"/>
          <p:cNvSpPr txBox="1"/>
          <p:nvPr/>
        </p:nvSpPr>
        <p:spPr>
          <a:xfrm>
            <a:off x="822959" y="2544841"/>
            <a:ext cx="10545775" cy="2623282"/>
          </a:xfrm>
          <a:prstGeom prst="rect">
            <a:avLst/>
          </a:prstGeom>
          <a:noFill/>
        </p:spPr>
        <p:txBody>
          <a:bodyPr wrap="square">
            <a:spAutoFit/>
          </a:bodyPr>
          <a:lstStyle/>
          <a:p>
            <a:pPr marL="342900" indent="-342900">
              <a:spcAft>
                <a:spcPts val="400"/>
              </a:spcAft>
              <a:buFont typeface="Arial" panose="020B0604020202020204" pitchFamily="34" charset="0"/>
              <a:buChar char="•"/>
              <a:defRPr sz="2100" b="1">
                <a:solidFill>
                  <a:srgbClr val="FBBF24"/>
                </a:solidFill>
                <a:latin typeface="Times New Roman"/>
              </a:defRPr>
            </a:pPr>
            <a:r>
              <a:rPr lang="en-US" dirty="0">
                <a:latin typeface="Times New Roman"/>
              </a:rPr>
              <a:t>No proper dataset is available for Indian Consumption Patterns</a:t>
            </a:r>
            <a:r>
              <a:rPr dirty="0">
                <a:latin typeface="Times New Roman"/>
              </a:rPr>
              <a:t>:</a:t>
            </a:r>
            <a:endParaRPr lang="en-US" dirty="0">
              <a:latin typeface="Times New Roman"/>
            </a:endParaRPr>
          </a:p>
          <a:p>
            <a:pPr lvl="1">
              <a:lnSpc>
                <a:spcPct val="130000"/>
              </a:lnSpc>
              <a:spcAft>
                <a:spcPts val="1600"/>
              </a:spcAft>
              <a:defRPr sz="1800">
                <a:solidFill>
                  <a:srgbClr val="F0F2F5"/>
                </a:solidFill>
                <a:latin typeface="Times New Roman"/>
              </a:defRPr>
            </a:pPr>
            <a:r>
              <a:rPr lang="en-US" dirty="0">
                <a:latin typeface="Times New Roman"/>
              </a:rPr>
              <a:t>This is because the onset of smart meters in India is pretty recent and its installation is still in progress.</a:t>
            </a:r>
          </a:p>
          <a:p>
            <a:pPr marL="342900" indent="-342900">
              <a:spcAft>
                <a:spcPts val="400"/>
              </a:spcAft>
              <a:buFont typeface="Arial" panose="020B0604020202020204" pitchFamily="34" charset="0"/>
              <a:buChar char="•"/>
              <a:defRPr sz="2100" b="1">
                <a:solidFill>
                  <a:srgbClr val="FBBF24"/>
                </a:solidFill>
                <a:latin typeface="Times New Roman"/>
              </a:defRPr>
            </a:pPr>
            <a:r>
              <a:rPr lang="en-US" dirty="0">
                <a:latin typeface="Times New Roman"/>
              </a:rPr>
              <a:t>Real world testing is needed in order to check the accuracy of the predictions</a:t>
            </a:r>
            <a:r>
              <a:rPr dirty="0">
                <a:latin typeface="Times New Roman"/>
              </a:rPr>
              <a:t>:</a:t>
            </a:r>
          </a:p>
          <a:p>
            <a:pPr lvl="1">
              <a:lnSpc>
                <a:spcPct val="130000"/>
              </a:lnSpc>
              <a:spcAft>
                <a:spcPts val="1600"/>
              </a:spcAft>
              <a:defRPr sz="1800">
                <a:solidFill>
                  <a:srgbClr val="F0F2F5"/>
                </a:solidFill>
                <a:latin typeface="Times New Roman"/>
              </a:defRPr>
            </a:pPr>
            <a:r>
              <a:rPr lang="en-US" dirty="0">
                <a:latin typeface="Times New Roman"/>
              </a:rPr>
              <a:t>Testing of the theft detection on ground level is necessary in order to establish the credibility of the system</a:t>
            </a:r>
            <a:r>
              <a:rPr dirty="0">
                <a:latin typeface="Times New Roman"/>
              </a:rPr>
              <a:t>.</a:t>
            </a:r>
          </a:p>
          <a:p>
            <a:pPr marL="342900" indent="-342900">
              <a:spcAft>
                <a:spcPts val="400"/>
              </a:spcAft>
              <a:buFont typeface="Arial" panose="020B0604020202020204" pitchFamily="34" charset="0"/>
              <a:buChar char="•"/>
              <a:defRPr sz="2100" b="1">
                <a:solidFill>
                  <a:srgbClr val="FBBF24"/>
                </a:solidFill>
                <a:latin typeface="Times New Roman"/>
              </a:defRPr>
            </a:pPr>
            <a:r>
              <a:rPr dirty="0">
                <a:latin typeface="Times New Roman"/>
              </a:rPr>
              <a:t>Deployment Scope:</a:t>
            </a:r>
          </a:p>
          <a:p>
            <a:pPr lvl="1">
              <a:lnSpc>
                <a:spcPct val="100000"/>
              </a:lnSpc>
              <a:spcAft>
                <a:spcPts val="1600"/>
              </a:spcAft>
              <a:defRPr sz="1800">
                <a:solidFill>
                  <a:srgbClr val="F0F2F5"/>
                </a:solidFill>
                <a:latin typeface="Times New Roman"/>
              </a:defRPr>
            </a:pPr>
            <a:r>
              <a:rPr lang="en-IN" dirty="0">
                <a:solidFill>
                  <a:srgbClr val="F0F2F5"/>
                </a:solidFill>
                <a:latin typeface="Times New Roman"/>
              </a:rPr>
              <a:t>Current performance is demonstrated using the SGCC dataset and a local development environment only</a:t>
            </a:r>
            <a:r>
              <a:rPr dirty="0">
                <a:latin typeface="Times New Roman"/>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10 | CONCLUSION</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Conclusion</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35 of 35</a:t>
            </a:r>
          </a:p>
        </p:txBody>
      </p:sp>
      <p:sp>
        <p:nvSpPr>
          <p:cNvPr id="8" name="TextBox 7"/>
          <p:cNvSpPr txBox="1"/>
          <p:nvPr/>
        </p:nvSpPr>
        <p:spPr>
          <a:xfrm>
            <a:off x="822960" y="1398608"/>
            <a:ext cx="10734040" cy="4915747"/>
          </a:xfrm>
          <a:prstGeom prst="rect">
            <a:avLst/>
          </a:prstGeom>
          <a:noFill/>
        </p:spPr>
        <p:txBody>
          <a:bodyPr wrap="square">
            <a:spAutoFit/>
          </a:bodyPr>
          <a:lstStyle/>
          <a:p>
            <a:pPr marL="342900" indent="-342900">
              <a:lnSpc>
                <a:spcPct val="130000"/>
              </a:lnSpc>
              <a:spcAft>
                <a:spcPts val="1400"/>
              </a:spcAft>
              <a:buFont typeface="Arial" panose="020B0604020202020204" pitchFamily="34" charset="0"/>
              <a:buChar char="•"/>
              <a:defRPr sz="1900" b="1">
                <a:solidFill>
                  <a:srgbClr val="22D3EE"/>
                </a:solidFill>
                <a:latin typeface="Times New Roman"/>
              </a:defRPr>
            </a:pPr>
            <a:r>
              <a:rPr dirty="0">
                <a:latin typeface="Times New Roman"/>
              </a:rPr>
              <a:t>Integrated Operational System:  </a:t>
            </a:r>
            <a:r>
              <a:rPr b="0" dirty="0">
                <a:solidFill>
                  <a:srgbClr val="F0F2F5"/>
                </a:solidFill>
                <a:latin typeface="Times New Roman"/>
              </a:rPr>
              <a:t>The project combines smart-meter-based risk detection with inspection management, connecting machine learning predictions with verified field outcomes.</a:t>
            </a:r>
          </a:p>
          <a:p>
            <a:pPr marL="342900" indent="-342900">
              <a:lnSpc>
                <a:spcPct val="130000"/>
              </a:lnSpc>
              <a:spcAft>
                <a:spcPts val="1400"/>
              </a:spcAft>
              <a:buFont typeface="Arial" panose="020B0604020202020204" pitchFamily="34" charset="0"/>
              <a:buChar char="•"/>
              <a:defRPr sz="1900" b="1">
                <a:solidFill>
                  <a:srgbClr val="22D3EE"/>
                </a:solidFill>
                <a:latin typeface="Times New Roman"/>
              </a:defRPr>
            </a:pPr>
            <a:r>
              <a:rPr dirty="0">
                <a:latin typeface="Times New Roman"/>
              </a:rPr>
              <a:t>Structured Software Engineering Approach:  </a:t>
            </a:r>
            <a:r>
              <a:rPr b="0" dirty="0">
                <a:solidFill>
                  <a:srgbClr val="F0F2F5"/>
                </a:solidFill>
                <a:latin typeface="Times New Roman"/>
              </a:rPr>
              <a:t>The Incremental Model supports development in separate modules, ensuring that database, backend security, and inspection workflows are proven before adding further portals.</a:t>
            </a:r>
          </a:p>
          <a:p>
            <a:pPr marL="342900" indent="-342900">
              <a:lnSpc>
                <a:spcPct val="130000"/>
              </a:lnSpc>
              <a:spcAft>
                <a:spcPts val="1400"/>
              </a:spcAft>
              <a:buFont typeface="Arial" panose="020B0604020202020204" pitchFamily="34" charset="0"/>
              <a:buChar char="•"/>
              <a:defRPr sz="1900" b="1">
                <a:solidFill>
                  <a:srgbClr val="22D3EE"/>
                </a:solidFill>
                <a:latin typeface="Times New Roman"/>
              </a:defRPr>
            </a:pPr>
            <a:r>
              <a:rPr dirty="0">
                <a:latin typeface="Times New Roman"/>
              </a:rPr>
              <a:t>Delivery Status:  </a:t>
            </a:r>
            <a:r>
              <a:rPr b="0" dirty="0">
                <a:solidFill>
                  <a:srgbClr val="F0F2F5"/>
                </a:solidFill>
                <a:latin typeface="Times New Roman"/>
              </a:rPr>
              <a:t>The first four phases are complete and verified (ML engine, MySQL database, </a:t>
            </a:r>
            <a:r>
              <a:rPr b="0" dirty="0" err="1">
                <a:solidFill>
                  <a:srgbClr val="F0F2F5"/>
                </a:solidFill>
                <a:latin typeface="Times New Roman"/>
              </a:rPr>
              <a:t>FastAPI</a:t>
            </a:r>
            <a:r>
              <a:rPr b="0" dirty="0">
                <a:solidFill>
                  <a:srgbClr val="F0F2F5"/>
                </a:solidFill>
                <a:latin typeface="Times New Roman"/>
              </a:rPr>
              <a:t> backend, and Inspection Intelligence Portal).</a:t>
            </a:r>
          </a:p>
          <a:p>
            <a:pPr marL="342900" indent="-342900">
              <a:lnSpc>
                <a:spcPct val="130000"/>
              </a:lnSpc>
              <a:spcAft>
                <a:spcPts val="1400"/>
              </a:spcAft>
              <a:buFont typeface="Arial" panose="020B0604020202020204" pitchFamily="34" charset="0"/>
              <a:buChar char="•"/>
              <a:defRPr sz="1900" b="1">
                <a:solidFill>
                  <a:srgbClr val="22D3EE"/>
                </a:solidFill>
                <a:latin typeface="Times New Roman"/>
              </a:defRPr>
            </a:pPr>
            <a:r>
              <a:rPr dirty="0">
                <a:latin typeface="Times New Roman"/>
              </a:rPr>
              <a:t>Active Development:  </a:t>
            </a:r>
            <a:r>
              <a:rPr b="0" dirty="0">
                <a:solidFill>
                  <a:srgbClr val="F0F2F5"/>
                </a:solidFill>
                <a:latin typeface="Times New Roman"/>
              </a:rPr>
              <a:t>Phase 5 is underway, focusing on the Consumer Portal and Board Communication Portal.</a:t>
            </a:r>
          </a:p>
          <a:p>
            <a:pPr marL="342900" indent="-342900">
              <a:lnSpc>
                <a:spcPct val="130000"/>
              </a:lnSpc>
              <a:spcAft>
                <a:spcPts val="1400"/>
              </a:spcAft>
              <a:buFont typeface="Arial" panose="020B0604020202020204" pitchFamily="34" charset="0"/>
              <a:buChar char="•"/>
              <a:defRPr sz="1900" b="1">
                <a:solidFill>
                  <a:srgbClr val="22D3EE"/>
                </a:solidFill>
                <a:latin typeface="Times New Roman"/>
              </a:defRPr>
            </a:pPr>
            <a:r>
              <a:rPr dirty="0">
                <a:latin typeface="Times New Roman"/>
              </a:rPr>
              <a:t>Remaining Roadmap:  </a:t>
            </a:r>
            <a:r>
              <a:rPr b="0" dirty="0">
                <a:solidFill>
                  <a:srgbClr val="F0F2F5"/>
                </a:solidFill>
                <a:latin typeface="Times New Roman"/>
              </a:rPr>
              <a:t>Remaining work includes finishing user-facing portals, deeper feedback integration, documentation, and comprehensive system-wide testing.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200" b="1">
                <a:solidFill>
                  <a:srgbClr val="22D3EE"/>
                </a:solidFill>
                <a:latin typeface="Times New Roman"/>
              </a:defRPr>
            </a:pPr>
            <a:r>
              <a:rPr>
                <a:latin typeface="Times New Roman"/>
              </a:rPr>
              <a:t>10 | REFERENCES</a:t>
            </a:r>
          </a:p>
        </p:txBody>
      </p:sp>
      <p:sp>
        <p:nvSpPr>
          <p:cNvPr id="4" name="TextBox 3"/>
          <p:cNvSpPr txBox="1"/>
          <p:nvPr/>
        </p:nvSpPr>
        <p:spPr>
          <a:xfrm>
            <a:off x="822960" y="658368"/>
            <a:ext cx="10545775" cy="594360"/>
          </a:xfrm>
          <a:prstGeom prst="rect">
            <a:avLst/>
          </a:prstGeom>
          <a:noFill/>
        </p:spPr>
        <p:txBody>
          <a:bodyPr wrap="square" lIns="0" tIns="0" rIns="0" bIns="0">
            <a:spAutoFit/>
          </a:bodyPr>
          <a:lstStyle/>
          <a:p>
            <a:pPr>
              <a:defRPr sz="3000" b="1">
                <a:solidFill>
                  <a:srgbClr val="F0F2F5"/>
                </a:solidFill>
                <a:latin typeface="Times New Roman"/>
              </a:defRPr>
            </a:pPr>
            <a:r>
              <a:rPr>
                <a:latin typeface="Times New Roman"/>
              </a:rPr>
              <a:t>References</a:t>
            </a:r>
          </a:p>
        </p:txBody>
      </p:sp>
      <p:sp>
        <p:nvSpPr>
          <p:cNvPr id="5" name="Rectangle 4"/>
          <p:cNvSpPr/>
          <p:nvPr/>
        </p:nvSpPr>
        <p:spPr>
          <a:xfrm>
            <a:off x="822960" y="1298448"/>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endParaR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5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50">
                <a:solidFill>
                  <a:srgbClr val="A0A8B4"/>
                </a:solidFill>
                <a:latin typeface="Times New Roman"/>
              </a:defRPr>
            </a:pPr>
            <a:r>
              <a:rPr>
                <a:latin typeface="Times New Roman"/>
              </a:rPr>
              <a:t>Swanand Siknis (24BRS1358) | Slide 34 of 35</a:t>
            </a:r>
          </a:p>
        </p:txBody>
      </p:sp>
      <p:sp>
        <p:nvSpPr>
          <p:cNvPr id="8" name="TextBox 7"/>
          <p:cNvSpPr txBox="1"/>
          <p:nvPr/>
        </p:nvSpPr>
        <p:spPr>
          <a:xfrm>
            <a:off x="822960" y="1600200"/>
            <a:ext cx="10545775" cy="4572000"/>
          </a:xfrm>
          <a:prstGeom prst="rect">
            <a:avLst/>
          </a:prstGeom>
          <a:noFill/>
        </p:spPr>
        <p:txBody>
          <a:bodyPr wrap="square">
            <a:spAutoFit/>
          </a:bodyPr>
          <a:lstStyle/>
          <a:p>
            <a:pPr>
              <a:spcAft>
                <a:spcPts val="200"/>
              </a:spcAft>
              <a:defRPr sz="1600" b="1">
                <a:solidFill>
                  <a:srgbClr val="22D3EE"/>
                </a:solidFill>
                <a:latin typeface="Times New Roman"/>
              </a:defRPr>
            </a:pPr>
            <a:r>
              <a:rPr>
                <a:latin typeface="Times New Roman"/>
              </a:rPr>
              <a:t>1. Model Benchmarking Study:</a:t>
            </a:r>
          </a:p>
          <a:p>
            <a:pPr>
              <a:lnSpc>
                <a:spcPct val="130000"/>
              </a:lnSpc>
              <a:spcAft>
                <a:spcPts val="1200"/>
              </a:spcAft>
              <a:defRPr sz="1400">
                <a:solidFill>
                  <a:srgbClr val="F0F2F5"/>
                </a:solidFill>
                <a:latin typeface="Times New Roman"/>
              </a:defRPr>
            </a:pPr>
            <a:r>
              <a:rPr>
                <a:latin typeface="Times New Roman"/>
              </a:rPr>
              <a:t>Petrlik, J., Lezama, F., et al. (2022). "Electricity Theft Detection using Machine Learning." International Journal of Advanced Computer Science and Applications (IJACSA), Vol. 13, No. 12.</a:t>
            </a:r>
            <a:br/>
            <a:r>
              <a:rPr>
                <a:latin typeface="Times New Roman"/>
              </a:rPr>
              <a:t>DOI: 10.14569/IJACSA.2022.0131251</a:t>
            </a:r>
          </a:p>
          <a:p>
            <a:pPr>
              <a:spcAft>
                <a:spcPts val="200"/>
              </a:spcAft>
              <a:defRPr sz="1600" b="1">
                <a:solidFill>
                  <a:srgbClr val="22D3EE"/>
                </a:solidFill>
                <a:latin typeface="Times New Roman"/>
              </a:defRPr>
            </a:pPr>
            <a:r>
              <a:rPr>
                <a:latin typeface="Times New Roman"/>
              </a:rPr>
              <a:t>2. Smart-Meter Anomaly Detection:</a:t>
            </a:r>
          </a:p>
          <a:p>
            <a:pPr>
              <a:lnSpc>
                <a:spcPct val="130000"/>
              </a:lnSpc>
              <a:spcAft>
                <a:spcPts val="1200"/>
              </a:spcAft>
              <a:defRPr sz="1400">
                <a:solidFill>
                  <a:srgbClr val="F0F2F5"/>
                </a:solidFill>
                <a:latin typeface="Times New Roman"/>
              </a:defRPr>
            </a:pPr>
            <a:r>
              <a:rPr>
                <a:latin typeface="Times New Roman"/>
              </a:rPr>
              <a:t>Tsao, Y.-C., Rahmalia, N., &amp; Lu, J.-C. (2024). "Machine-Learning Techniques for Enhancing Electricity Theft Detection." Energy Reports, Vol. 12, pp. 3048–3064.</a:t>
            </a:r>
            <a:br/>
            <a:r>
              <a:rPr>
                <a:latin typeface="Times New Roman"/>
              </a:rPr>
              <a:t>DOI: 10.1016/j.egyr.2024.08.067</a:t>
            </a:r>
          </a:p>
          <a:p>
            <a:pPr>
              <a:spcAft>
                <a:spcPts val="200"/>
              </a:spcAft>
              <a:defRPr sz="1600" b="1">
                <a:solidFill>
                  <a:srgbClr val="22D3EE"/>
                </a:solidFill>
                <a:latin typeface="Times New Roman"/>
              </a:defRPr>
            </a:pPr>
            <a:r>
              <a:rPr>
                <a:latin typeface="Times New Roman"/>
              </a:rPr>
              <a:t>3. Benchmark Smart-Meter Dataset:</a:t>
            </a:r>
          </a:p>
          <a:p>
            <a:pPr>
              <a:lnSpc>
                <a:spcPct val="130000"/>
              </a:lnSpc>
              <a:spcAft>
                <a:spcPts val="1200"/>
              </a:spcAft>
              <a:defRPr sz="1400">
                <a:solidFill>
                  <a:srgbClr val="F0F2F5"/>
                </a:solidFill>
                <a:latin typeface="Times New Roman"/>
              </a:defRPr>
            </a:pPr>
            <a:r>
              <a:rPr>
                <a:latin typeface="Times New Roman"/>
              </a:rPr>
              <a:t>State Grid Corporation of China (SGCC). Real-world smart-meter electricity consumption benchmark dataset comprising 42,372 consumers and 1,034 daily consumption readings.</a:t>
            </a:r>
          </a:p>
          <a:p>
            <a:pPr>
              <a:spcAft>
                <a:spcPts val="200"/>
              </a:spcAft>
              <a:defRPr sz="1600" b="1">
                <a:solidFill>
                  <a:srgbClr val="22D3EE"/>
                </a:solidFill>
                <a:latin typeface="Times New Roman"/>
              </a:defRPr>
            </a:pPr>
            <a:r>
              <a:rPr>
                <a:latin typeface="Times New Roman"/>
              </a:rPr>
              <a:t>4. Explainable Artificial Intelligence:</a:t>
            </a:r>
          </a:p>
          <a:p>
            <a:pPr>
              <a:lnSpc>
                <a:spcPct val="130000"/>
              </a:lnSpc>
              <a:spcAft>
                <a:spcPts val="1200"/>
              </a:spcAft>
              <a:defRPr sz="1400">
                <a:solidFill>
                  <a:srgbClr val="F0F2F5"/>
                </a:solidFill>
                <a:latin typeface="Times New Roman"/>
              </a:defRPr>
            </a:pPr>
            <a:r>
              <a:rPr>
                <a:latin typeface="Times New Roman"/>
              </a:rPr>
              <a:t>Lundberg, S. M., &amp; Lee, S.-I. (2017). "A Unified Approach to Interpreting Model Predictions." Advances in Neural Information Processing Systems (NeurIPS 2017), Vol.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411</TotalTime>
  <Words>2418</Words>
  <Application>Microsoft Office PowerPoint</Application>
  <PresentationFormat>Widescreen</PresentationFormat>
  <Paragraphs>221</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Swanand Siknis</cp:lastModifiedBy>
  <cp:revision>16</cp:revision>
  <dcterms:created xsi:type="dcterms:W3CDTF">2013-01-27T09:14:16Z</dcterms:created>
  <dcterms:modified xsi:type="dcterms:W3CDTF">2026-10-15T20:43:16Z</dcterms:modified>
  <cp:category/>
</cp:coreProperties>
</file>